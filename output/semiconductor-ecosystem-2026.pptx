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Manus, and today we are conducting a deep-dive into the 'nerve system' of our modern civilization: the 2026 Semiconductor Ecosystem. Over the next 20 minutes, we are going to move beyond the headlines of 'chip shortages' and look at the actual structural mechanics of how silicon is procured, how it moves across the globe, and finally, how it is fundamentally rewriting the DNA of every major industry. Whether you are an investor, a procurement lead, or a strategic planner, this briefing is designed to give you the high-ground view of the $1.3 trillion silicon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with the 'Procurement Paradox.' In 2026, we are seeing record-breaking revenue, yet the supply chain has never felt more fragile. Why? Because the 'Just-in-Time' model we spent thirty years perfecting was built for a world of stability—not the world of 'Chip Wars' and AI super-cycles we live 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elite firms have pivoted to a Strategic Hybrid Model. We aren't just stockpiling everything—that’s expensive and inefficient. Instead, we are using 'Just-in-Case' logic for the high-value nodes: the 3nm processors and the High Bandwidth Memory that power AI. For everything else, we keep it lean. It’s about being surgical with your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you can't be surgical if you're blind. The biggest challenge in 2026 is Data Opacity. Most firms don't know who their Tier-3 or Tier-4 suppliers are. We are solving this through Category Management—segmenting our sourcing by technology node. We treat a 28nm legacy microcontroller for a car window very differently than a 2nm AI accelerator for a data center.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look at the digitalization of the 'Buy' side. We are now using Business Intelligence Cockpits that use AI to scan geopolitical signals and weather patterns to predict shortages six months out. We are also seeing a rise in 'Friend-Shoring' and Long-Term Agreements. In 2026, a handshake isn't enough; you need 'take-or-pay' contracts and reservation fees to ensure you aren't left behind in the next allocation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'Silicon Journey.' A single chip might cross 70 borders before it ever reaches a consumer. This is the most complex logistical web ever built. It’s a masterpiece of efficiency, but it’s also a 'Chokepoint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incredibly concentrated. The U.S. owns the design; the Netherlands owns the lithography equipment; and East Asia—specifically Taiwan and South Korea—owns the fabrication. TSMC isn't just a company; it is a systemic pillar of the global economy. If that pillar shakes, the whole world feels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bottleneck in 2026 isn't just the fab; it's the 'Back-End.' We’ve reached the limits of traditional chip design, so we are now 'stacking' chips using advanced packaging like CoWoS. This is where the AI war is being fought. If you can't get capacity in an advanced packaging facility, it doesn't matter how many wafers you can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cannot ignore the 'Chip Wars.' Geopolitics is now a primary architect of the supply chain. Between the U.S. CHIPS Act and China’s massive 'In-Sourcing' push, we are moving toward a multi-polar silicon world. Critical materials like Gallium and Germanium are now being used as strategic levers in a global game of 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Circular and Autonomous Supply Chains. We are using AI to 'self-heal' the supply chain—automatically re-routing orders when a port closes or a factory goes down. And we are starting to recycle. We are mining the 'urban mine'—recovering rare earth elements from old electronics to reduce our dependency on volatile mining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all this silicon end up? Everywhere. We have reached 'Total Silicon Dependency.' Every industry is now a 'tech industry' because every industry is built on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demand landscape is shifting. While PCs and smartphones are maturing, AI Infrastructure and Automotive are exploding. AI and Data Centers now drive nearly half of the industry’s total value. We are in a 'multi-speed' market where the high-end is racing ahead while the low-end stabilizes.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Data Center. It’s no longer just a place to store files; it’s an 'Intelligence Engine.' We are spending $500 billion a year on AI accelerators. This is the segment that is pushing us to 2nm and beyond. It is the 'Value King' of the semiconductor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there is the car—the 'Smartphone on Wheels.' An EV in 2026 has over $1,000 worth of chips in it. We are talking about Silicon Carbide for power efficiency and massive SoCs for autonomous driving. The car has become a high-performance computer that just happens to have wheels.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Industrial and Healthcare sectors, we are seeing the rise of 'Edge AI.' We aren't sending data to the cloud anymore; we are processing it right there on the factory floor or inside a medical implant. This requires ultra-reliable, long-lifecycle silicon that can survive for fifteen years in harsh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looking at the horizon—Quantum, 6G, and Neuromorphic computing. These aren't science fiction anymore. We are already building the 2030 roadmap. We are designing chips that work like the human brain and networks that make 5G look like dial-up. The innovation cycle is actually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2026 ecosystem tells us one thing: Silicon Intensity is the new gold standard. The winners of the next decade won't just be the ones with the best software; they will be the ones who master the procurement, the supply chain, and the application of these chips.
Before we go, look at this infographic. These are the five materials that keep the lights on. From Gallium in your 5G phone to Neon in the lasers that print the chips, these are the true foundations. Most of these are concentrated in a few regions, which is why the 'Silicon Journey' is as much about geology as it is about geometry.
The 'Chip Wars' are far from over. In fact, they are just beginning. Mastery of this ecosystem is mastery of the future.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9"/>
        </a:solidFill>
      </p:bgPr>
    </p:bg>
    <p:spTree>
      <p:nvGrpSpPr>
        <p:cNvPr id="1" name=""/>
        <p:cNvGrpSpPr/>
        <p:nvPr/>
      </p:nvGrpSpPr>
      <p:grpSpPr>
        <a:xfrm>
          <a:off x="0" y="0"/>
          <a:ext cx="0" cy="0"/>
          <a:chOff x="0" y="0"/>
          <a:chExt cx="0" cy="0"/>
        </a:xfrm>
      </p:grpSpPr>
      <p:sp>
        <p:nvSpPr>
          <p:cNvPr id="3" name="Text 0"/>
          <p:cNvSpPr/>
          <p:nvPr/>
        </p:nvSpPr>
        <p:spPr>
          <a:xfrm>
            <a:off x="731520" y="2011680"/>
            <a:ext cx="10515600" cy="1097280"/>
          </a:xfrm>
          <a:prstGeom prst="rect">
            <a:avLst/>
          </a:prstGeom>
          <a:noFill/>
          <a:ln/>
        </p:spPr>
        <p:txBody>
          <a:bodyPr wrap="square" rtlCol="0" anchor="ctr"/>
          <a:lstStyle/>
          <a:p>
            <a:pPr indent="0" marL="0">
              <a:buNone/>
            </a:pPr>
            <a:r>
              <a:rPr lang="en-US" sz="4800" b="1" dirty="0">
                <a:solidFill>
                  <a:srgbClr val="FFFFFF"/>
                </a:solidFill>
                <a:latin typeface="Helvetica" pitchFamily="34" charset="0"/>
                <a:ea typeface="Helvetica" pitchFamily="34" charset="-122"/>
                <a:cs typeface="Helvetica" pitchFamily="34" charset="-120"/>
              </a:rPr>
              <a:t>The 2026 Semiconductor Ecosystem</a:t>
            </a:r>
            <a:endParaRPr lang="en-US" sz="4800" dirty="0"/>
          </a:p>
        </p:txBody>
      </p:sp>
      <p:sp>
        <p:nvSpPr>
          <p:cNvPr id="4" name="Text 1"/>
          <p:cNvSpPr/>
          <p:nvPr/>
        </p:nvSpPr>
        <p:spPr>
          <a:xfrm>
            <a:off x="731520" y="3200400"/>
            <a:ext cx="10515600" cy="731520"/>
          </a:xfrm>
          <a:prstGeom prst="rect">
            <a:avLst/>
          </a:prstGeom>
          <a:noFill/>
          <a:ln/>
        </p:spPr>
        <p:txBody>
          <a:bodyPr wrap="square" rtlCol="0" anchor="ctr"/>
          <a:lstStyle/>
          <a:p>
            <a:pPr indent="0" marL="0">
              <a:buNone/>
            </a:pPr>
            <a:r>
              <a:rPr lang="en-US" sz="2000" dirty="0">
                <a:solidFill>
                  <a:srgbClr val="A0AEC0"/>
                </a:solidFill>
                <a:latin typeface="Helvetica" pitchFamily="34" charset="0"/>
                <a:ea typeface="Helvetica" pitchFamily="34" charset="-122"/>
                <a:cs typeface="Helvetica" pitchFamily="34" charset="-120"/>
              </a:rPr>
              <a:t>A Strategic Briefing on Procurement, Global Supply Chains, and End-User Verticals</a:t>
            </a:r>
            <a:endParaRPr lang="en-US" sz="2000" dirty="0"/>
          </a:p>
        </p:txBody>
      </p:sp>
      <p:sp>
        <p:nvSpPr>
          <p:cNvPr id="5" name="Shape 2"/>
          <p:cNvSpPr/>
          <p:nvPr/>
        </p:nvSpPr>
        <p:spPr>
          <a:xfrm>
            <a:off x="731520" y="4023360"/>
            <a:ext cx="4572000" cy="36576"/>
          </a:xfrm>
          <a:prstGeom prst="rect">
            <a:avLst/>
          </a:prstGeom>
          <a:solidFill>
            <a:srgbClr val="00F2FE"/>
          </a:solidFill>
          <a:ln/>
        </p:spPr>
      </p:sp>
      <p:sp>
        <p:nvSpPr>
          <p:cNvPr id="6" name="Text 3"/>
          <p:cNvSpPr/>
          <p:nvPr/>
        </p:nvSpPr>
        <p:spPr>
          <a:xfrm>
            <a:off x="731520" y="4389120"/>
            <a:ext cx="4572000" cy="731520"/>
          </a:xfrm>
          <a:prstGeom prst="rect">
            <a:avLst/>
          </a:prstGeom>
          <a:noFill/>
          <a:ln/>
        </p:spPr>
        <p:txBody>
          <a:bodyPr wrap="square" rtlCol="0" anchor="ctr"/>
          <a:lstStyle/>
          <a:p>
            <a:pPr indent="0" marL="0">
              <a:buNone/>
            </a:pPr>
            <a:r>
              <a:rPr lang="en-US" sz="1400" dirty="0">
                <a:solidFill>
                  <a:srgbClr val="A0AEC0"/>
                </a:solidFill>
                <a:latin typeface="Helvetica" pitchFamily="34" charset="0"/>
                <a:ea typeface="Helvetica" pitchFamily="34" charset="-122"/>
                <a:cs typeface="Helvetica" pitchFamily="34" charset="-120"/>
              </a:rPr>
              <a:t>Presenter: Manus</a:t>
            </a:r>
            <a:endParaRPr lang="en-US" sz="1400" dirty="0"/>
          </a:p>
          <a:p>
            <a:pPr indent="0" marL="0">
              <a:buNone/>
            </a:pPr>
            <a:r>
              <a:rPr lang="en-US" sz="1400" dirty="0">
                <a:solidFill>
                  <a:srgbClr val="A0AEC0"/>
                </a:solidFill>
                <a:latin typeface="Helvetica" pitchFamily="34" charset="0"/>
                <a:ea typeface="Helvetica" pitchFamily="34" charset="-122"/>
                <a:cs typeface="Helvetica" pitchFamily="34" charset="-120"/>
              </a:rPr>
              <a:t>Boardroom Strategic Briefing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00F2FE"/>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Record-High Valuations: Growth is driven by explosive global demand for AI systems and electric vehicle power logic.</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Systemic Fragility: Leading-edge fabs operate near maximum capacity, leaving the industry vulnerable to minor material delays.</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Strategic Pivot: Sourcing HBM (High Bandwidth Memory) and advanced logic requires a shift from transactional purchasing to capacity reservation models.</a:t>
            </a:r>
            <a:endParaRPr lang="en-US" sz="1800" dirty="0"/>
          </a:p>
        </p:txBody>
      </p:sp>
      <p:sp>
        <p:nvSpPr>
          <p:cNvPr id="9" name="Shape 6"/>
          <p:cNvSpPr/>
          <p:nvPr/>
        </p:nvSpPr>
        <p:spPr>
          <a:xfrm>
            <a:off x="7680960" y="1371600"/>
            <a:ext cx="3840480" cy="4572000"/>
          </a:xfrm>
          <a:prstGeom prst="rect">
            <a:avLst/>
          </a:prstGeom>
          <a:solidFill>
            <a:srgbClr val="121826"/>
          </a:solidFill>
          <a:ln w="12700">
            <a:solidFill>
              <a:srgbClr val="505D6F"/>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00F2FE"/>
                </a:solidFill>
                <a:latin typeface="Helvetica" pitchFamily="34" charset="0"/>
                <a:ea typeface="Helvetica" pitchFamily="34" charset="-122"/>
                <a:cs typeface="Helvetica"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FFFFFF"/>
                </a:solidFill>
                <a:latin typeface="Helvetica" pitchFamily="34" charset="0"/>
                <a:ea typeface="Helvetica" pitchFamily="34" charset="-122"/>
                <a:cs typeface="Helvetica"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A0AEC0"/>
                </a:solidFill>
                <a:latin typeface="Helvetica" pitchFamily="34" charset="0"/>
                <a:ea typeface="Helvetica" pitchFamily="34" charset="-122"/>
                <a:cs typeface="Helvetica" pitchFamily="34" charset="-120"/>
              </a:rPr>
              <a:t>Global Market Value</a:t>
            </a:r>
            <a:endParaRPr lang="en-US" sz="1400" dirty="0"/>
          </a:p>
          <a:p>
            <a:pPr algn="ctr" indent="0" marL="0">
              <a:buNone/>
            </a:pPr>
            <a:r>
              <a:rPr lang="en-US" sz="1400" dirty="0">
                <a:solidFill>
                  <a:srgbClr val="A0AEC0"/>
                </a:solidFill>
                <a:latin typeface="Helvetica" pitchFamily="34" charset="0"/>
                <a:ea typeface="Helvetica" pitchFamily="34" charset="-122"/>
                <a:cs typeface="Helvetica"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C084F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C084FC"/>
                </a:solidFill>
                <a:latin typeface="Helvetica" pitchFamily="34" charset="0"/>
                <a:ea typeface="Helvetica" pitchFamily="34" charset="-122"/>
                <a:cs typeface="Helvetica" pitchFamily="34" charset="-120"/>
              </a:rPr>
              <a:t>Key Message: 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121826"/>
          </a:solidFill>
          <a:ln w="12700">
            <a:solidFill>
              <a:srgbClr val="505D6F"/>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00F2FE"/>
                </a:solidFill>
                <a:latin typeface="Helvetica" pitchFamily="34" charset="0"/>
                <a:ea typeface="Helvetica" pitchFamily="34" charset="-122"/>
                <a:cs typeface="Helvetica" pitchFamily="34" charset="-120"/>
              </a:rPr>
              <a:t>Lean JIT (Commoditized Nodes)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Used for standardized legacy passive elements and commoditized logic chips. Minimizes capital lock-up and inventory holding costs while keeping storage footprint low.</a:t>
            </a:r>
            <a:endParaRPr lang="en-US" sz="1800" dirty="0"/>
          </a:p>
        </p:txBody>
      </p:sp>
      <p:sp>
        <p:nvSpPr>
          <p:cNvPr id="11" name="Shape 8"/>
          <p:cNvSpPr/>
          <p:nvPr/>
        </p:nvSpPr>
        <p:spPr>
          <a:xfrm>
            <a:off x="6309360" y="2560320"/>
            <a:ext cx="5212080" cy="3474720"/>
          </a:xfrm>
          <a:prstGeom prst="rect">
            <a:avLst/>
          </a:prstGeom>
          <a:solidFill>
            <a:srgbClr val="121826"/>
          </a:solidFill>
          <a:ln w="12700">
            <a:solidFill>
              <a:srgbClr val="505D6F"/>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C084FC"/>
                </a:solidFill>
                <a:latin typeface="Helvetica" pitchFamily="34" charset="0"/>
                <a:ea typeface="Helvetica" pitchFamily="34" charset="-122"/>
                <a:cs typeface="Helvetica" pitchFamily="34" charset="-120"/>
              </a:rPr>
              <a:t>Strategic Buffers (Critical Nodes)</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Maintaining 3 to 6 months of safety stock for sole-sourced, high-margin microcomponents (HBM, custom GPUs) to guarantee manufacturing continuity.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00FF87"/>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00FF87"/>
                </a:solidFill>
                <a:latin typeface="Helvetica" pitchFamily="34" charset="0"/>
                <a:ea typeface="Helvetica" pitchFamily="34" charset="-122"/>
                <a:cs typeface="Helvetica" pitchFamily="34" charset="-120"/>
              </a:rPr>
              <a:t>Key Message: 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121826"/>
          </a:solidFill>
          <a:ln w="12700">
            <a:solidFill>
              <a:srgbClr val="00FF87"/>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A0AEC0"/>
                </a:solidFill>
                <a:latin typeface="Helvetica" pitchFamily="34" charset="0"/>
                <a:ea typeface="Helvetica" pitchFamily="34" charset="-122"/>
                <a:cs typeface="Helvetica" pitchFamily="34" charset="-120"/>
              </a:rPr>
              <a:t>Leading-Edge Nodes</a:t>
            </a:r>
            <a:endParaRPr lang="en-US" sz="1600" dirty="0"/>
          </a:p>
          <a:p>
            <a:pPr indent="0" marL="0">
              <a:buNone/>
            </a:pPr>
            <a:endParaRPr lang="en-US" sz="1600" dirty="0"/>
          </a:p>
          <a:p>
            <a:pPr indent="0" marL="0">
              <a:buNone/>
            </a:pPr>
            <a:r>
              <a:rPr lang="en-US" sz="1600" dirty="0">
                <a:solidFill>
                  <a:srgbClr val="A0AEC0"/>
                </a:solidFill>
                <a:latin typeface="Helvetica" pitchFamily="34" charset="0"/>
                <a:ea typeface="Helvetica" pitchFamily="34" charset="-122"/>
                <a:cs typeface="Helvetica" pitchFamily="34" charset="-120"/>
              </a:rPr>
              <a:t>Focus: Deep alliances, R&amp;D partnerships, capacity reservations.</a:t>
            </a:r>
            <a:endParaRPr lang="en-US" sz="1600" dirty="0"/>
          </a:p>
        </p:txBody>
      </p:sp>
      <p:sp>
        <p:nvSpPr>
          <p:cNvPr id="11" name="Shape 8"/>
          <p:cNvSpPr/>
          <p:nvPr/>
        </p:nvSpPr>
        <p:spPr>
          <a:xfrm>
            <a:off x="7680960" y="3840480"/>
            <a:ext cx="3840480" cy="2103120"/>
          </a:xfrm>
          <a:prstGeom prst="rect">
            <a:avLst/>
          </a:prstGeom>
          <a:solidFill>
            <a:srgbClr val="121826"/>
          </a:solidFill>
          <a:ln w="12700">
            <a:solidFill>
              <a:srgbClr val="FBBF24"/>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A0AEC0"/>
                </a:solidFill>
                <a:latin typeface="Helvetica" pitchFamily="34" charset="0"/>
                <a:ea typeface="Helvetica" pitchFamily="34" charset="-122"/>
                <a:cs typeface="Helvetica" pitchFamily="34" charset="-120"/>
              </a:rPr>
              <a:t>Legacy Nodes</a:t>
            </a:r>
            <a:endParaRPr lang="en-US" sz="1600" dirty="0"/>
          </a:p>
          <a:p>
            <a:pPr indent="0" marL="0">
              <a:buNone/>
            </a:pPr>
            <a:endParaRPr lang="en-US" sz="1600" dirty="0"/>
          </a:p>
          <a:p>
            <a:pPr indent="0" marL="0">
              <a:buNone/>
            </a:pPr>
            <a:r>
              <a:rPr lang="en-US" sz="1600" dirty="0">
                <a:solidFill>
                  <a:srgbClr val="A0AEC0"/>
                </a:solidFill>
                <a:latin typeface="Helvetica" pitchFamily="34" charset="0"/>
                <a:ea typeface="Helvetica" pitchFamily="34" charset="-122"/>
                <a:cs typeface="Helvetica" pitchFamily="34" charset="-120"/>
              </a:rPr>
              <a:t>Focus: Multi-sourcing, distributor networks, life-cycle tracking.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00F2FE"/>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121826"/>
          </a:solidFill>
          <a:ln w="12700">
            <a:solidFill>
              <a:srgbClr val="505D6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00F2FE"/>
                </a:solidFill>
                <a:latin typeface="Helvetica" pitchFamily="34" charset="0"/>
                <a:ea typeface="Helvetica" pitchFamily="34" charset="-122"/>
                <a:cs typeface="Helvetica"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121826"/>
          </a:solidFill>
          <a:ln w="12700">
            <a:solidFill>
              <a:srgbClr val="505D6F"/>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00FF87"/>
                </a:solidFill>
                <a:latin typeface="Helvetica" pitchFamily="34" charset="0"/>
                <a:ea typeface="Helvetica" pitchFamily="34" charset="-122"/>
                <a:cs typeface="Helvetica"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121826"/>
          </a:solidFill>
          <a:ln w="12700">
            <a:solidFill>
              <a:srgbClr val="00F2FE"/>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A0AEC0"/>
                </a:solidFill>
                <a:latin typeface="Helvetica" pitchFamily="34" charset="0"/>
                <a:ea typeface="Helvetica" pitchFamily="34" charset="-122"/>
                <a:cs typeface="Helvetica" pitchFamily="34" charset="-120"/>
              </a:rPr>
              <a:t>AI integration automatically tracks tier-2 chemical and substrate suppliers to detect factory closures or export blocks before they ripple into final fab allocations.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00F2FE"/>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00FF87"/>
                </a:solidFill>
                <a:latin typeface="Helvetica" pitchFamily="34" charset="0"/>
                <a:ea typeface="Helvetica" pitchFamily="34" charset="-122"/>
                <a:cs typeface="Helvetica"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121826"/>
          </a:solidFill>
          <a:ln w="12700">
            <a:solidFill>
              <a:srgbClr val="505D6F"/>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00F2FE"/>
                </a:solidFill>
                <a:latin typeface="Helvetica" pitchFamily="34" charset="0"/>
                <a:ea typeface="Helvetica" pitchFamily="34" charset="-122"/>
                <a:cs typeface="Helvetica"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FFFFFF"/>
                </a:solidFill>
                <a:latin typeface="Helvetica" pitchFamily="34" charset="0"/>
                <a:ea typeface="Helvetica" pitchFamily="34" charset="-122"/>
                <a:cs typeface="Helvetica"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A0AEC0"/>
                </a:solidFill>
                <a:latin typeface="Helvetica" pitchFamily="34" charset="0"/>
                <a:ea typeface="Helvetica" pitchFamily="34" charset="-122"/>
                <a:cs typeface="Helvetica"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121826"/>
          </a:solidFill>
          <a:ln w="12700">
            <a:solidFill>
              <a:srgbClr val="505D6F"/>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00F2FE"/>
                </a:solidFill>
                <a:latin typeface="Helvetica" pitchFamily="34" charset="0"/>
                <a:ea typeface="Helvetica" pitchFamily="34" charset="-122"/>
                <a:cs typeface="Helvetica"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FFFFFF"/>
                </a:solidFill>
                <a:latin typeface="Helvetica" pitchFamily="34" charset="0"/>
                <a:ea typeface="Helvetica" pitchFamily="34" charset="-122"/>
                <a:cs typeface="Helvetica"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A0AEC0"/>
                </a:solidFill>
                <a:latin typeface="Helvetica" pitchFamily="34" charset="0"/>
                <a:ea typeface="Helvetica" pitchFamily="34" charset="-122"/>
                <a:cs typeface="Helvetica"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121826"/>
          </a:solidFill>
          <a:ln w="12700">
            <a:solidFill>
              <a:srgbClr val="505D6F"/>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00F2FE"/>
                </a:solidFill>
                <a:latin typeface="Helvetica" pitchFamily="34" charset="0"/>
                <a:ea typeface="Helvetica" pitchFamily="34" charset="-122"/>
                <a:cs typeface="Helvetica"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FFFFFF"/>
                </a:solidFill>
                <a:latin typeface="Helvetica" pitchFamily="34" charset="0"/>
                <a:ea typeface="Helvetica" pitchFamily="34" charset="-122"/>
                <a:cs typeface="Helvetica"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A0AEC0"/>
                </a:solidFill>
                <a:latin typeface="Helvetica" pitchFamily="34" charset="0"/>
                <a:ea typeface="Helvetica" pitchFamily="34" charset="-122"/>
                <a:cs typeface="Helvetica"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121826"/>
          </a:solidFill>
          <a:ln w="12700">
            <a:solidFill>
              <a:srgbClr val="505D6F"/>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00F2FE"/>
                </a:solidFill>
                <a:latin typeface="Helvetica" pitchFamily="34" charset="0"/>
                <a:ea typeface="Helvetica" pitchFamily="34" charset="-122"/>
                <a:cs typeface="Helvetica"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FFFFFF"/>
                </a:solidFill>
                <a:latin typeface="Helvetica" pitchFamily="34" charset="0"/>
                <a:ea typeface="Helvetica" pitchFamily="34" charset="-122"/>
                <a:cs typeface="Helvetica"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A0AEC0"/>
                </a:solidFill>
                <a:latin typeface="Helvetica" pitchFamily="34" charset="0"/>
                <a:ea typeface="Helvetica" pitchFamily="34" charset="-122"/>
                <a:cs typeface="Helvetica"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121826"/>
          </a:solidFill>
          <a:ln w="12700">
            <a:solidFill>
              <a:srgbClr val="505D6F"/>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00F2FE"/>
                </a:solidFill>
                <a:latin typeface="Helvetica" pitchFamily="34" charset="0"/>
                <a:ea typeface="Helvetica" pitchFamily="34" charset="-122"/>
                <a:cs typeface="Helvetica"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FFFFFF"/>
                </a:solidFill>
                <a:latin typeface="Helvetica" pitchFamily="34" charset="0"/>
                <a:ea typeface="Helvetica" pitchFamily="34" charset="-122"/>
                <a:cs typeface="Helvetica"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A0AEC0"/>
                </a:solidFill>
                <a:latin typeface="Helvetica" pitchFamily="34" charset="0"/>
                <a:ea typeface="Helvetica" pitchFamily="34" charset="-122"/>
                <a:cs typeface="Helvetica"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C084F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C084FC"/>
                </a:solidFill>
                <a:latin typeface="Helvetica" pitchFamily="34" charset="0"/>
                <a:ea typeface="Helvetica" pitchFamily="34" charset="-122"/>
                <a:cs typeface="Helvetica" pitchFamily="34" charset="-120"/>
              </a:rPr>
              <a:t>Key Message: 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121826"/>
          </a:solidFill>
          <a:ln w="12700">
            <a:solidFill>
              <a:srgbClr val="00F2FE"/>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A0AEC0"/>
                </a:solidFill>
                <a:latin typeface="Helvetica" pitchFamily="34" charset="0"/>
                <a:ea typeface="Helvetica" pitchFamily="34" charset="-122"/>
                <a:cs typeface="Helvetica" pitchFamily="34" charset="-120"/>
              </a:rPr>
              <a:t>USA: Design IP</a:t>
            </a:r>
            <a:endParaRPr lang="en-US" sz="1600" dirty="0"/>
          </a:p>
          <a:p>
            <a:pPr indent="0" marL="0">
              <a:buNone/>
            </a:pPr>
            <a:endParaRPr lang="en-US" sz="1600" dirty="0"/>
          </a:p>
          <a:p>
            <a:pPr indent="0" marL="0">
              <a:buNone/>
            </a:pPr>
            <a:r>
              <a:rPr lang="en-US" sz="1600" dirty="0">
                <a:solidFill>
                  <a:srgbClr val="A0AEC0"/>
                </a:solidFill>
                <a:latin typeface="Helvetica" pitchFamily="34" charset="0"/>
                <a:ea typeface="Helvetica" pitchFamily="34" charset="-122"/>
                <a:cs typeface="Helvetica" pitchFamily="34" charset="-120"/>
              </a:rPr>
              <a:t>80%+ market share in advanced EDA software tools.</a:t>
            </a:r>
            <a:endParaRPr lang="en-US" sz="1600" dirty="0"/>
          </a:p>
        </p:txBody>
      </p:sp>
      <p:sp>
        <p:nvSpPr>
          <p:cNvPr id="11" name="Shape 8"/>
          <p:cNvSpPr/>
          <p:nvPr/>
        </p:nvSpPr>
        <p:spPr>
          <a:xfrm>
            <a:off x="7680960" y="3840480"/>
            <a:ext cx="3840480" cy="2103120"/>
          </a:xfrm>
          <a:prstGeom prst="rect">
            <a:avLst/>
          </a:prstGeom>
          <a:solidFill>
            <a:srgbClr val="121826"/>
          </a:solidFill>
          <a:ln w="12700">
            <a:solidFill>
              <a:srgbClr val="C084FC"/>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A0AEC0"/>
                </a:solidFill>
                <a:latin typeface="Helvetica" pitchFamily="34" charset="0"/>
                <a:ea typeface="Helvetica" pitchFamily="34" charset="-122"/>
                <a:cs typeface="Helvetica" pitchFamily="34" charset="-120"/>
              </a:rPr>
              <a:t>ASML (EU): Lithography</a:t>
            </a:r>
            <a:endParaRPr lang="en-US" sz="1600" dirty="0"/>
          </a:p>
          <a:p>
            <a:pPr indent="0" marL="0">
              <a:buNone/>
            </a:pPr>
            <a:endParaRPr lang="en-US" sz="1600" dirty="0"/>
          </a:p>
          <a:p>
            <a:pPr indent="0" marL="0">
              <a:buNone/>
            </a:pPr>
            <a:r>
              <a:rPr lang="en-US" sz="1600" dirty="0">
                <a:solidFill>
                  <a:srgbClr val="A0AEC0"/>
                </a:solidFill>
                <a:latin typeface="Helvetica" pitchFamily="34" charset="0"/>
                <a:ea typeface="Helvetica" pitchFamily="34" charset="-122"/>
                <a:cs typeface="Helvetica" pitchFamily="34" charset="-120"/>
              </a:rPr>
              <a:t>100% monopsony on EUV printing technology.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00FF87"/>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00FF87"/>
                </a:solidFill>
                <a:latin typeface="Helvetica" pitchFamily="34" charset="0"/>
                <a:ea typeface="Helvetica" pitchFamily="34" charset="-122"/>
                <a:cs typeface="Helvetica" pitchFamily="34" charset="-120"/>
              </a:rPr>
              <a:t>Key Message: 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121826"/>
          </a:solidFill>
          <a:ln w="12700">
            <a:solidFill>
              <a:srgbClr val="00F2FE"/>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00F2FE"/>
                </a:solidFill>
                <a:latin typeface="Helvetica" pitchFamily="34" charset="0"/>
                <a:ea typeface="Helvetica" pitchFamily="34" charset="-122"/>
                <a:cs typeface="Helvetica"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121826"/>
          </a:solidFill>
          <a:ln w="12700">
            <a:solidFill>
              <a:srgbClr val="00FF87"/>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00FF87"/>
                </a:solidFill>
                <a:latin typeface="Helvetica" pitchFamily="34" charset="0"/>
                <a:ea typeface="Helvetica" pitchFamily="34" charset="-122"/>
                <a:cs typeface="Helvetica" pitchFamily="34" charset="-120"/>
              </a:rPr>
              <a:t>Back-End: Advanced Packaging Chokepoint</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Integrating multiple logic dies and High Bandwidth Memory (HBM) via CoWoS interposers is more constrained than wafer printing.</a:t>
            </a:r>
            <a:endParaRPr lang="en-US" sz="1800" dirty="0"/>
          </a:p>
        </p:txBody>
      </p:sp>
      <p:sp>
        <p:nvSpPr>
          <p:cNvPr id="14" name="Shape 11"/>
          <p:cNvSpPr/>
          <p:nvPr/>
        </p:nvSpPr>
        <p:spPr>
          <a:xfrm>
            <a:off x="548640" y="5212080"/>
            <a:ext cx="10972800" cy="822960"/>
          </a:xfrm>
          <a:prstGeom prst="rect">
            <a:avLst/>
          </a:prstGeom>
          <a:solidFill>
            <a:srgbClr val="121826"/>
          </a:solidFill>
          <a:ln w="12700">
            <a:solidFill>
              <a:srgbClr val="00FF87"/>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A0AEC0"/>
                </a:solidFill>
                <a:latin typeface="Helvetica" pitchFamily="34" charset="0"/>
                <a:ea typeface="Helvetica" pitchFamily="34" charset="-122"/>
                <a:cs typeface="Helvetica" pitchFamily="34" charset="-120"/>
              </a:rPr>
              <a:t>Logistics bottleneck: Reaching target AI yields depends heavily on advanced back-end capacity, not just front-end print nodes.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F43F5E"/>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F43F5E"/>
                </a:solidFill>
                <a:latin typeface="Helvetica" pitchFamily="34" charset="0"/>
                <a:ea typeface="Helvetica" pitchFamily="34" charset="-122"/>
                <a:cs typeface="Helvetica" pitchFamily="34" charset="-120"/>
              </a:rPr>
              <a:t>Key Message: 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121826"/>
          </a:solidFill>
          <a:ln w="12700">
            <a:solidFill>
              <a:srgbClr val="F43F5E"/>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F43F5E"/>
                </a:solidFill>
                <a:latin typeface="Helvetica" pitchFamily="34" charset="0"/>
                <a:ea typeface="Helvetica" pitchFamily="34" charset="-122"/>
                <a:cs typeface="Helvetica" pitchFamily="34" charset="-120"/>
              </a:rPr>
              <a:t>CRITICAL CHOKEPOINT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FFFFFF"/>
                </a:solidFill>
                <a:latin typeface="Helvetica" pitchFamily="34" charset="0"/>
                <a:ea typeface="Helvetica" pitchFamily="34" charset="-122"/>
                <a:cs typeface="Helvetica" pitchFamily="34" charset="-120"/>
              </a:rPr>
              <a:t>Gallium &amp;</a:t>
            </a:r>
            <a:endParaRPr lang="en-US" sz="3600" dirty="0"/>
          </a:p>
          <a:p>
            <a:pPr algn="ctr" indent="0" marL="0">
              <a:buNone/>
            </a:pPr>
            <a:r>
              <a:rPr lang="en-US" sz="3600" b="1" dirty="0">
                <a:solidFill>
                  <a:srgbClr val="FFFFFF"/>
                </a:solidFill>
                <a:latin typeface="Helvetica" pitchFamily="34" charset="0"/>
                <a:ea typeface="Helvetica" pitchFamily="34" charset="-122"/>
                <a:cs typeface="Helvetica" pitchFamily="34" charset="-120"/>
              </a:rPr>
              <a:t>Germanium</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A0AEC0"/>
                </a:solidFill>
                <a:latin typeface="Helvetica" pitchFamily="34" charset="0"/>
                <a:ea typeface="Helvetica" pitchFamily="34" charset="-122"/>
                <a:cs typeface="Helvetica" pitchFamily="34" charset="-120"/>
              </a:rPr>
              <a:t>Strict raw material export control levers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00F2FE"/>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121826"/>
          </a:solidFill>
          <a:ln w="12700">
            <a:solidFill>
              <a:srgbClr val="505D6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00F2FE"/>
                </a:solidFill>
                <a:latin typeface="Helvetica" pitchFamily="34" charset="0"/>
                <a:ea typeface="Helvetica" pitchFamily="34" charset="-122"/>
                <a:cs typeface="Helvetica"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121826"/>
          </a:solidFill>
          <a:ln w="12700">
            <a:solidFill>
              <a:srgbClr val="505D6F"/>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00FF87"/>
                </a:solidFill>
                <a:latin typeface="Helvetica" pitchFamily="34" charset="0"/>
                <a:ea typeface="Helvetica" pitchFamily="34" charset="-122"/>
                <a:cs typeface="Helvetica" pitchFamily="34" charset="-120"/>
              </a:rPr>
              <a:t>Circular Reclamation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Mining the 'urban mine'—recovering rare earth elements from old electronics to reduce dependency on volatile mining regions.</a:t>
            </a:r>
            <a:endParaRPr lang="en-US" sz="1800" dirty="0"/>
          </a:p>
        </p:txBody>
      </p:sp>
      <p:sp>
        <p:nvSpPr>
          <p:cNvPr id="14" name="Shape 11"/>
          <p:cNvSpPr/>
          <p:nvPr/>
        </p:nvSpPr>
        <p:spPr>
          <a:xfrm>
            <a:off x="548640" y="5212080"/>
            <a:ext cx="10972800" cy="822960"/>
          </a:xfrm>
          <a:prstGeom prst="rect">
            <a:avLst/>
          </a:prstGeom>
          <a:solidFill>
            <a:srgbClr val="121826"/>
          </a:solidFill>
          <a:ln w="12700">
            <a:solidFill>
              <a:srgbClr val="00F2FE"/>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A0AEC0"/>
                </a:solidFill>
                <a:latin typeface="Helvetica" pitchFamily="34" charset="0"/>
                <a:ea typeface="Helvetica" pitchFamily="34" charset="-122"/>
                <a:cs typeface="Helvetica"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C084F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C084FC"/>
                </a:solidFill>
                <a:latin typeface="Helvetica" pitchFamily="34" charset="0"/>
                <a:ea typeface="Helvetica" pitchFamily="34" charset="-122"/>
                <a:cs typeface="Helvetica" pitchFamily="34" charset="-120"/>
              </a:rPr>
              <a:t>Key Message: 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121826"/>
          </a:solidFill>
          <a:ln w="12700">
            <a:solidFill>
              <a:srgbClr val="505D6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C084FC"/>
                </a:solidFill>
                <a:latin typeface="Helvetica" pitchFamily="34" charset="0"/>
                <a:ea typeface="Helvetica" pitchFamily="34" charset="-122"/>
                <a:cs typeface="Helvetica" pitchFamily="34" charset="-120"/>
              </a:rPr>
              <a:t>KEY METRIC</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FFFFFF"/>
                </a:solidFill>
                <a:latin typeface="Helvetica" pitchFamily="34" charset="0"/>
                <a:ea typeface="Helvetica" pitchFamily="34" charset="-122"/>
                <a:cs typeface="Helvetica" pitchFamily="34" charset="-120"/>
              </a:rPr>
              <a:t>Silicon</a:t>
            </a:r>
            <a:endParaRPr lang="en-US" sz="3600" dirty="0"/>
          </a:p>
          <a:p>
            <a:pPr algn="ctr" indent="0" marL="0">
              <a:buNone/>
            </a:pPr>
            <a:r>
              <a:rPr lang="en-US" sz="3600" b="1" dirty="0">
                <a:solidFill>
                  <a:srgbClr val="FFFFFF"/>
                </a:solidFill>
                <a:latin typeface="Helvetica" pitchFamily="34" charset="0"/>
                <a:ea typeface="Helvetica" pitchFamily="34" charset="-122"/>
                <a:cs typeface="Helvetica" pitchFamily="34" charset="-120"/>
              </a:rPr>
              <a:t>Intensity</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A0AEC0"/>
                </a:solidFill>
                <a:latin typeface="Helvetica" pitchFamily="34" charset="0"/>
                <a:ea typeface="Helvetica" pitchFamily="34" charset="-122"/>
                <a:cs typeface="Helvetica" pitchFamily="34" charset="-120"/>
              </a:rPr>
              <a:t>Primary industrial competitiveness index</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00F2FE"/>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Demand is shifting from traditional computing toward AI infrastructure, Automotive, and Industrial Automation.</a:t>
            </a:r>
            <a:endParaRPr lang="en-US" sz="1800" dirty="0"/>
          </a:p>
        </p:txBody>
      </p:sp>
      <p:sp>
        <p:nvSpPr>
          <p:cNvPr id="8" name="Shape 5"/>
          <p:cNvSpPr/>
          <p:nvPr/>
        </p:nvSpPr>
        <p:spPr>
          <a:xfrm>
            <a:off x="548640" y="2560320"/>
            <a:ext cx="3291840" cy="3474720"/>
          </a:xfrm>
          <a:prstGeom prst="rect">
            <a:avLst/>
          </a:prstGeom>
          <a:solidFill>
            <a:srgbClr val="121826"/>
          </a:solidFill>
          <a:ln w="12700">
            <a:solidFill>
              <a:srgbClr val="505D6F"/>
            </a:solidFill>
            <a:prstDash val="solid"/>
          </a:ln>
        </p:spPr>
      </p:sp>
      <p:sp>
        <p:nvSpPr>
          <p:cNvPr id="9" name="Text 6"/>
          <p:cNvSpPr/>
          <p:nvPr/>
        </p:nvSpPr>
        <p:spPr>
          <a:xfrm>
            <a:off x="822960" y="2834640"/>
            <a:ext cx="2743200" cy="457200"/>
          </a:xfrm>
          <a:prstGeom prst="rect">
            <a:avLst/>
          </a:prstGeom>
          <a:noFill/>
          <a:ln/>
        </p:spPr>
        <p:txBody>
          <a:bodyPr wrap="square" rtlCol="0" anchor="ctr"/>
          <a:lstStyle/>
          <a:p>
            <a:pPr indent="0" marL="0">
              <a:buNone/>
            </a:pPr>
            <a:r>
              <a:rPr lang="en-US" sz="2000" b="1" dirty="0">
                <a:solidFill>
                  <a:srgbClr val="00F2FE"/>
                </a:solidFill>
                <a:latin typeface="Helvetica" pitchFamily="34" charset="0"/>
                <a:ea typeface="Helvetica" pitchFamily="34" charset="-122"/>
                <a:cs typeface="Helvetica" pitchFamily="34" charset="-120"/>
              </a:rPr>
              <a:t>AI Datacenters</a:t>
            </a:r>
            <a:endParaRPr lang="en-US" sz="2000" dirty="0"/>
          </a:p>
        </p:txBody>
      </p:sp>
      <p:sp>
        <p:nvSpPr>
          <p:cNvPr id="10" name="Text 7"/>
          <p:cNvSpPr/>
          <p:nvPr/>
        </p:nvSpPr>
        <p:spPr>
          <a:xfrm>
            <a:off x="822960" y="3474720"/>
            <a:ext cx="2743200" cy="22860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Nearly 50% of semiconductor industry growth and revenue is driven by high-performance AI accelerators.</a:t>
            </a:r>
            <a:endParaRPr lang="en-US" sz="1800" dirty="0"/>
          </a:p>
        </p:txBody>
      </p:sp>
      <p:sp>
        <p:nvSpPr>
          <p:cNvPr id="11" name="Shape 8"/>
          <p:cNvSpPr/>
          <p:nvPr/>
        </p:nvSpPr>
        <p:spPr>
          <a:xfrm>
            <a:off x="4389120" y="2560320"/>
            <a:ext cx="3291840" cy="3474720"/>
          </a:xfrm>
          <a:prstGeom prst="rect">
            <a:avLst/>
          </a:prstGeom>
          <a:solidFill>
            <a:srgbClr val="121826"/>
          </a:solidFill>
          <a:ln w="12700">
            <a:solidFill>
              <a:srgbClr val="505D6F"/>
            </a:solidFill>
            <a:prstDash val="solid"/>
          </a:ln>
        </p:spPr>
      </p:sp>
      <p:sp>
        <p:nvSpPr>
          <p:cNvPr id="12" name="Text 9"/>
          <p:cNvSpPr/>
          <p:nvPr/>
        </p:nvSpPr>
        <p:spPr>
          <a:xfrm>
            <a:off x="4663440" y="2834640"/>
            <a:ext cx="2743200" cy="457200"/>
          </a:xfrm>
          <a:prstGeom prst="rect">
            <a:avLst/>
          </a:prstGeom>
          <a:noFill/>
          <a:ln/>
        </p:spPr>
        <p:txBody>
          <a:bodyPr wrap="square" rtlCol="0" anchor="ctr"/>
          <a:lstStyle/>
          <a:p>
            <a:pPr indent="0" marL="0">
              <a:buNone/>
            </a:pPr>
            <a:r>
              <a:rPr lang="en-US" sz="2000" b="1" dirty="0">
                <a:solidFill>
                  <a:srgbClr val="C084FC"/>
                </a:solidFill>
                <a:latin typeface="Helvetica" pitchFamily="34" charset="0"/>
                <a:ea typeface="Helvetica" pitchFamily="34" charset="-122"/>
                <a:cs typeface="Helvetica" pitchFamily="34" charset="-120"/>
              </a:rPr>
              <a:t>Automotive</a:t>
            </a:r>
            <a:endParaRPr lang="en-US" sz="2000" dirty="0"/>
          </a:p>
        </p:txBody>
      </p:sp>
      <p:sp>
        <p:nvSpPr>
          <p:cNvPr id="13" name="Text 10"/>
          <p:cNvSpPr/>
          <p:nvPr/>
        </p:nvSpPr>
        <p:spPr>
          <a:xfrm>
            <a:off x="4663440" y="3474720"/>
            <a:ext cx="2743200" cy="22860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The fastest growing volume segment, requiring massive numbers of legacy control nodes and SiC power chips.</a:t>
            </a:r>
            <a:endParaRPr lang="en-US" sz="1800" dirty="0"/>
          </a:p>
        </p:txBody>
      </p:sp>
      <p:sp>
        <p:nvSpPr>
          <p:cNvPr id="14" name="Shape 11"/>
          <p:cNvSpPr/>
          <p:nvPr/>
        </p:nvSpPr>
        <p:spPr>
          <a:xfrm>
            <a:off x="8229600" y="2560320"/>
            <a:ext cx="3291840" cy="3474720"/>
          </a:xfrm>
          <a:prstGeom prst="rect">
            <a:avLst/>
          </a:prstGeom>
          <a:solidFill>
            <a:srgbClr val="121826"/>
          </a:solidFill>
          <a:ln w="12700">
            <a:solidFill>
              <a:srgbClr val="505D6F"/>
            </a:solidFill>
            <a:prstDash val="solid"/>
          </a:ln>
        </p:spPr>
      </p:sp>
      <p:sp>
        <p:nvSpPr>
          <p:cNvPr id="15" name="Text 12"/>
          <p:cNvSpPr/>
          <p:nvPr/>
        </p:nvSpPr>
        <p:spPr>
          <a:xfrm>
            <a:off x="8503920" y="2834640"/>
            <a:ext cx="2743200" cy="457200"/>
          </a:xfrm>
          <a:prstGeom prst="rect">
            <a:avLst/>
          </a:prstGeom>
          <a:noFill/>
          <a:ln/>
        </p:spPr>
        <p:txBody>
          <a:bodyPr wrap="square" rtlCol="0" anchor="ctr"/>
          <a:lstStyle/>
          <a:p>
            <a:pPr indent="0" marL="0">
              <a:buNone/>
            </a:pPr>
            <a:r>
              <a:rPr lang="en-US" sz="2000" b="1" dirty="0">
                <a:solidFill>
                  <a:srgbClr val="00FF87"/>
                </a:solidFill>
                <a:latin typeface="Helvetica" pitchFamily="34" charset="0"/>
                <a:ea typeface="Helvetica" pitchFamily="34" charset="-122"/>
                <a:cs typeface="Helvetica" pitchFamily="34" charset="-120"/>
              </a:rPr>
              <a:t>Smartphones &amp; PCs</a:t>
            </a:r>
            <a:endParaRPr lang="en-US" sz="2000" dirty="0"/>
          </a:p>
        </p:txBody>
      </p:sp>
      <p:sp>
        <p:nvSpPr>
          <p:cNvPr id="16" name="Text 13"/>
          <p:cNvSpPr/>
          <p:nvPr/>
        </p:nvSpPr>
        <p:spPr>
          <a:xfrm>
            <a:off x="8503920" y="3474720"/>
            <a:ext cx="2743200" cy="228600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Traditional core segments face volume saturation, driving consolidation and focus on specialized edge accelerators.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00FF87"/>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00FF87"/>
                </a:solidFill>
                <a:latin typeface="Helvetica" pitchFamily="34" charset="0"/>
                <a:ea typeface="Helvetica" pitchFamily="34" charset="-122"/>
                <a:cs typeface="Helvetica" pitchFamily="34" charset="-120"/>
              </a:rPr>
              <a:t>Key Message: 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121826"/>
          </a:solidFill>
          <a:ln w="12700">
            <a:solidFill>
              <a:srgbClr val="00FF87"/>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00FF87"/>
                </a:solidFill>
                <a:latin typeface="Helvetica" pitchFamily="34" charset="0"/>
                <a:ea typeface="Helvetica" pitchFamily="34" charset="-122"/>
                <a:cs typeface="Helvetica" pitchFamily="34" charset="-120"/>
              </a:rPr>
              <a:t>ANALYST PROJECT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FFFFFF"/>
                </a:solidFill>
                <a:latin typeface="Helvetica" pitchFamily="34" charset="0"/>
                <a:ea typeface="Helvetica" pitchFamily="34" charset="-122"/>
                <a:cs typeface="Helvetica" pitchFamily="34" charset="-120"/>
              </a:rPr>
              <a:t>$500B</a:t>
            </a:r>
            <a:endParaRPr lang="en-US" sz="54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A0AEC0"/>
                </a:solidFill>
                <a:latin typeface="Helvetica" pitchFamily="34" charset="0"/>
                <a:ea typeface="Helvetica" pitchFamily="34" charset="-122"/>
                <a:cs typeface="Helvetica" pitchFamily="34" charset="-120"/>
              </a:rPr>
              <a:t>AI Accelerator market size by 2026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00F2FE"/>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121826"/>
          </a:solidFill>
          <a:ln w="12700">
            <a:solidFill>
              <a:srgbClr val="505D6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00F2FE"/>
                </a:solidFill>
                <a:latin typeface="Helvetica" pitchFamily="34" charset="0"/>
                <a:ea typeface="Helvetica" pitchFamily="34" charset="-122"/>
                <a:cs typeface="Helvetica" pitchFamily="34" charset="-120"/>
              </a:rPr>
              <a:t>ESTIMATE</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FFFFFF"/>
                </a:solidFill>
                <a:latin typeface="Helvetica" pitchFamily="34" charset="0"/>
                <a:ea typeface="Helvetica" pitchFamily="34" charset="-122"/>
                <a:cs typeface="Helvetica" pitchFamily="34" charset="-120"/>
              </a:rPr>
              <a:t>$1,000+</a:t>
            </a:r>
            <a:endParaRPr lang="en-US" sz="50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A0AEC0"/>
                </a:solidFill>
                <a:latin typeface="Helvetica" pitchFamily="34" charset="0"/>
                <a:ea typeface="Helvetica" pitchFamily="34" charset="-122"/>
                <a:cs typeface="Helvetica" pitchFamily="34" charset="-120"/>
              </a:rPr>
              <a:t>Silicon value content per EV unit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121826"/>
          </a:solidFill>
          <a:ln w="19050">
            <a:solidFill>
              <a:srgbClr val="C084F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C084FC"/>
                </a:solidFill>
                <a:latin typeface="Helvetica" pitchFamily="34" charset="0"/>
                <a:ea typeface="Helvetica" pitchFamily="34" charset="-122"/>
                <a:cs typeface="Helvetica" pitchFamily="34" charset="-120"/>
              </a:rPr>
              <a:t>Key Message: 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121826"/>
          </a:solidFill>
          <a:ln w="12700">
            <a:solidFill>
              <a:srgbClr val="C084FC"/>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C084FC"/>
                </a:solidFill>
                <a:latin typeface="Helvetica" pitchFamily="34" charset="0"/>
                <a:ea typeface="Helvetica" pitchFamily="34" charset="-122"/>
                <a:cs typeface="Helvetica"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121826"/>
          </a:solidFill>
          <a:ln w="12700">
            <a:solidFill>
              <a:srgbClr val="00FF87"/>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00FF87"/>
                </a:solidFill>
                <a:latin typeface="Helvetica" pitchFamily="34" charset="0"/>
                <a:ea typeface="Helvetica" pitchFamily="34" charset="-122"/>
                <a:cs typeface="Helvetica"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121826"/>
          </a:solidFill>
          <a:ln w="19050">
            <a:solidFill>
              <a:srgbClr val="00FF87"/>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00FF87"/>
                </a:solidFill>
                <a:latin typeface="Helvetica" pitchFamily="34" charset="0"/>
                <a:ea typeface="Helvetica" pitchFamily="34" charset="-122"/>
                <a:cs typeface="Helvetica" pitchFamily="34" charset="-120"/>
              </a:rPr>
              <a:t>Key Message: 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A0AEC0"/>
                </a:solidFill>
                <a:latin typeface="Helvetica" pitchFamily="34" charset="0"/>
                <a:ea typeface="Helvetica" pitchFamily="34" charset="-122"/>
                <a:cs typeface="Helvetica"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121826"/>
          </a:solidFill>
          <a:ln w="12700">
            <a:solidFill>
              <a:srgbClr val="505D6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00FF87"/>
                </a:solidFill>
                <a:latin typeface="Helvetica" pitchFamily="34" charset="0"/>
                <a:ea typeface="Helvetica" pitchFamily="34" charset="-122"/>
                <a:cs typeface="Helvetica"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FFFFFF"/>
                </a:solidFill>
                <a:latin typeface="Helvetica" pitchFamily="34" charset="0"/>
                <a:ea typeface="Helvetica" pitchFamily="34" charset="-122"/>
                <a:cs typeface="Helvetica"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A0AEC0"/>
                </a:solidFill>
                <a:latin typeface="Helvetica" pitchFamily="34" charset="0"/>
                <a:ea typeface="Helvetica" pitchFamily="34" charset="-122"/>
                <a:cs typeface="Helvetica"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9"/>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00F2FE"/>
                </a:solidFill>
                <a:latin typeface="Helvetica" pitchFamily="34" charset="0"/>
                <a:ea typeface="Helvetica" pitchFamily="34" charset="-122"/>
                <a:cs typeface="Helvetica"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FFFFFF"/>
                </a:solidFill>
                <a:latin typeface="Helvetica" pitchFamily="34" charset="0"/>
                <a:ea typeface="Helvetica" pitchFamily="34" charset="-122"/>
                <a:cs typeface="Helvetica"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505D6F"/>
                </a:solidFill>
                <a:latin typeface="Helvetica" pitchFamily="34" charset="0"/>
                <a:ea typeface="Helvetica" pitchFamily="34" charset="-122"/>
                <a:cs typeface="Helvetica" pitchFamily="34" charset="-120"/>
              </a:rPr>
              <a:t>The 2026 Semiconductor Ecosystem | Slide 17</a:t>
            </a:r>
            <a:endParaRPr lang="en-US" sz="1000" dirty="0"/>
          </a:p>
        </p:txBody>
      </p:sp>
      <p:sp>
        <p:nvSpPr>
          <p:cNvPr id="6" name="Shape 3"/>
          <p:cNvSpPr/>
          <p:nvPr/>
        </p:nvSpPr>
        <p:spPr>
          <a:xfrm>
            <a:off x="548640" y="1280160"/>
            <a:ext cx="10972800" cy="822960"/>
          </a:xfrm>
          <a:prstGeom prst="rect">
            <a:avLst/>
          </a:prstGeom>
          <a:solidFill>
            <a:srgbClr val="121826"/>
          </a:solidFill>
          <a:ln w="19050">
            <a:solidFill>
              <a:srgbClr val="00F2FE"/>
            </a:solidFill>
            <a:prstDash val="solid"/>
          </a:ln>
        </p:spPr>
      </p:sp>
      <p:sp>
        <p:nvSpPr>
          <p:cNvPr id="7" name="Text 4"/>
          <p:cNvSpPr/>
          <p:nvPr/>
        </p:nvSpPr>
        <p:spPr>
          <a:xfrm>
            <a:off x="731520" y="1325880"/>
            <a:ext cx="10607040" cy="731520"/>
          </a:xfrm>
          <a:prstGeom prst="rect">
            <a:avLst/>
          </a:prstGeom>
          <a:noFill/>
          <a:ln/>
        </p:spPr>
        <p:txBody>
          <a:bodyPr wrap="square" rtlCol="0" anchor="ctr"/>
          <a:lstStyle/>
          <a:p>
            <a:pPr indent="0" marL="0">
              <a:buNone/>
            </a:pPr>
            <a:r>
              <a:rPr lang="en-US" sz="1800" b="1" i="1" dirty="0">
                <a:solidFill>
                  <a:srgbClr val="00F2FE"/>
                </a:solidFill>
                <a:latin typeface="Helvetica" pitchFamily="34" charset="0"/>
                <a:ea typeface="Helvetica" pitchFamily="34" charset="-122"/>
                <a:cs typeface="Helvetica" pitchFamily="34" charset="-120"/>
              </a:rPr>
              <a:t>Key Message: We have reached a point of "Total Silicon Dependency." The path to a $2 trillion industry is certain.</a:t>
            </a:r>
            <a:endParaRPr lang="en-US" sz="1800" dirty="0"/>
          </a:p>
        </p:txBody>
      </p:sp>
      <p:sp>
        <p:nvSpPr>
          <p:cNvPr id="8" name="Text 5"/>
          <p:cNvSpPr/>
          <p:nvPr/>
        </p:nvSpPr>
        <p:spPr>
          <a:xfrm>
            <a:off x="548640" y="2194560"/>
            <a:ext cx="10972800" cy="73152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Mastery of the semiconductor ecosystem is mastery of the future. The "Chip Wars" aren't just about manufacturing; they are about who can best harness silicon to transform their industries.</a:t>
            </a:r>
            <a:endParaRPr lang="en-US" sz="1800" dirty="0"/>
          </a:p>
        </p:txBody>
      </p:sp>
      <p:sp>
        <p:nvSpPr>
          <p:cNvPr id="9" name="Text 6"/>
          <p:cNvSpPr/>
          <p:nvPr/>
        </p:nvSpPr>
        <p:spPr>
          <a:xfrm>
            <a:off x="548640" y="3017520"/>
            <a:ext cx="10972800" cy="274320"/>
          </a:xfrm>
          <a:prstGeom prst="rect">
            <a:avLst/>
          </a:prstGeom>
          <a:noFill/>
          <a:ln/>
        </p:spPr>
        <p:txBody>
          <a:bodyPr wrap="square" rtlCol="0" anchor="ctr"/>
          <a:lstStyle/>
          <a:p>
            <a:pPr indent="0" marL="0">
              <a:buNone/>
            </a:pPr>
            <a:r>
              <a:rPr lang="en-US" sz="1200" b="1" spc="100" kern="0" dirty="0">
                <a:solidFill>
                  <a:srgbClr val="FFFFFF"/>
                </a:solidFill>
                <a:latin typeface="Helvetica" pitchFamily="34" charset="0"/>
                <a:ea typeface="Helvetica" pitchFamily="34" charset="-122"/>
                <a:cs typeface="Helvetica" pitchFamily="34" charset="-120"/>
              </a:rPr>
              <a:t>KEY TAKEAWAYS SUMMARY</a:t>
            </a:r>
            <a:endParaRPr lang="en-US" sz="1200" dirty="0"/>
          </a:p>
        </p:txBody>
      </p:sp>
      <p:sp>
        <p:nvSpPr>
          <p:cNvPr id="10" name="Shape 7"/>
          <p:cNvSpPr/>
          <p:nvPr/>
        </p:nvSpPr>
        <p:spPr>
          <a:xfrm>
            <a:off x="548640" y="3383280"/>
            <a:ext cx="3291840" cy="2743200"/>
          </a:xfrm>
          <a:prstGeom prst="rect">
            <a:avLst/>
          </a:prstGeom>
          <a:solidFill>
            <a:srgbClr val="121826"/>
          </a:solidFill>
          <a:ln w="12700">
            <a:solidFill>
              <a:srgbClr val="505D6F"/>
            </a:solidFill>
            <a:prstDash val="solid"/>
          </a:ln>
        </p:spPr>
      </p:sp>
      <p:sp>
        <p:nvSpPr>
          <p:cNvPr id="11" name="Text 8"/>
          <p:cNvSpPr/>
          <p:nvPr/>
        </p:nvSpPr>
        <p:spPr>
          <a:xfrm>
            <a:off x="822960" y="3566160"/>
            <a:ext cx="2743200" cy="365760"/>
          </a:xfrm>
          <a:prstGeom prst="rect">
            <a:avLst/>
          </a:prstGeom>
          <a:noFill/>
          <a:ln/>
        </p:spPr>
        <p:txBody>
          <a:bodyPr wrap="square" rtlCol="0" anchor="ctr"/>
          <a:lstStyle/>
          <a:p>
            <a:pPr indent="0" marL="0">
              <a:buNone/>
            </a:pPr>
            <a:r>
              <a:rPr lang="en-US" sz="2000" b="1" dirty="0">
                <a:solidFill>
                  <a:srgbClr val="00F2FE"/>
                </a:solidFill>
                <a:latin typeface="Helvetica" pitchFamily="34" charset="0"/>
                <a:ea typeface="Helvetica" pitchFamily="34" charset="-122"/>
                <a:cs typeface="Helvetica" pitchFamily="34" charset="-120"/>
              </a:rPr>
              <a:t>Procurement</a:t>
            </a:r>
            <a:endParaRPr lang="en-US" sz="2000" dirty="0"/>
          </a:p>
        </p:txBody>
      </p:sp>
      <p:sp>
        <p:nvSpPr>
          <p:cNvPr id="12" name="Text 9"/>
          <p:cNvSpPr/>
          <p:nvPr/>
        </p:nvSpPr>
        <p:spPr>
          <a:xfrm>
            <a:off x="822960" y="4023360"/>
            <a:ext cx="2743200" cy="192024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Shift from JIT to Strategic Hybrid; resilience is the new ROI.</a:t>
            </a:r>
            <a:endParaRPr lang="en-US" sz="1800" dirty="0"/>
          </a:p>
        </p:txBody>
      </p:sp>
      <p:sp>
        <p:nvSpPr>
          <p:cNvPr id="13" name="Shape 10"/>
          <p:cNvSpPr/>
          <p:nvPr/>
        </p:nvSpPr>
        <p:spPr>
          <a:xfrm>
            <a:off x="4389120" y="3383280"/>
            <a:ext cx="3291840" cy="2743200"/>
          </a:xfrm>
          <a:prstGeom prst="rect">
            <a:avLst/>
          </a:prstGeom>
          <a:solidFill>
            <a:srgbClr val="121826"/>
          </a:solidFill>
          <a:ln w="12700">
            <a:solidFill>
              <a:srgbClr val="505D6F"/>
            </a:solidFill>
            <a:prstDash val="solid"/>
          </a:ln>
        </p:spPr>
      </p:sp>
      <p:sp>
        <p:nvSpPr>
          <p:cNvPr id="14" name="Text 11"/>
          <p:cNvSpPr/>
          <p:nvPr/>
        </p:nvSpPr>
        <p:spPr>
          <a:xfrm>
            <a:off x="4663440" y="3566160"/>
            <a:ext cx="2743200" cy="365760"/>
          </a:xfrm>
          <a:prstGeom prst="rect">
            <a:avLst/>
          </a:prstGeom>
          <a:noFill/>
          <a:ln/>
        </p:spPr>
        <p:txBody>
          <a:bodyPr wrap="square" rtlCol="0" anchor="ctr"/>
          <a:lstStyle/>
          <a:p>
            <a:pPr indent="0" marL="0">
              <a:buNone/>
            </a:pPr>
            <a:r>
              <a:rPr lang="en-US" sz="2000" b="1" dirty="0">
                <a:solidFill>
                  <a:srgbClr val="C084FC"/>
                </a:solidFill>
                <a:latin typeface="Helvetica" pitchFamily="34" charset="0"/>
                <a:ea typeface="Helvetica" pitchFamily="34" charset="-122"/>
                <a:cs typeface="Helvetica" pitchFamily="34" charset="-120"/>
              </a:rPr>
              <a:t>Supply Chain</a:t>
            </a:r>
            <a:endParaRPr lang="en-US" sz="2000" dirty="0"/>
          </a:p>
        </p:txBody>
      </p:sp>
      <p:sp>
        <p:nvSpPr>
          <p:cNvPr id="15" name="Text 12"/>
          <p:cNvSpPr/>
          <p:nvPr/>
        </p:nvSpPr>
        <p:spPr>
          <a:xfrm>
            <a:off x="4663440" y="4023360"/>
            <a:ext cx="2743200" cy="192024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Chokepoints in Advanced Packaging and SME are the new strategic risks.</a:t>
            </a:r>
            <a:endParaRPr lang="en-US" sz="1800" dirty="0"/>
          </a:p>
        </p:txBody>
      </p:sp>
      <p:sp>
        <p:nvSpPr>
          <p:cNvPr id="16" name="Shape 13"/>
          <p:cNvSpPr/>
          <p:nvPr/>
        </p:nvSpPr>
        <p:spPr>
          <a:xfrm>
            <a:off x="8229600" y="3383280"/>
            <a:ext cx="3291840" cy="2743200"/>
          </a:xfrm>
          <a:prstGeom prst="rect">
            <a:avLst/>
          </a:prstGeom>
          <a:solidFill>
            <a:srgbClr val="121826"/>
          </a:solidFill>
          <a:ln w="12700">
            <a:solidFill>
              <a:srgbClr val="505D6F"/>
            </a:solidFill>
            <a:prstDash val="solid"/>
          </a:ln>
        </p:spPr>
      </p:sp>
      <p:sp>
        <p:nvSpPr>
          <p:cNvPr id="17" name="Text 14"/>
          <p:cNvSpPr/>
          <p:nvPr/>
        </p:nvSpPr>
        <p:spPr>
          <a:xfrm>
            <a:off x="8503920" y="3566160"/>
            <a:ext cx="2743200" cy="365760"/>
          </a:xfrm>
          <a:prstGeom prst="rect">
            <a:avLst/>
          </a:prstGeom>
          <a:noFill/>
          <a:ln/>
        </p:spPr>
        <p:txBody>
          <a:bodyPr wrap="square" rtlCol="0" anchor="ctr"/>
          <a:lstStyle/>
          <a:p>
            <a:pPr indent="0" marL="0">
              <a:buNone/>
            </a:pPr>
            <a:r>
              <a:rPr lang="en-US" sz="2000" b="1" dirty="0">
                <a:solidFill>
                  <a:srgbClr val="00FF87"/>
                </a:solidFill>
                <a:latin typeface="Helvetica" pitchFamily="34" charset="0"/>
                <a:ea typeface="Helvetica" pitchFamily="34" charset="-122"/>
                <a:cs typeface="Helvetica" pitchFamily="34" charset="-120"/>
              </a:rPr>
              <a:t>Industries</a:t>
            </a:r>
            <a:endParaRPr lang="en-US" sz="2000" dirty="0"/>
          </a:p>
        </p:txBody>
      </p:sp>
      <p:sp>
        <p:nvSpPr>
          <p:cNvPr id="18" name="Text 15"/>
          <p:cNvSpPr/>
          <p:nvPr/>
        </p:nvSpPr>
        <p:spPr>
          <a:xfrm>
            <a:off x="8503920" y="4023360"/>
            <a:ext cx="2743200" cy="1920240"/>
          </a:xfrm>
          <a:prstGeom prst="rect">
            <a:avLst/>
          </a:prstGeom>
          <a:noFill/>
          <a:ln/>
        </p:spPr>
        <p:txBody>
          <a:bodyPr wrap="square" rtlCol="0" anchor="ctr"/>
          <a:lstStyle/>
          <a:p>
            <a:pPr indent="0" marL="0">
              <a:buNone/>
            </a:pPr>
            <a:r>
              <a:rPr lang="en-US" sz="1800" dirty="0">
                <a:solidFill>
                  <a:srgbClr val="A0AEC0"/>
                </a:solidFill>
                <a:latin typeface="Helvetica" pitchFamily="34" charset="0"/>
                <a:ea typeface="Helvetica" pitchFamily="34" charset="-122"/>
                <a:cs typeface="Helvetica" pitchFamily="34" charset="-120"/>
              </a:rPr>
              <a:t>AI is the Value King; Automotive is the Volume King.</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2026-06-10T09:18:58Z</dcterms:created>
  <dcterms:modified xsi:type="dcterms:W3CDTF">2026-06-10T09:18:58Z</dcterms:modified>
</cp:coreProperties>
</file>