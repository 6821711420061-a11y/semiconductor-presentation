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Presenter: Phyoe Sat Paing</a:t>
            </a:r>
            <a:endParaRPr lang="en-US" sz="1400" dirty="0"/>
          </a:p>
          <a:p>
            <a:pPr indent="0" marL="0">
              <a:buNone/>
            </a:pPr>
            <a:r>
              <a:rPr lang="en-US" sz="1400" dirty="0">
                <a:solidFill>
                  <a:srgbClr val="6B6560"/>
                </a:solidFill>
                <a:latin typeface="Aeonik" pitchFamily="34" charset="0"/>
                <a:ea typeface="Aeonik" pitchFamily="34" charset="-122"/>
                <a:cs typeface="Aeonik"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Aeonik" pitchFamily="34" charset="0"/>
                <a:ea typeface="Aeonik" pitchFamily="34" charset="-122"/>
                <a:cs typeface="Aeonik"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188720"/>
            <a:ext cx="5486400" cy="822960"/>
          </a:xfrm>
          <a:prstGeom prst="rect">
            <a:avLst/>
          </a:prstGeom>
          <a:solidFill>
            <a:srgbClr val="FFFDF8"/>
          </a:solidFill>
          <a:ln w="19050">
            <a:solidFill>
              <a:srgbClr val="B84A2F"/>
            </a:solidFill>
            <a:prstDash val="solid"/>
          </a:ln>
        </p:spPr>
      </p:sp>
      <p:sp>
        <p:nvSpPr>
          <p:cNvPr id="7" name="Text 4"/>
          <p:cNvSpPr/>
          <p:nvPr/>
        </p:nvSpPr>
        <p:spPr>
          <a:xfrm>
            <a:off x="731520" y="1234440"/>
            <a:ext cx="5120640" cy="731520"/>
          </a:xfrm>
          <a:prstGeom prst="rect">
            <a:avLst/>
          </a:prstGeom>
          <a:noFill/>
          <a:ln/>
        </p:spPr>
        <p:txBody>
          <a:bodyPr wrap="square" rtlCol="0" anchor="ctr"/>
          <a:lstStyle/>
          <a:p>
            <a:pPr indent="0" marL="0">
              <a:buNone/>
            </a:pPr>
            <a:r>
              <a:rPr lang="en-US" sz="14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400" dirty="0"/>
          </a:p>
        </p:txBody>
      </p:sp>
      <p:sp>
        <p:nvSpPr>
          <p:cNvPr id="8" name="Text 5"/>
          <p:cNvSpPr/>
          <p:nvPr/>
        </p:nvSpPr>
        <p:spPr>
          <a:xfrm>
            <a:off x="548640" y="2103120"/>
            <a:ext cx="5486400" cy="91440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400" dirty="0"/>
          </a:p>
        </p:txBody>
      </p:sp>
      <p:sp>
        <p:nvSpPr>
          <p:cNvPr id="9" name="Text 6"/>
          <p:cNvSpPr/>
          <p:nvPr/>
        </p:nvSpPr>
        <p:spPr>
          <a:xfrm>
            <a:off x="548640" y="3108960"/>
            <a:ext cx="5486400" cy="274320"/>
          </a:xfrm>
          <a:prstGeom prst="rect">
            <a:avLst/>
          </a:prstGeom>
          <a:noFill/>
          <a:ln/>
        </p:spPr>
        <p:txBody>
          <a:bodyPr wrap="square" rtlCol="0" anchor="ctr"/>
          <a:lstStyle/>
          <a:p>
            <a:pPr indent="0" marL="0">
              <a:buNone/>
            </a:pPr>
            <a:r>
              <a:rPr lang="en-US" sz="1000" b="1" spc="100" kern="0" dirty="0">
                <a:solidFill>
                  <a:srgbClr val="1A1714"/>
                </a:solidFill>
                <a:latin typeface="Aeonik" pitchFamily="34" charset="0"/>
                <a:ea typeface="Aeonik" pitchFamily="34" charset="-122"/>
                <a:cs typeface="Aeonik" pitchFamily="34" charset="-120"/>
              </a:rPr>
              <a:t>KEY TAKEAWAYS SUMMARY</a:t>
            </a:r>
            <a:endParaRPr lang="en-US" sz="1000" dirty="0"/>
          </a:p>
        </p:txBody>
      </p:sp>
      <p:sp>
        <p:nvSpPr>
          <p:cNvPr id="10" name="Shape 7"/>
          <p:cNvSpPr/>
          <p:nvPr/>
        </p:nvSpPr>
        <p:spPr>
          <a:xfrm>
            <a:off x="548640" y="3474720"/>
            <a:ext cx="5486400" cy="731520"/>
          </a:xfrm>
          <a:prstGeom prst="rect">
            <a:avLst/>
          </a:prstGeom>
          <a:solidFill>
            <a:srgbClr val="FFFDF8"/>
          </a:solidFill>
          <a:ln w="12700">
            <a:solidFill>
              <a:srgbClr val="E0D9D0"/>
            </a:solidFill>
            <a:prstDash val="solid"/>
          </a:ln>
        </p:spPr>
      </p:sp>
      <p:sp>
        <p:nvSpPr>
          <p:cNvPr id="11" name="Text 8"/>
          <p:cNvSpPr/>
          <p:nvPr/>
        </p:nvSpPr>
        <p:spPr>
          <a:xfrm>
            <a:off x="731520" y="3566160"/>
            <a:ext cx="5120640" cy="228600"/>
          </a:xfrm>
          <a:prstGeom prst="rect">
            <a:avLst/>
          </a:prstGeom>
          <a:noFill/>
          <a:ln/>
        </p:spPr>
        <p:txBody>
          <a:bodyPr wrap="square" rtlCol="0" anchor="ctr"/>
          <a:lstStyle/>
          <a:p>
            <a:pPr indent="0" marL="0">
              <a:buNone/>
            </a:pPr>
            <a:r>
              <a:rPr lang="en-US" sz="1300" b="1" dirty="0">
                <a:solidFill>
                  <a:srgbClr val="B84A2F"/>
                </a:solidFill>
                <a:latin typeface="Aeonik" pitchFamily="34" charset="0"/>
                <a:ea typeface="Aeonik" pitchFamily="34" charset="-122"/>
                <a:cs typeface="Aeonik" pitchFamily="34" charset="-120"/>
              </a:rPr>
              <a:t>Procurement</a:t>
            </a:r>
            <a:endParaRPr lang="en-US" sz="1300" dirty="0"/>
          </a:p>
        </p:txBody>
      </p:sp>
      <p:sp>
        <p:nvSpPr>
          <p:cNvPr id="12" name="Text 9"/>
          <p:cNvSpPr/>
          <p:nvPr/>
        </p:nvSpPr>
        <p:spPr>
          <a:xfrm>
            <a:off x="731520" y="379476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100" dirty="0"/>
          </a:p>
        </p:txBody>
      </p:sp>
      <p:sp>
        <p:nvSpPr>
          <p:cNvPr id="13" name="Shape 10"/>
          <p:cNvSpPr/>
          <p:nvPr/>
        </p:nvSpPr>
        <p:spPr>
          <a:xfrm>
            <a:off x="548640" y="4343400"/>
            <a:ext cx="5486400" cy="731520"/>
          </a:xfrm>
          <a:prstGeom prst="rect">
            <a:avLst/>
          </a:prstGeom>
          <a:solidFill>
            <a:srgbClr val="FFFDF8"/>
          </a:solidFill>
          <a:ln w="12700">
            <a:solidFill>
              <a:srgbClr val="E0D9D0"/>
            </a:solidFill>
            <a:prstDash val="solid"/>
          </a:ln>
        </p:spPr>
      </p:sp>
      <p:sp>
        <p:nvSpPr>
          <p:cNvPr id="14" name="Text 11"/>
          <p:cNvSpPr/>
          <p:nvPr/>
        </p:nvSpPr>
        <p:spPr>
          <a:xfrm>
            <a:off x="731520" y="4434840"/>
            <a:ext cx="5120640" cy="228600"/>
          </a:xfrm>
          <a:prstGeom prst="rect">
            <a:avLst/>
          </a:prstGeom>
          <a:noFill/>
          <a:ln/>
        </p:spPr>
        <p:txBody>
          <a:bodyPr wrap="square" rtlCol="0" anchor="ctr"/>
          <a:lstStyle/>
          <a:p>
            <a:pPr indent="0" marL="0">
              <a:buNone/>
            </a:pPr>
            <a:r>
              <a:rPr lang="en-US" sz="1300" b="1" dirty="0">
                <a:solidFill>
                  <a:srgbClr val="9E7D84"/>
                </a:solidFill>
                <a:latin typeface="Aeonik" pitchFamily="34" charset="0"/>
                <a:ea typeface="Aeonik" pitchFamily="34" charset="-122"/>
                <a:cs typeface="Aeonik" pitchFamily="34" charset="-120"/>
              </a:rPr>
              <a:t>Supply Chain</a:t>
            </a:r>
            <a:endParaRPr lang="en-US" sz="1300" dirty="0"/>
          </a:p>
        </p:txBody>
      </p:sp>
      <p:sp>
        <p:nvSpPr>
          <p:cNvPr id="15" name="Text 12"/>
          <p:cNvSpPr/>
          <p:nvPr/>
        </p:nvSpPr>
        <p:spPr>
          <a:xfrm>
            <a:off x="731520" y="466344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100" dirty="0"/>
          </a:p>
        </p:txBody>
      </p:sp>
      <p:sp>
        <p:nvSpPr>
          <p:cNvPr id="16" name="Shape 13"/>
          <p:cNvSpPr/>
          <p:nvPr/>
        </p:nvSpPr>
        <p:spPr>
          <a:xfrm>
            <a:off x="548640" y="5212080"/>
            <a:ext cx="5486400" cy="731520"/>
          </a:xfrm>
          <a:prstGeom prst="rect">
            <a:avLst/>
          </a:prstGeom>
          <a:solidFill>
            <a:srgbClr val="FFFDF8"/>
          </a:solidFill>
          <a:ln w="12700">
            <a:solidFill>
              <a:srgbClr val="E0D9D0"/>
            </a:solidFill>
            <a:prstDash val="solid"/>
          </a:ln>
        </p:spPr>
      </p:sp>
      <p:sp>
        <p:nvSpPr>
          <p:cNvPr id="17" name="Text 14"/>
          <p:cNvSpPr/>
          <p:nvPr/>
        </p:nvSpPr>
        <p:spPr>
          <a:xfrm>
            <a:off x="731520" y="5303520"/>
            <a:ext cx="5120640" cy="228600"/>
          </a:xfrm>
          <a:prstGeom prst="rect">
            <a:avLst/>
          </a:prstGeom>
          <a:noFill/>
          <a:ln/>
        </p:spPr>
        <p:txBody>
          <a:bodyPr wrap="square" rtlCol="0" anchor="ctr"/>
          <a:lstStyle/>
          <a:p>
            <a:pPr indent="0" marL="0">
              <a:buNone/>
            </a:pPr>
            <a:r>
              <a:rPr lang="en-US" sz="1300" b="1" dirty="0">
                <a:solidFill>
                  <a:srgbClr val="768C7C"/>
                </a:solidFill>
                <a:latin typeface="Aeonik" pitchFamily="34" charset="0"/>
                <a:ea typeface="Aeonik" pitchFamily="34" charset="-122"/>
                <a:cs typeface="Aeonik" pitchFamily="34" charset="-120"/>
              </a:rPr>
              <a:t>Industries</a:t>
            </a:r>
            <a:endParaRPr lang="en-US" sz="1300" dirty="0"/>
          </a:p>
        </p:txBody>
      </p:sp>
      <p:sp>
        <p:nvSpPr>
          <p:cNvPr id="18" name="Text 15"/>
          <p:cNvSpPr/>
          <p:nvPr/>
        </p:nvSpPr>
        <p:spPr>
          <a:xfrm>
            <a:off x="731520" y="553212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AI is the Value King; Automotive is the Volume King.</a:t>
            </a:r>
            <a:endParaRPr lang="en-US" sz="1100" dirty="0"/>
          </a:p>
        </p:txBody>
      </p:sp>
      <p:sp>
        <p:nvSpPr>
          <p:cNvPr id="19" name="Shape 16"/>
          <p:cNvSpPr/>
          <p:nvPr/>
        </p:nvSpPr>
        <p:spPr>
          <a:xfrm>
            <a:off x="6309360" y="1188720"/>
            <a:ext cx="5394960" cy="4937760"/>
          </a:xfrm>
          <a:prstGeom prst="rect">
            <a:avLst/>
          </a:prstGeom>
          <a:solidFill>
            <a:srgbClr val="FFFDF8"/>
          </a:solidFill>
          <a:ln w="12700">
            <a:solidFill>
              <a:srgbClr val="E0D9D0"/>
            </a:solidFill>
            <a:prstDash val="solid"/>
          </a:ln>
        </p:spPr>
      </p:sp>
      <p:pic>
        <p:nvPicPr>
          <p:cNvPr id="20" name="Image 0" descr="critical_materials.png">    </p:cNvPr>
          <p:cNvPicPr>
            <a:picLocks noChangeAspect="1"/>
          </p:cNvPicPr>
          <p:nvPr/>
        </p:nvPicPr>
        <p:blipFill>
          <a:blip r:embed="rId1"/>
          <a:stretch>
            <a:fillRect/>
          </a:stretch>
        </p:blipFill>
        <p:spPr>
          <a:xfrm>
            <a:off x="6400800" y="1280160"/>
            <a:ext cx="521208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645920"/>
            <a:ext cx="45720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2103120"/>
            <a:ext cx="45720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291840"/>
            <a:ext cx="45720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4114800"/>
            <a:ext cx="3657600" cy="36576"/>
          </a:xfrm>
          <a:prstGeom prst="rect">
            <a:avLst/>
          </a:prstGeom>
          <a:solidFill>
            <a:srgbClr val="B84A2F"/>
          </a:solidFill>
          <a:ln/>
        </p:spPr>
      </p:sp>
      <p:sp>
        <p:nvSpPr>
          <p:cNvPr id="7" name="Text 4"/>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Presenter: Phyoe Sat Paing</a:t>
            </a:r>
            <a:endParaRPr lang="en-US" sz="1400" dirty="0"/>
          </a:p>
          <a:p>
            <a:pPr indent="0" marL="0">
              <a:buNone/>
            </a:pPr>
            <a:r>
              <a:rPr lang="en-US" sz="1400" dirty="0">
                <a:solidFill>
                  <a:srgbClr val="6B6560"/>
                </a:solidFill>
                <a:latin typeface="Aeonik" pitchFamily="34" charset="0"/>
                <a:ea typeface="Aeonik" pitchFamily="34" charset="-122"/>
                <a:cs typeface="Aeonik" pitchFamily="34" charset="-120"/>
              </a:rPr>
              <a:t>Boardroom Strategic Briefing</a:t>
            </a:r>
            <a:endParaRPr lang="en-US" sz="1400" dirty="0"/>
          </a:p>
        </p:txBody>
      </p:sp>
      <p:sp>
        <p:nvSpPr>
          <p:cNvPr id="8" name="Shape 5"/>
          <p:cNvSpPr/>
          <p:nvPr/>
        </p:nvSpPr>
        <p:spPr>
          <a:xfrm>
            <a:off x="5852160" y="1188720"/>
            <a:ext cx="5760720" cy="4937760"/>
          </a:xfrm>
          <a:prstGeom prst="rect">
            <a:avLst/>
          </a:prstGeom>
          <a:solidFill>
            <a:srgbClr val="FFFDF8"/>
          </a:solidFill>
          <a:ln w="12700">
            <a:solidFill>
              <a:srgbClr val="E0D9D0"/>
            </a:solidFill>
            <a:prstDash val="solid"/>
          </a:ln>
        </p:spPr>
      </p:sp>
      <p:sp>
        <p:nvSpPr>
          <p:cNvPr id="9" name="Text 6"/>
          <p:cNvSpPr/>
          <p:nvPr/>
        </p:nvSpPr>
        <p:spPr>
          <a:xfrm>
            <a:off x="6035040" y="1371600"/>
            <a:ext cx="539496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References</a:t>
            </a:r>
            <a:endParaRPr lang="en-US" sz="2000" dirty="0"/>
          </a:p>
        </p:txBody>
      </p:sp>
      <p:sp>
        <p:nvSpPr>
          <p:cNvPr id="10" name="Text 7"/>
          <p:cNvSpPr/>
          <p:nvPr/>
        </p:nvSpPr>
        <p:spPr>
          <a:xfrm>
            <a:off x="60350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1. Gartner: Revenue Forecast
</a:t>
            </a:r>
            <a:pPr indent="0" marL="0">
              <a:buNone/>
            </a:pPr>
            <a:r>
              <a:rPr lang="en-US" sz="800" dirty="0">
                <a:solidFill>
                  <a:srgbClr val="B84A2F"/>
                </a:solidFill>
                <a:latin typeface="Aeonik" pitchFamily="34" charset="0"/>
                <a:ea typeface="Aeonik" pitchFamily="34" charset="-122"/>
                <a:cs typeface="Aeonik" pitchFamily="34" charset="-120"/>
              </a:rPr>
              <a:t>https://www.gartner.com/en/newsroom/press-releases/...
</a:t>
            </a:r>
            <a:pPr indent="0" marL="0">
              <a:buNone/>
            </a:pPr>
            <a:r>
              <a:rPr lang="en-US" sz="850" b="1" dirty="0">
                <a:solidFill>
                  <a:srgbClr val="1A1714"/>
                </a:solidFill>
                <a:latin typeface="Aeonik" pitchFamily="34" charset="0"/>
                <a:ea typeface="Aeonik" pitchFamily="34" charset="-122"/>
                <a:cs typeface="Aeonik" pitchFamily="34" charset="-120"/>
              </a:rPr>
              <a:t>2. Phihong: JIT vs JIC Sourcing
</a:t>
            </a:r>
            <a:pPr indent="0" marL="0">
              <a:buNone/>
            </a:pPr>
            <a:r>
              <a:rPr lang="en-US" sz="800" dirty="0">
                <a:solidFill>
                  <a:srgbClr val="B84A2F"/>
                </a:solidFill>
                <a:latin typeface="Aeonik" pitchFamily="34" charset="0"/>
                <a:ea typeface="Aeonik" pitchFamily="34" charset="-122"/>
                <a:cs typeface="Aeonik" pitchFamily="34" charset="-120"/>
              </a:rPr>
              <a:t>https://www.phihong.com/just-in-time-vs-just-in-case...
</a:t>
            </a:r>
            <a:pPr indent="0" marL="0">
              <a:buNone/>
            </a:pPr>
            <a:r>
              <a:rPr lang="en-US" sz="850" b="1" dirty="0">
                <a:solidFill>
                  <a:srgbClr val="1A1714"/>
                </a:solidFill>
                <a:latin typeface="Aeonik" pitchFamily="34" charset="0"/>
                <a:ea typeface="Aeonik" pitchFamily="34" charset="-122"/>
                <a:cs typeface="Aeonik" pitchFamily="34" charset="-120"/>
              </a:rPr>
              <a:t>3. Maria O.: Supply Chain Continuity
</a:t>
            </a:r>
            <a:pPr indent="0" marL="0">
              <a:buNone/>
            </a:pPr>
            <a:r>
              <a:rPr lang="en-US" sz="800" dirty="0">
                <a:solidFill>
                  <a:srgbClr val="B84A2F"/>
                </a:solidFill>
                <a:latin typeface="Aeonik" pitchFamily="34" charset="0"/>
                <a:ea typeface="Aeonik" pitchFamily="34" charset="-122"/>
                <a:cs typeface="Aeonik" pitchFamily="34" charset="-120"/>
              </a:rPr>
              <a:t>https://www.linkedin.com/posts/pmochoamc...
</a:t>
            </a:r>
            <a:pPr indent="0" marL="0">
              <a:buNone/>
            </a:pPr>
            <a:r>
              <a:rPr lang="en-US" sz="850" b="1" dirty="0">
                <a:solidFill>
                  <a:srgbClr val="1A1714"/>
                </a:solidFill>
                <a:latin typeface="Aeonik" pitchFamily="34" charset="0"/>
                <a:ea typeface="Aeonik" pitchFamily="34" charset="-122"/>
                <a:cs typeface="Aeonik" pitchFamily="34" charset="-120"/>
              </a:rPr>
              <a:t>4. Porsche: Semiconductor Superiority
</a:t>
            </a:r>
            <a:pPr indent="0" marL="0">
              <a:buNone/>
            </a:pPr>
            <a:r>
              <a:rPr lang="en-US" sz="800" dirty="0">
                <a:solidFill>
                  <a:srgbClr val="B84A2F"/>
                </a:solidFill>
                <a:latin typeface="Aeonik" pitchFamily="34" charset="0"/>
                <a:ea typeface="Aeonik" pitchFamily="34" charset="-122"/>
                <a:cs typeface="Aeonik" pitchFamily="34" charset="-120"/>
              </a:rPr>
              <a:t>https://www.porsche-consulting.com/sites/...
</a:t>
            </a:r>
            <a:pPr indent="0" marL="0">
              <a:buNone/>
            </a:pPr>
            <a:r>
              <a:rPr lang="en-US" sz="850" b="1" dirty="0">
                <a:solidFill>
                  <a:srgbClr val="1A1714"/>
                </a:solidFill>
                <a:latin typeface="Aeonik" pitchFamily="34" charset="0"/>
                <a:ea typeface="Aeonik" pitchFamily="34" charset="-122"/>
                <a:cs typeface="Aeonik" pitchFamily="34" charset="-120"/>
              </a:rPr>
              <a:t>5. CSET: Semiconductor Supply Chain
</a:t>
            </a:r>
            <a:pPr indent="0" marL="0">
              <a:buNone/>
            </a:pPr>
            <a:r>
              <a:rPr lang="en-US" sz="800" dirty="0">
                <a:solidFill>
                  <a:srgbClr val="B84A2F"/>
                </a:solidFill>
                <a:latin typeface="Aeonik" pitchFamily="34" charset="0"/>
                <a:ea typeface="Aeonik" pitchFamily="34" charset="-122"/>
                <a:cs typeface="Aeonik" pitchFamily="34" charset="-120"/>
              </a:rPr>
              <a:t>https://cset.georgetown.edu/publication/...
</a:t>
            </a:r>
            <a:pPr indent="0" marL="0">
              <a:buNone/>
            </a:pPr>
            <a:r>
              <a:rPr lang="en-US" sz="850" b="1" dirty="0">
                <a:solidFill>
                  <a:srgbClr val="1A1714"/>
                </a:solidFill>
                <a:latin typeface="Aeonik" pitchFamily="34" charset="0"/>
                <a:ea typeface="Aeonik" pitchFamily="34" charset="-122"/>
                <a:cs typeface="Aeonik" pitchFamily="34" charset="-120"/>
              </a:rPr>
              <a:t>6. CSIS: Mineral Demands for Resilient
</a:t>
            </a:r>
            <a:pPr indent="0" marL="0">
              <a:buNone/>
            </a:pPr>
            <a:r>
              <a:rPr lang="en-US" sz="800" dirty="0">
                <a:solidFill>
                  <a:srgbClr val="B84A2F"/>
                </a:solidFill>
                <a:latin typeface="Aeonik" pitchFamily="34" charset="0"/>
                <a:ea typeface="Aeonik" pitchFamily="34" charset="-122"/>
                <a:cs typeface="Aeonik" pitchFamily="34" charset="-120"/>
              </a:rPr>
              <a:t>https://www.csis.org/analysis/mineral-demands...
</a:t>
            </a:r>
            <a:endParaRPr lang="en-US" sz="850" dirty="0"/>
          </a:p>
        </p:txBody>
      </p:sp>
      <p:sp>
        <p:nvSpPr>
          <p:cNvPr id="11" name="Text 8"/>
          <p:cNvSpPr/>
          <p:nvPr/>
        </p:nvSpPr>
        <p:spPr>
          <a:xfrm>
            <a:off x="87782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7. SIA: Emerging Resilience
</a:t>
            </a:r>
            <a:pPr indent="0" marL="0">
              <a:buNone/>
            </a:pPr>
            <a:r>
              <a:rPr lang="en-US" sz="800" dirty="0">
                <a:solidFill>
                  <a:srgbClr val="B84A2F"/>
                </a:solidFill>
                <a:latin typeface="Aeonik" pitchFamily="34" charset="0"/>
                <a:ea typeface="Aeonik" pitchFamily="34" charset="-122"/>
                <a:cs typeface="Aeonik" pitchFamily="34" charset="-120"/>
              </a:rPr>
              <a:t>https://www.semiconductors.org/emerging-resilience...
</a:t>
            </a:r>
            <a:pPr indent="0" marL="0">
              <a:buNone/>
            </a:pPr>
            <a:r>
              <a:rPr lang="en-US" sz="850" b="1" dirty="0">
                <a:solidFill>
                  <a:srgbClr val="1A1714"/>
                </a:solidFill>
                <a:latin typeface="Aeonik" pitchFamily="34" charset="0"/>
                <a:ea typeface="Aeonik" pitchFamily="34" charset="-122"/>
                <a:cs typeface="Aeonik" pitchFamily="34" charset="-120"/>
              </a:rPr>
              <a:t>8. A. Masood: Semiconductors in 2026
</a:t>
            </a:r>
            <a:pPr indent="0" marL="0">
              <a:buNone/>
            </a:pPr>
            <a:r>
              <a:rPr lang="en-US" sz="800" dirty="0">
                <a:solidFill>
                  <a:srgbClr val="B84A2F"/>
                </a:solidFill>
                <a:latin typeface="Aeonik" pitchFamily="34" charset="0"/>
                <a:ea typeface="Aeonik" pitchFamily="34" charset="-122"/>
                <a:cs typeface="Aeonik" pitchFamily="34" charset="-120"/>
              </a:rPr>
              <a:t>https://medium.com/@adnanmasood/semiconductors...
</a:t>
            </a:r>
            <a:pPr indent="0" marL="0">
              <a:buNone/>
            </a:pPr>
            <a:r>
              <a:rPr lang="en-US" sz="850" b="1" dirty="0">
                <a:solidFill>
                  <a:srgbClr val="1A1714"/>
                </a:solidFill>
                <a:latin typeface="Aeonik" pitchFamily="34" charset="0"/>
                <a:ea typeface="Aeonik" pitchFamily="34" charset="-122"/>
                <a:cs typeface="Aeonik" pitchFamily="34" charset="-120"/>
              </a:rPr>
              <a:t>9. OECD: Mapping the Value Chain
</a:t>
            </a:r>
            <a:pPr indent="0" marL="0">
              <a:buNone/>
            </a:pPr>
            <a:r>
              <a:rPr lang="en-US" sz="800" dirty="0">
                <a:solidFill>
                  <a:srgbClr val="B84A2F"/>
                </a:solidFill>
                <a:latin typeface="Aeonik" pitchFamily="34" charset="0"/>
                <a:ea typeface="Aeonik" pitchFamily="34" charset="-122"/>
                <a:cs typeface="Aeonik" pitchFamily="34" charset="-120"/>
              </a:rPr>
              <a:t>https://www.oecd.org/content/dam/oecd/en/...
</a:t>
            </a:r>
            <a:pPr indent="0" marL="0">
              <a:buNone/>
            </a:pPr>
            <a:r>
              <a:rPr lang="en-US" sz="850" b="1" dirty="0">
                <a:solidFill>
                  <a:srgbClr val="1A1714"/>
                </a:solidFill>
                <a:latin typeface="Aeonik" pitchFamily="34" charset="0"/>
                <a:ea typeface="Aeonik" pitchFamily="34" charset="-122"/>
                <a:cs typeface="Aeonik" pitchFamily="34" charset="-120"/>
              </a:rPr>
              <a:t>10. Deloitte: 2026 Industry Outlook
</a:t>
            </a:r>
            <a:pPr indent="0" marL="0">
              <a:buNone/>
            </a:pPr>
            <a:r>
              <a:rPr lang="en-US" sz="800" dirty="0">
                <a:solidFill>
                  <a:srgbClr val="B84A2F"/>
                </a:solidFill>
                <a:latin typeface="Aeonik" pitchFamily="34" charset="0"/>
                <a:ea typeface="Aeonik" pitchFamily="34" charset="-122"/>
                <a:cs typeface="Aeonik" pitchFamily="34" charset="-120"/>
              </a:rPr>
              <a:t>https://www.deloitte.com/us/en/insights/...
</a:t>
            </a:r>
            <a:pPr indent="0" marL="0">
              <a:buNone/>
            </a:pPr>
            <a:r>
              <a:rPr lang="en-US" sz="850" b="1" dirty="0">
                <a:solidFill>
                  <a:srgbClr val="1A1714"/>
                </a:solidFill>
                <a:latin typeface="Aeonik" pitchFamily="34" charset="0"/>
                <a:ea typeface="Aeonik" pitchFamily="34" charset="-122"/>
                <a:cs typeface="Aeonik" pitchFamily="34" charset="-120"/>
              </a:rPr>
              <a:t>11. GM Insights: Aerospace Market Size
</a:t>
            </a:r>
            <a:pPr indent="0" marL="0">
              <a:buNone/>
            </a:pPr>
            <a:r>
              <a:rPr lang="en-US" sz="800" dirty="0">
                <a:solidFill>
                  <a:srgbClr val="B84A2F"/>
                </a:solidFill>
                <a:latin typeface="Aeonik" pitchFamily="34" charset="0"/>
                <a:ea typeface="Aeonik" pitchFamily="34" charset="-122"/>
                <a:cs typeface="Aeonik" pitchFamily="34" charset="-120"/>
              </a:rPr>
              <a:t>https://www.gminsights.com/industry-analysis/...
</a:t>
            </a:r>
            <a:pPr indent="0" marL="0">
              <a:buNone/>
            </a:pPr>
            <a:r>
              <a:rPr lang="en-US" sz="850" b="1" dirty="0">
                <a:solidFill>
                  <a:srgbClr val="1A1714"/>
                </a:solidFill>
                <a:latin typeface="Aeonik" pitchFamily="34" charset="0"/>
                <a:ea typeface="Aeonik" pitchFamily="34" charset="-122"/>
                <a:cs typeface="Aeonik" pitchFamily="34" charset="-120"/>
              </a:rPr>
              <a:t>12. Edge Silica: AI &amp; EVs Trends
</a:t>
            </a:r>
            <a:pPr indent="0" marL="0">
              <a:buNone/>
            </a:pPr>
            <a:r>
              <a:rPr lang="en-US" sz="800" dirty="0">
                <a:solidFill>
                  <a:srgbClr val="B84A2F"/>
                </a:solidFill>
                <a:latin typeface="Aeonik" pitchFamily="34" charset="0"/>
                <a:ea typeface="Aeonik" pitchFamily="34" charset="-122"/>
                <a:cs typeface="Aeonik" pitchFamily="34" charset="-120"/>
              </a:rPr>
              <a:t>https://www.linkedin.com/posts/edgesilica...
</a:t>
            </a:r>
            <a:endParaRPr lang="en-US" sz="850" dirty="0"/>
          </a:p>
        </p:txBody>
      </p:sp>
      <p:sp>
        <p:nvSpPr>
          <p:cNvPr id="12" name="Text 9"/>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2026-06-10T10:29:35Z</dcterms:created>
  <dcterms:modified xsi:type="dcterms:W3CDTF">2026-06-10T10:29:35Z</dcterms:modified>
</cp:coreProperties>
</file>