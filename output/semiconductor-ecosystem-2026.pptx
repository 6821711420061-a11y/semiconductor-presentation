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everyone. I’m Phyoe Sat Paing, and today we are conducting a deep-dive into the 'nerve system' of our modern civilization: the 2026 Semiconductor Ecosystem. Over the next 20 minutes, we are going to move beyond the headlines of 'chip shortages' and look at the actual structural mechanics of how silicon is procured, how it moves across the globe, and finally, how it is fundamentally rewriting the DNA of every major industry. Whether you are an investor, a procurement lead, or a strategic planner, this briefing is designed to give you the high-ground view of the $1.3 trillion silicon economy.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start with the 'Procurement Paradox.' In 2026, we are seeing record-breaking revenue, yet the supply chain has never felt more fragile. Why? Because the 'Just-in-Time' model we spent thirty years perfecting was built for a world of stability—not the world of 'Chip Wars' and AI super-cycles we live in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survive, elite firms have pivoted to a Strategic Hybrid Model. We aren't just stockpiling everything—that’s expensive and inefficient. Instead, we are using 'Just-in-Case' logic for the high-value nodes: the 3nm processors and the High Bandwidth Memory that power AI. For everything else, we keep it lean. It’s about being surgical with your inventory.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you can't be surgical if you're blind. The biggest challenge in 2026 is Data Opacity. Most firms don't know who their Tier-3 or Tier-4 suppliers are. We are solving this through Category Management—segmenting our sourcing by technology node. We treat a 28nm legacy microcontroller for a car window very differently than a 2nm AI accelerator for a data center.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Finally, look at the digitalization of the 'Buy' side. We are now using Business Intelligence Cockpits that use AI to scan geopolitical signals and weather patterns to predict shortages six months out. We are also seeing a rise in 'Friend-Shoring' and Long-Term Agreements. In 2026, a handshake isn't enough; you need 'take-or-pay' contracts and reservation fees to ensure you aren't left behind in the next allocation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let's look at the 'Silicon Journey.' A single chip might cross 70 borders before it ever reaches a consumer. This is the most complex logistical web ever built. It’s a masterpiece of efficiency, but it’s also a 'Chokepoint 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value is incredibly concentrated. The U.S. owns the design; the Netherlands owns the lithography equipment; and East Asia—specifically Taiwan and South Korea—owns the fabrication. TSMC isn't just a company; it is a systemic pillar of the global economy. If that pillar shakes, the whole world feels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new bottleneck in 2026 isn't just the fab; it's the 'Back-End.' We’ve reached the limits of traditional chip design, so we are now 'stacking' chips using advanced packaging like CoWoS. This is where the AI war is being fought. If you can't get capacity in an advanced packaging facility, it doesn't matter how many wafers you can 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we cannot ignore the 'Chip Wars.' Geopolitics is now a primary architect of the supply chain. Between the U.S. CHIPS Act and China’s massive 'In-Sourcing' push, we are moving toward a multi-polar silicon world. Critical materials like Gallium and Germanium are now being used as strategic levers in a global game of chess.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response? Circular and Autonomous Supply Chains. We are using AI to 'self-heal' the supply chain—automatically re-routing orders when a port closes or a factory goes down. And we are starting to recycle. We are mining the 'urban mine'—recovering rare earth elements from old electronics to reduce our dependency on volatile mining regions.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where does all this silicon end up? Everywhere. We have reached 'Total Silicon Dependency.' Every industry is now a 'tech industry' because every industry is built on chips.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demand landscape is shifting. While PCs and smartphones are maturing, AI Infrastructure and Automotive are exploding. AI and Data Centers now drive nearly half of the industry’s total value. We are in a 'multi-speed' market where the high-end is racing ahead while the low-end stabilizes.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 at the Data Center. It’s no longer just a place to store files; it’s an 'Intelligence Engine.' We are spending $500 billion a year on AI accelerators. This is the segment that is pushing us to 2nm and beyond. It is the 'Value King' of the semiconductor world.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Then there is the car—the 'Smartphone on Wheels.' An EV in 2026 has over $1,000 worth of chips in it. We are talking about Silicon Carbide for power efficiency and massive SoCs for autonomous driving. The car has become a high-performance computer that just happens to have wheels.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Industrial and Healthcare sectors, we are seeing the rise of 'Edge AI.' We aren't sending data to the cloud anymore; we are processing it right there on the factory floor or inside a medical implant. This requires ultra-reliable, long-lifecycle silicon that can survive for fifteen years in harsh environments.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looking at the horizon—Quantum, 6G, and Neuromorphic computing. These aren't science fiction anymore. We are already building the 2030 roadmap. We are designing chips that work like the human brain and networks that make 5G look like dial-up. The innovation cycle is actually accelerating.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the 2026 ecosystem tells us one thing: Silicon Intensity is the new gold standard. The winners of the next decade won't just be the ones with the best software; they will be the ones who master the procurement, the supply chain, and the application of these chips.
Before we go, look at this infographic. These are the five materials that keep the lights on. From Gallium in your 5G phone to Neon in the lasers that print the chips, these are the true foundations. Most of these are concentrated in a few regions, which is why the 'Silicon Journey' is as much about geology as it is about geometry.
The 'Chip Wars' are far from over. In fact, they are just beginning. Mastery of this ecosystem is mastery of the future. Thank you for your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everyone for your time. I would now like to open the floor to any questions you may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5F0E8"/>
        </a:solidFill>
      </p:bgPr>
    </p:bg>
    <p:spTree>
      <p:nvGrpSpPr>
        <p:cNvPr id="1" name=""/>
        <p:cNvGrpSpPr/>
        <p:nvPr/>
      </p:nvGrpSpPr>
      <p:grpSpPr>
        <a:xfrm>
          <a:off x="0" y="0"/>
          <a:ext cx="0" cy="0"/>
          <a:chOff x="0" y="0"/>
          <a:chExt cx="0" cy="0"/>
        </a:xfrm>
      </p:grpSpPr>
      <p:sp>
        <p:nvSpPr>
          <p:cNvPr id="3" name="Text 0"/>
          <p:cNvSpPr/>
          <p:nvPr/>
        </p:nvSpPr>
        <p:spPr>
          <a:xfrm>
            <a:off x="731520" y="2011680"/>
            <a:ext cx="10515600" cy="1097280"/>
          </a:xfrm>
          <a:prstGeom prst="rect">
            <a:avLst/>
          </a:prstGeom>
          <a:noFill/>
          <a:ln/>
        </p:spPr>
        <p:txBody>
          <a:bodyPr wrap="square" rtlCol="0" anchor="ctr"/>
          <a:lstStyle/>
          <a:p>
            <a:pPr indent="0" marL="0">
              <a:buNone/>
            </a:pPr>
            <a:r>
              <a:rPr lang="en-US" sz="4800" b="1" dirty="0">
                <a:solidFill>
                  <a:srgbClr val="1A1714"/>
                </a:solidFill>
                <a:latin typeface="PP Mondwest" pitchFamily="34" charset="0"/>
                <a:ea typeface="PP Mondwest" pitchFamily="34" charset="-122"/>
                <a:cs typeface="PP Mondwest" pitchFamily="34" charset="-120"/>
              </a:rPr>
              <a:t>The 2026 Semiconductor Ecosystem</a:t>
            </a:r>
            <a:endParaRPr lang="en-US" sz="4800" dirty="0"/>
          </a:p>
        </p:txBody>
      </p:sp>
      <p:sp>
        <p:nvSpPr>
          <p:cNvPr id="4" name="Text 1"/>
          <p:cNvSpPr/>
          <p:nvPr/>
        </p:nvSpPr>
        <p:spPr>
          <a:xfrm>
            <a:off x="731520" y="3200400"/>
            <a:ext cx="10515600" cy="731520"/>
          </a:xfrm>
          <a:prstGeom prst="rect">
            <a:avLst/>
          </a:prstGeom>
          <a:noFill/>
          <a:ln/>
        </p:spPr>
        <p:txBody>
          <a:bodyPr wrap="square" rtlCol="0" anchor="ctr"/>
          <a:lstStyle/>
          <a:p>
            <a:pPr indent="0" marL="0">
              <a:buNone/>
            </a:pPr>
            <a:r>
              <a:rPr lang="en-US" sz="2000" dirty="0">
                <a:solidFill>
                  <a:srgbClr val="6B6560"/>
                </a:solidFill>
                <a:latin typeface="AT Aero" pitchFamily="34" charset="0"/>
                <a:ea typeface="AT Aero" pitchFamily="34" charset="-122"/>
                <a:cs typeface="AT Aero" pitchFamily="34" charset="-120"/>
              </a:rPr>
              <a:t>A Strategic Briefing on Procurement, Global Supply Chains, and End-User Verticals</a:t>
            </a:r>
            <a:endParaRPr lang="en-US" sz="2000" dirty="0"/>
          </a:p>
        </p:txBody>
      </p:sp>
      <p:sp>
        <p:nvSpPr>
          <p:cNvPr id="5" name="Shape 2"/>
          <p:cNvSpPr/>
          <p:nvPr/>
        </p:nvSpPr>
        <p:spPr>
          <a:xfrm>
            <a:off x="731520" y="4023360"/>
            <a:ext cx="4572000" cy="36576"/>
          </a:xfrm>
          <a:prstGeom prst="rect">
            <a:avLst/>
          </a:prstGeom>
          <a:solidFill>
            <a:srgbClr val="B84A2F"/>
          </a:solidFill>
          <a:ln/>
        </p:spPr>
      </p:sp>
      <p:sp>
        <p:nvSpPr>
          <p:cNvPr id="6" name="Text 3"/>
          <p:cNvSpPr/>
          <p:nvPr/>
        </p:nvSpPr>
        <p:spPr>
          <a:xfrm>
            <a:off x="731520" y="4389120"/>
            <a:ext cx="4572000" cy="731520"/>
          </a:xfrm>
          <a:prstGeom prst="rect">
            <a:avLst/>
          </a:prstGeom>
          <a:noFill/>
          <a:ln/>
        </p:spPr>
        <p:txBody>
          <a:bodyPr wrap="square" rtlCol="0" anchor="ctr"/>
          <a:lstStyle/>
          <a:p>
            <a:pPr indent="0" marL="0">
              <a:buNone/>
            </a:pPr>
            <a:r>
              <a:rPr lang="en-US" sz="1400" dirty="0">
                <a:solidFill>
                  <a:srgbClr val="6B6560"/>
                </a:solidFill>
                <a:latin typeface="AT Aero" pitchFamily="34" charset="0"/>
                <a:ea typeface="AT Aero" pitchFamily="34" charset="-122"/>
                <a:cs typeface="AT Aero" pitchFamily="34" charset="-120"/>
              </a:rPr>
              <a:t>Presenter: Phyoe Sat Paing</a:t>
            </a:r>
            <a:endParaRPr lang="en-US" sz="1400" dirty="0"/>
          </a:p>
          <a:p>
            <a:pPr indent="0" marL="0">
              <a:buNone/>
            </a:pPr>
            <a:r>
              <a:rPr lang="en-US" sz="1400" dirty="0">
                <a:solidFill>
                  <a:srgbClr val="6B6560"/>
                </a:solidFill>
                <a:latin typeface="AT Aero" pitchFamily="34" charset="0"/>
                <a:ea typeface="AT Aero" pitchFamily="34" charset="-122"/>
                <a:cs typeface="AT Aero" pitchFamily="34" charset="-120"/>
              </a:rPr>
              <a:t>Boardroom Strategic Briefing</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T Aero" pitchFamily="34" charset="0"/>
                <a:ea typeface="AT Aero" pitchFamily="34" charset="-122"/>
                <a:cs typeface="AT Aero" pitchFamily="34" charset="-120"/>
              </a:rPr>
              <a:t>PART 1: PROCUREMENT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Executive Summary: The Procurement Paradox</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T Aero" pitchFamily="34" charset="0"/>
                <a:ea typeface="AT Aero" pitchFamily="34" charset="-122"/>
                <a:cs typeface="AT Aero" pitchFamily="34" charset="-120"/>
              </a:rPr>
              <a:t>The 2026 Semiconductor Ecosystem | Slide 02</a:t>
            </a:r>
            <a:endParaRPr lang="en-US" sz="1000" dirty="0"/>
          </a:p>
        </p:txBody>
      </p:sp>
      <p:sp>
        <p:nvSpPr>
          <p:cNvPr id="6" name="Shape 3"/>
          <p:cNvSpPr/>
          <p:nvPr/>
        </p:nvSpPr>
        <p:spPr>
          <a:xfrm>
            <a:off x="548640" y="1371600"/>
            <a:ext cx="6583680" cy="914400"/>
          </a:xfrm>
          <a:prstGeom prst="rect">
            <a:avLst/>
          </a:prstGeom>
          <a:solidFill>
            <a:srgbClr val="FFFDF8"/>
          </a:solidFill>
          <a:ln w="19050">
            <a:solidFill>
              <a:srgbClr val="B84A2F"/>
            </a:solidFill>
            <a:prstDash val="solid"/>
          </a:ln>
        </p:spPr>
      </p:sp>
      <p:sp>
        <p:nvSpPr>
          <p:cNvPr id="7" name="Text 4"/>
          <p:cNvSpPr/>
          <p:nvPr/>
        </p:nvSpPr>
        <p:spPr>
          <a:xfrm>
            <a:off x="731520" y="1463040"/>
            <a:ext cx="6217920" cy="731520"/>
          </a:xfrm>
          <a:prstGeom prst="rect">
            <a:avLst/>
          </a:prstGeom>
          <a:noFill/>
          <a:ln/>
        </p:spPr>
        <p:txBody>
          <a:bodyPr wrap="square" rtlCol="0" anchor="ctr"/>
          <a:lstStyle/>
          <a:p>
            <a:pPr indent="0" marL="0">
              <a:buNone/>
            </a:pPr>
            <a:r>
              <a:rPr lang="en-US" sz="1800" b="1" i="1" dirty="0">
                <a:solidFill>
                  <a:srgbClr val="B84A2F"/>
                </a:solidFill>
                <a:latin typeface="AT Aero" pitchFamily="34" charset="0"/>
                <a:ea typeface="AT Aero" pitchFamily="34" charset="-122"/>
                <a:cs typeface="AT Aero" pitchFamily="34" charset="-120"/>
              </a:rPr>
              <a:t>Key Message: Navigating a $1.3 trillion market requires balancing unprecedented growth with systemic supply chain fragility.</a:t>
            </a:r>
            <a:endParaRPr lang="en-US" sz="1800" dirty="0"/>
          </a:p>
        </p:txBody>
      </p:sp>
      <p:sp>
        <p:nvSpPr>
          <p:cNvPr id="8" name="Text 5"/>
          <p:cNvSpPr/>
          <p:nvPr/>
        </p:nvSpPr>
        <p:spPr>
          <a:xfrm>
            <a:off x="548640" y="2560320"/>
            <a:ext cx="6583680" cy="3474720"/>
          </a:xfrm>
          <a:prstGeom prst="rect">
            <a:avLst/>
          </a:prstGeom>
          <a:noFill/>
          <a:ln/>
        </p:spPr>
        <p:txBody>
          <a:bodyPr wrap="square" rtlCol="0" anchor="ctr"/>
          <a:lstStyle/>
          <a:p>
            <a:pPr marL="342900" indent="-342900">
              <a:buSzPct val="100000"/>
              <a:buChar char="•"/>
            </a:pPr>
            <a:r>
              <a:rPr lang="en-US" sz="1800" dirty="0">
                <a:solidFill>
                  <a:srgbClr val="6B6560"/>
                </a:solidFill>
                <a:latin typeface="AT Aero" pitchFamily="34" charset="0"/>
                <a:ea typeface="AT Aero" pitchFamily="34" charset="-122"/>
                <a:cs typeface="AT Aero" pitchFamily="34" charset="-120"/>
              </a:rPr>
              <a:t>- Record-High Valuations: Growth is driven by explosive global demand for AI systems and electric vehicle power logic.</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T Aero" pitchFamily="34" charset="0"/>
                <a:ea typeface="AT Aero" pitchFamily="34" charset="-122"/>
                <a:cs typeface="AT Aero" pitchFamily="34" charset="-120"/>
              </a:rPr>
              <a:t>- Systemic Fragility: Leading-edge fabs operate near maximum capacity, leaving the industry vulnerable to minor material delays.</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T Aero" pitchFamily="34" charset="0"/>
                <a:ea typeface="AT Aero" pitchFamily="34" charset="-122"/>
                <a:cs typeface="AT Aero" pitchFamily="34" charset="-120"/>
              </a:rPr>
              <a:t>- Strategic Pivot: Sourcing HBM (High Bandwidth Memory) and advanced logic requires a shift from transactional purchasing to capacity reservation models.</a:t>
            </a:r>
            <a:endParaRPr lang="en-US" sz="1800" dirty="0"/>
          </a:p>
        </p:txBody>
      </p:sp>
      <p:sp>
        <p:nvSpPr>
          <p:cNvPr id="9" name="Shape 6"/>
          <p:cNvSpPr/>
          <p:nvPr/>
        </p:nvSpPr>
        <p:spPr>
          <a:xfrm>
            <a:off x="7680960" y="1371600"/>
            <a:ext cx="3840480" cy="4572000"/>
          </a:xfrm>
          <a:prstGeom prst="rect">
            <a:avLst/>
          </a:prstGeom>
          <a:solidFill>
            <a:srgbClr val="FFFDF8"/>
          </a:solidFill>
          <a:ln w="12700">
            <a:solidFill>
              <a:srgbClr val="E0D9D0"/>
            </a:solidFill>
            <a:prstDash val="solid"/>
          </a:ln>
        </p:spPr>
      </p:sp>
      <p:sp>
        <p:nvSpPr>
          <p:cNvPr id="10" name="Text 7"/>
          <p:cNvSpPr/>
          <p:nvPr/>
        </p:nvSpPr>
        <p:spPr>
          <a:xfrm>
            <a:off x="7680960" y="1828800"/>
            <a:ext cx="3840480" cy="365760"/>
          </a:xfrm>
          <a:prstGeom prst="rect">
            <a:avLst/>
          </a:prstGeom>
          <a:noFill/>
          <a:ln/>
        </p:spPr>
        <p:txBody>
          <a:bodyPr wrap="square" rtlCol="0" anchor="ctr"/>
          <a:lstStyle/>
          <a:p>
            <a:pPr algn="ctr" indent="0" marL="0">
              <a:buNone/>
            </a:pPr>
            <a:r>
              <a:rPr lang="en-US" sz="1200" b="1" dirty="0">
                <a:solidFill>
                  <a:srgbClr val="B84A2F"/>
                </a:solidFill>
                <a:latin typeface="AT Aero" pitchFamily="34" charset="0"/>
                <a:ea typeface="AT Aero" pitchFamily="34" charset="-122"/>
                <a:cs typeface="AT Aero" pitchFamily="34" charset="-120"/>
              </a:rPr>
              <a:t>ESTIMATE</a:t>
            </a:r>
            <a:endParaRPr lang="en-US" sz="1200" dirty="0"/>
          </a:p>
        </p:txBody>
      </p:sp>
      <p:sp>
        <p:nvSpPr>
          <p:cNvPr id="11" name="Text 8"/>
          <p:cNvSpPr/>
          <p:nvPr/>
        </p:nvSpPr>
        <p:spPr>
          <a:xfrm>
            <a:off x="7680960" y="2286000"/>
            <a:ext cx="3840480" cy="1097280"/>
          </a:xfrm>
          <a:prstGeom prst="rect">
            <a:avLst/>
          </a:prstGeom>
          <a:noFill/>
          <a:ln/>
        </p:spPr>
        <p:txBody>
          <a:bodyPr wrap="square" rtlCol="0" anchor="ctr"/>
          <a:lstStyle/>
          <a:p>
            <a:pPr algn="ctr" indent="0" marL="0">
              <a:buNone/>
            </a:pPr>
            <a:r>
              <a:rPr lang="en-US" sz="5400" b="1" dirty="0">
                <a:solidFill>
                  <a:srgbClr val="1A1714"/>
                </a:solidFill>
                <a:latin typeface="PP Mondwest" pitchFamily="34" charset="0"/>
                <a:ea typeface="PP Mondwest" pitchFamily="34" charset="-122"/>
                <a:cs typeface="PP Mondwest" pitchFamily="34" charset="-120"/>
              </a:rPr>
              <a:t>$1.3T</a:t>
            </a:r>
            <a:endParaRPr lang="en-US" sz="5400" dirty="0"/>
          </a:p>
        </p:txBody>
      </p:sp>
      <p:sp>
        <p:nvSpPr>
          <p:cNvPr id="12" name="Text 9"/>
          <p:cNvSpPr/>
          <p:nvPr/>
        </p:nvSpPr>
        <p:spPr>
          <a:xfrm>
            <a:off x="7680960" y="3566160"/>
            <a:ext cx="3840480" cy="731520"/>
          </a:xfrm>
          <a:prstGeom prst="rect">
            <a:avLst/>
          </a:prstGeom>
          <a:noFill/>
          <a:ln/>
        </p:spPr>
        <p:txBody>
          <a:bodyPr wrap="square" rtlCol="0" anchor="ctr"/>
          <a:lstStyle/>
          <a:p>
            <a:pPr algn="ctr" indent="0" marL="0">
              <a:buNone/>
            </a:pPr>
            <a:r>
              <a:rPr lang="en-US" sz="1400" dirty="0">
                <a:solidFill>
                  <a:srgbClr val="6B6560"/>
                </a:solidFill>
                <a:latin typeface="AT Aero" pitchFamily="34" charset="0"/>
                <a:ea typeface="AT Aero" pitchFamily="34" charset="-122"/>
                <a:cs typeface="AT Aero" pitchFamily="34" charset="-120"/>
              </a:rPr>
              <a:t>Global Market Value</a:t>
            </a:r>
            <a:endParaRPr lang="en-US" sz="1400" dirty="0"/>
          </a:p>
          <a:p>
            <a:pPr algn="ctr" indent="0" marL="0">
              <a:buNone/>
            </a:pPr>
            <a:r>
              <a:rPr lang="en-US" sz="1400" dirty="0">
                <a:solidFill>
                  <a:srgbClr val="6B6560"/>
                </a:solidFill>
                <a:latin typeface="AT Aero" pitchFamily="34" charset="0"/>
                <a:ea typeface="AT Aero" pitchFamily="34" charset="-122"/>
                <a:cs typeface="AT Aero" pitchFamily="34" charset="-120"/>
              </a:rPr>
              <a:t>Analyst consensus 2026</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T Aero" pitchFamily="34" charset="0"/>
                <a:ea typeface="AT Aero" pitchFamily="34" charset="-122"/>
                <a:cs typeface="AT Aero" pitchFamily="34" charset="-120"/>
              </a:rPr>
              <a:t>PART 1: PROCUREMENT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Evolution of Procurement: The Strategic Hybrid Model</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T Aero" pitchFamily="34" charset="0"/>
                <a:ea typeface="AT Aero" pitchFamily="34" charset="-122"/>
                <a:cs typeface="AT Aero" pitchFamily="34" charset="-120"/>
              </a:rPr>
              <a:t>The 2026 Semiconductor Ecosystem | Slide 03</a:t>
            </a:r>
            <a:endParaRPr lang="en-US" sz="1000" dirty="0"/>
          </a:p>
        </p:txBody>
      </p:sp>
      <p:sp>
        <p:nvSpPr>
          <p:cNvPr id="6" name="Shape 3"/>
          <p:cNvSpPr/>
          <p:nvPr/>
        </p:nvSpPr>
        <p:spPr>
          <a:xfrm>
            <a:off x="548640" y="1371600"/>
            <a:ext cx="10972800" cy="914400"/>
          </a:xfrm>
          <a:prstGeom prst="rect">
            <a:avLst/>
          </a:prstGeom>
          <a:solidFill>
            <a:srgbClr val="FFFDF8"/>
          </a:solidFill>
          <a:ln w="19050">
            <a:solidFill>
              <a:srgbClr val="9E7D84"/>
            </a:solidFill>
            <a:prstDash val="solid"/>
          </a:ln>
        </p:spPr>
      </p:sp>
      <p:sp>
        <p:nvSpPr>
          <p:cNvPr id="7" name="Text 4"/>
          <p:cNvSpPr/>
          <p:nvPr/>
        </p:nvSpPr>
        <p:spPr>
          <a:xfrm>
            <a:off x="731520" y="1463040"/>
            <a:ext cx="10607040" cy="731520"/>
          </a:xfrm>
          <a:prstGeom prst="rect">
            <a:avLst/>
          </a:prstGeom>
          <a:noFill/>
          <a:ln/>
        </p:spPr>
        <p:txBody>
          <a:bodyPr wrap="square" rtlCol="0" anchor="ctr"/>
          <a:lstStyle/>
          <a:p>
            <a:pPr indent="0" marL="0">
              <a:buNone/>
            </a:pPr>
            <a:r>
              <a:rPr lang="en-US" sz="1800" b="1" i="1" dirty="0">
                <a:solidFill>
                  <a:srgbClr val="9E7D84"/>
                </a:solidFill>
                <a:latin typeface="AT Aero" pitchFamily="34" charset="0"/>
                <a:ea typeface="AT Aero" pitchFamily="34" charset="-122"/>
                <a:cs typeface="AT Aero" pitchFamily="34" charset="-120"/>
              </a:rPr>
              <a:t>Key Message: Pure JIT is obsolete; the new standard is a hybrid approach that prioritizes resilience for high-value nodes.</a:t>
            </a:r>
            <a:endParaRPr lang="en-US" sz="1800" dirty="0"/>
          </a:p>
        </p:txBody>
      </p:sp>
      <p:sp>
        <p:nvSpPr>
          <p:cNvPr id="8" name="Shape 5"/>
          <p:cNvSpPr/>
          <p:nvPr/>
        </p:nvSpPr>
        <p:spPr>
          <a:xfrm>
            <a:off x="548640" y="2560320"/>
            <a:ext cx="5212080" cy="3474720"/>
          </a:xfrm>
          <a:prstGeom prst="rect">
            <a:avLst/>
          </a:prstGeom>
          <a:solidFill>
            <a:srgbClr val="FFFDF8"/>
          </a:solidFill>
          <a:ln w="12700">
            <a:solidFill>
              <a:srgbClr val="E0D9D0"/>
            </a:solidFill>
            <a:prstDash val="solid"/>
          </a:ln>
        </p:spPr>
      </p:sp>
      <p:sp>
        <p:nvSpPr>
          <p:cNvPr id="9" name="Text 6"/>
          <p:cNvSpPr/>
          <p:nvPr/>
        </p:nvSpPr>
        <p:spPr>
          <a:xfrm>
            <a:off x="822960" y="2834640"/>
            <a:ext cx="4663440" cy="457200"/>
          </a:xfrm>
          <a:prstGeom prst="rect">
            <a:avLst/>
          </a:prstGeom>
          <a:noFill/>
          <a:ln/>
        </p:spPr>
        <p:txBody>
          <a:bodyPr wrap="square" rtlCol="0" anchor="ctr"/>
          <a:lstStyle/>
          <a:p>
            <a:pPr indent="0" marL="0">
              <a:buNone/>
            </a:pPr>
            <a:r>
              <a:rPr lang="en-US" sz="2000" b="1" dirty="0">
                <a:solidFill>
                  <a:srgbClr val="B84A2F"/>
                </a:solidFill>
                <a:latin typeface="PP Mondwest" pitchFamily="34" charset="0"/>
                <a:ea typeface="PP Mondwest" pitchFamily="34" charset="-122"/>
                <a:cs typeface="PP Mondwest" pitchFamily="34" charset="-120"/>
              </a:rPr>
              <a:t>Lean JIT (Commoditized Nodes)</a:t>
            </a:r>
            <a:endParaRPr lang="en-US" sz="2000" dirty="0"/>
          </a:p>
        </p:txBody>
      </p:sp>
      <p:sp>
        <p:nvSpPr>
          <p:cNvPr id="10" name="Text 7"/>
          <p:cNvSpPr/>
          <p:nvPr/>
        </p:nvSpPr>
        <p:spPr>
          <a:xfrm>
            <a:off x="822960" y="3474720"/>
            <a:ext cx="4663440" cy="2194560"/>
          </a:xfrm>
          <a:prstGeom prst="rect">
            <a:avLst/>
          </a:prstGeom>
          <a:noFill/>
          <a:ln/>
        </p:spPr>
        <p:txBody>
          <a:bodyPr wrap="square" rtlCol="0" anchor="ctr"/>
          <a:lstStyle/>
          <a:p>
            <a:pPr indent="0" marL="0">
              <a:buNone/>
            </a:pPr>
            <a:r>
              <a:rPr lang="en-US" sz="1800" dirty="0">
                <a:solidFill>
                  <a:srgbClr val="6B6560"/>
                </a:solidFill>
                <a:latin typeface="AT Aero" pitchFamily="34" charset="0"/>
                <a:ea typeface="AT Aero" pitchFamily="34" charset="-122"/>
                <a:cs typeface="AT Aero" pitchFamily="34" charset="-120"/>
              </a:rPr>
              <a:t>Used for standardized legacy passive elements and commoditized logic chips. Minimizes capital lock-up and inventory holding costs while keeping storage footprint low.</a:t>
            </a:r>
            <a:endParaRPr lang="en-US" sz="1800" dirty="0"/>
          </a:p>
        </p:txBody>
      </p:sp>
      <p:sp>
        <p:nvSpPr>
          <p:cNvPr id="11" name="Shape 8"/>
          <p:cNvSpPr/>
          <p:nvPr/>
        </p:nvSpPr>
        <p:spPr>
          <a:xfrm>
            <a:off x="6309360" y="2560320"/>
            <a:ext cx="5212080" cy="3474720"/>
          </a:xfrm>
          <a:prstGeom prst="rect">
            <a:avLst/>
          </a:prstGeom>
          <a:solidFill>
            <a:srgbClr val="FFFDF8"/>
          </a:solidFill>
          <a:ln w="12700">
            <a:solidFill>
              <a:srgbClr val="E0D9D0"/>
            </a:solidFill>
            <a:prstDash val="solid"/>
          </a:ln>
        </p:spPr>
      </p:sp>
      <p:sp>
        <p:nvSpPr>
          <p:cNvPr id="12" name="Text 9"/>
          <p:cNvSpPr/>
          <p:nvPr/>
        </p:nvSpPr>
        <p:spPr>
          <a:xfrm>
            <a:off x="6583680" y="2834640"/>
            <a:ext cx="4663440" cy="457200"/>
          </a:xfrm>
          <a:prstGeom prst="rect">
            <a:avLst/>
          </a:prstGeom>
          <a:noFill/>
          <a:ln/>
        </p:spPr>
        <p:txBody>
          <a:bodyPr wrap="square" rtlCol="0" anchor="ctr"/>
          <a:lstStyle/>
          <a:p>
            <a:pPr indent="0" marL="0">
              <a:buNone/>
            </a:pPr>
            <a:r>
              <a:rPr lang="en-US" sz="2000" b="1" dirty="0">
                <a:solidFill>
                  <a:srgbClr val="9E7D84"/>
                </a:solidFill>
                <a:latin typeface="PP Mondwest" pitchFamily="34" charset="0"/>
                <a:ea typeface="PP Mondwest" pitchFamily="34" charset="-122"/>
                <a:cs typeface="PP Mondwest" pitchFamily="34" charset="-120"/>
              </a:rPr>
              <a:t>Strategic Buffers (Critical Nodes)</a:t>
            </a:r>
            <a:endParaRPr lang="en-US" sz="2000" dirty="0"/>
          </a:p>
        </p:txBody>
      </p:sp>
      <p:sp>
        <p:nvSpPr>
          <p:cNvPr id="13" name="Text 10"/>
          <p:cNvSpPr/>
          <p:nvPr/>
        </p:nvSpPr>
        <p:spPr>
          <a:xfrm>
            <a:off x="6583680" y="3474720"/>
            <a:ext cx="4663440" cy="2194560"/>
          </a:xfrm>
          <a:prstGeom prst="rect">
            <a:avLst/>
          </a:prstGeom>
          <a:noFill/>
          <a:ln/>
        </p:spPr>
        <p:txBody>
          <a:bodyPr wrap="square" rtlCol="0" anchor="ctr"/>
          <a:lstStyle/>
          <a:p>
            <a:pPr indent="0" marL="0">
              <a:buNone/>
            </a:pPr>
            <a:r>
              <a:rPr lang="en-US" sz="1800" dirty="0">
                <a:solidFill>
                  <a:srgbClr val="6B6560"/>
                </a:solidFill>
                <a:latin typeface="AT Aero" pitchFamily="34" charset="0"/>
                <a:ea typeface="AT Aero" pitchFamily="34" charset="-122"/>
                <a:cs typeface="AT Aero" pitchFamily="34" charset="-120"/>
              </a:rPr>
              <a:t>Maintaining 3 to 6 months of safety stock for sole-sourced, high-margin microcomponents (HBM, custom GPUs) to guarantee manufacturing continuity.</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T Aero" pitchFamily="34" charset="0"/>
                <a:ea typeface="AT Aero" pitchFamily="34" charset="-122"/>
                <a:cs typeface="AT Aero" pitchFamily="34" charset="-120"/>
              </a:rPr>
              <a:t>PART 1: PROCUREMENT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Key Procurement Challenges &amp; Strategic Sourcing</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T Aero" pitchFamily="34" charset="0"/>
                <a:ea typeface="AT Aero" pitchFamily="34" charset="-122"/>
                <a:cs typeface="AT Aero" pitchFamily="34" charset="-120"/>
              </a:rPr>
              <a:t>The 2026 Semiconductor Ecosystem | Slide 04</a:t>
            </a:r>
            <a:endParaRPr lang="en-US" sz="1000" dirty="0"/>
          </a:p>
        </p:txBody>
      </p:sp>
      <p:sp>
        <p:nvSpPr>
          <p:cNvPr id="6" name="Shape 3"/>
          <p:cNvSpPr/>
          <p:nvPr/>
        </p:nvSpPr>
        <p:spPr>
          <a:xfrm>
            <a:off x="548640" y="1371600"/>
            <a:ext cx="6583680" cy="914400"/>
          </a:xfrm>
          <a:prstGeom prst="rect">
            <a:avLst/>
          </a:prstGeom>
          <a:solidFill>
            <a:srgbClr val="FFFDF8"/>
          </a:solidFill>
          <a:ln w="19050">
            <a:solidFill>
              <a:srgbClr val="768C7C"/>
            </a:solidFill>
            <a:prstDash val="solid"/>
          </a:ln>
        </p:spPr>
      </p:sp>
      <p:sp>
        <p:nvSpPr>
          <p:cNvPr id="7" name="Text 4"/>
          <p:cNvSpPr/>
          <p:nvPr/>
        </p:nvSpPr>
        <p:spPr>
          <a:xfrm>
            <a:off x="731520" y="1463040"/>
            <a:ext cx="6217920" cy="731520"/>
          </a:xfrm>
          <a:prstGeom prst="rect">
            <a:avLst/>
          </a:prstGeom>
          <a:noFill/>
          <a:ln/>
        </p:spPr>
        <p:txBody>
          <a:bodyPr wrap="square" rtlCol="0" anchor="ctr"/>
          <a:lstStyle/>
          <a:p>
            <a:pPr indent="0" marL="0">
              <a:buNone/>
            </a:pPr>
            <a:r>
              <a:rPr lang="en-US" sz="1800" b="1" i="1" dirty="0">
                <a:solidFill>
                  <a:srgbClr val="768C7C"/>
                </a:solidFill>
                <a:latin typeface="AT Aero" pitchFamily="34" charset="0"/>
                <a:ea typeface="AT Aero" pitchFamily="34" charset="-122"/>
                <a:cs typeface="AT Aero" pitchFamily="34" charset="-120"/>
              </a:rPr>
              <a:t>Key Message: Data opacity and reactive risk management are the primary enemies of a resilient procurement strategy.</a:t>
            </a:r>
            <a:endParaRPr lang="en-US" sz="1800" dirty="0"/>
          </a:p>
        </p:txBody>
      </p:sp>
      <p:sp>
        <p:nvSpPr>
          <p:cNvPr id="8" name="Text 5"/>
          <p:cNvSpPr/>
          <p:nvPr/>
        </p:nvSpPr>
        <p:spPr>
          <a:xfrm>
            <a:off x="548640" y="2560320"/>
            <a:ext cx="6583680" cy="3474720"/>
          </a:xfrm>
          <a:prstGeom prst="rect">
            <a:avLst/>
          </a:prstGeom>
          <a:noFill/>
          <a:ln/>
        </p:spPr>
        <p:txBody>
          <a:bodyPr wrap="square" rtlCol="0" anchor="ctr"/>
          <a:lstStyle/>
          <a:p>
            <a:pPr marL="342900" indent="-342900">
              <a:buSzPct val="100000"/>
              <a:buChar char="•"/>
            </a:pPr>
            <a:r>
              <a:rPr lang="en-US" sz="1800" dirty="0">
                <a:solidFill>
                  <a:srgbClr val="6B6560"/>
                </a:solidFill>
                <a:latin typeface="AT Aero" pitchFamily="34" charset="0"/>
                <a:ea typeface="AT Aero" pitchFamily="34" charset="-122"/>
                <a:cs typeface="AT Aero" pitchFamily="34" charset="-120"/>
              </a:rPr>
              <a:t>- Category Management Sourcing: Slicing procurement into precise technology nodes (Leading-edge sub-7nm vs Legacy nodes).</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T Aero" pitchFamily="34" charset="0"/>
                <a:ea typeface="AT Aero" pitchFamily="34" charset="-122"/>
                <a:cs typeface="AT Aero" pitchFamily="34" charset="-120"/>
              </a:rPr>
              <a:t>- Leading-edge Sourcing: Focuses on deep co-development partnerships, engineering collaboration, and long-term volume commitments.</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T Aero" pitchFamily="34" charset="0"/>
                <a:ea typeface="AT Aero" pitchFamily="34" charset="-122"/>
                <a:cs typeface="AT Aero" pitchFamily="34" charset="-120"/>
              </a:rPr>
              <a:t>- Legacy Sourcing: Emphasizes multi-sourcing, second-sourcing qualification, and legacy lifecycle management to offset obsolescence.</a:t>
            </a:r>
            <a:endParaRPr lang="en-US" sz="1800" dirty="0"/>
          </a:p>
        </p:txBody>
      </p:sp>
      <p:sp>
        <p:nvSpPr>
          <p:cNvPr id="9" name="Shape 6"/>
          <p:cNvSpPr/>
          <p:nvPr/>
        </p:nvSpPr>
        <p:spPr>
          <a:xfrm>
            <a:off x="7680960" y="1371600"/>
            <a:ext cx="3840480" cy="2103120"/>
          </a:xfrm>
          <a:prstGeom prst="rect">
            <a:avLst/>
          </a:prstGeom>
          <a:solidFill>
            <a:srgbClr val="FFFDF8"/>
          </a:solidFill>
          <a:ln w="12700">
            <a:solidFill>
              <a:srgbClr val="768C7C"/>
            </a:solidFill>
            <a:prstDash val="solid"/>
          </a:ln>
        </p:spPr>
      </p:sp>
      <p:sp>
        <p:nvSpPr>
          <p:cNvPr id="10" name="Text 7"/>
          <p:cNvSpPr/>
          <p:nvPr/>
        </p:nvSpPr>
        <p:spPr>
          <a:xfrm>
            <a:off x="7863840" y="1554480"/>
            <a:ext cx="3474720" cy="1737360"/>
          </a:xfrm>
          <a:prstGeom prst="rect">
            <a:avLst/>
          </a:prstGeom>
          <a:noFill/>
          <a:ln/>
        </p:spPr>
        <p:txBody>
          <a:bodyPr wrap="square" rtlCol="0" anchor="ctr"/>
          <a:lstStyle/>
          <a:p>
            <a:pPr indent="0" marL="0">
              <a:buNone/>
            </a:pPr>
            <a:r>
              <a:rPr lang="en-US" sz="1600" dirty="0">
                <a:solidFill>
                  <a:srgbClr val="6B6560"/>
                </a:solidFill>
                <a:latin typeface="AT Aero" pitchFamily="34" charset="0"/>
                <a:ea typeface="AT Aero" pitchFamily="34" charset="-122"/>
                <a:cs typeface="AT Aero" pitchFamily="34" charset="-120"/>
              </a:rPr>
              <a:t>Leading-Edge Nodes</a:t>
            </a:r>
            <a:endParaRPr lang="en-US" sz="1600" dirty="0"/>
          </a:p>
          <a:p>
            <a:pPr indent="0" marL="0">
              <a:buNone/>
            </a:pPr>
            <a:endParaRPr lang="en-US" sz="1600" dirty="0"/>
          </a:p>
          <a:p>
            <a:pPr indent="0" marL="0">
              <a:buNone/>
            </a:pPr>
            <a:r>
              <a:rPr lang="en-US" sz="1600" dirty="0">
                <a:solidFill>
                  <a:srgbClr val="6B6560"/>
                </a:solidFill>
                <a:latin typeface="AT Aero" pitchFamily="34" charset="0"/>
                <a:ea typeface="AT Aero" pitchFamily="34" charset="-122"/>
                <a:cs typeface="AT Aero" pitchFamily="34" charset="-120"/>
              </a:rPr>
              <a:t>Focus: Deep alliances, R&amp;D partnerships, capacity reservations.</a:t>
            </a:r>
            <a:endParaRPr lang="en-US" sz="1600" dirty="0"/>
          </a:p>
        </p:txBody>
      </p:sp>
      <p:sp>
        <p:nvSpPr>
          <p:cNvPr id="11" name="Shape 8"/>
          <p:cNvSpPr/>
          <p:nvPr/>
        </p:nvSpPr>
        <p:spPr>
          <a:xfrm>
            <a:off x="7680960" y="3840480"/>
            <a:ext cx="3840480" cy="2103120"/>
          </a:xfrm>
          <a:prstGeom prst="rect">
            <a:avLst/>
          </a:prstGeom>
          <a:solidFill>
            <a:srgbClr val="FFFDF8"/>
          </a:solidFill>
          <a:ln w="12700">
            <a:solidFill>
              <a:srgbClr val="B08E66"/>
            </a:solidFill>
            <a:prstDash val="solid"/>
          </a:ln>
        </p:spPr>
      </p:sp>
      <p:sp>
        <p:nvSpPr>
          <p:cNvPr id="12" name="Text 9"/>
          <p:cNvSpPr/>
          <p:nvPr/>
        </p:nvSpPr>
        <p:spPr>
          <a:xfrm>
            <a:off x="7863840" y="4023360"/>
            <a:ext cx="3474720" cy="1737360"/>
          </a:xfrm>
          <a:prstGeom prst="rect">
            <a:avLst/>
          </a:prstGeom>
          <a:noFill/>
          <a:ln/>
        </p:spPr>
        <p:txBody>
          <a:bodyPr wrap="square" rtlCol="0" anchor="ctr"/>
          <a:lstStyle/>
          <a:p>
            <a:pPr indent="0" marL="0">
              <a:buNone/>
            </a:pPr>
            <a:r>
              <a:rPr lang="en-US" sz="1600" dirty="0">
                <a:solidFill>
                  <a:srgbClr val="6B6560"/>
                </a:solidFill>
                <a:latin typeface="AT Aero" pitchFamily="34" charset="0"/>
                <a:ea typeface="AT Aero" pitchFamily="34" charset="-122"/>
                <a:cs typeface="AT Aero" pitchFamily="34" charset="-120"/>
              </a:rPr>
              <a:t>Legacy Nodes</a:t>
            </a:r>
            <a:endParaRPr lang="en-US" sz="1600" dirty="0"/>
          </a:p>
          <a:p>
            <a:pPr indent="0" marL="0">
              <a:buNone/>
            </a:pPr>
            <a:endParaRPr lang="en-US" sz="1600" dirty="0"/>
          </a:p>
          <a:p>
            <a:pPr indent="0" marL="0">
              <a:buNone/>
            </a:pPr>
            <a:r>
              <a:rPr lang="en-US" sz="1600" dirty="0">
                <a:solidFill>
                  <a:srgbClr val="6B6560"/>
                </a:solidFill>
                <a:latin typeface="AT Aero" pitchFamily="34" charset="0"/>
                <a:ea typeface="AT Aero" pitchFamily="34" charset="-122"/>
                <a:cs typeface="AT Aero" pitchFamily="34" charset="-120"/>
              </a:rPr>
              <a:t>Focus: Multi-sourcing, distributor networks, life-cycle tracking.</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T Aero" pitchFamily="34" charset="0"/>
                <a:ea typeface="AT Aero" pitchFamily="34" charset="-122"/>
                <a:cs typeface="AT Aero" pitchFamily="34" charset="-120"/>
              </a:rPr>
              <a:t>PART 1: PROCUREMENT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Digitalization &amp; Resilience in Procurement</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T Aero" pitchFamily="34" charset="0"/>
                <a:ea typeface="AT Aero" pitchFamily="34" charset="-122"/>
                <a:cs typeface="AT Aero" pitchFamily="34" charset="-120"/>
              </a:rPr>
              <a:t>The 2026 Semiconductor Ecosystem | Slide 05</a:t>
            </a:r>
            <a:endParaRPr lang="en-US" sz="1000" dirty="0"/>
          </a:p>
        </p:txBody>
      </p:sp>
      <p:sp>
        <p:nvSpPr>
          <p:cNvPr id="6" name="Shape 3"/>
          <p:cNvSpPr/>
          <p:nvPr/>
        </p:nvSpPr>
        <p:spPr>
          <a:xfrm>
            <a:off x="548640" y="1371600"/>
            <a:ext cx="10972800" cy="914400"/>
          </a:xfrm>
          <a:prstGeom prst="rect">
            <a:avLst/>
          </a:prstGeom>
          <a:solidFill>
            <a:srgbClr val="FFFDF8"/>
          </a:solidFill>
          <a:ln w="19050">
            <a:solidFill>
              <a:srgbClr val="B84A2F"/>
            </a:solidFill>
            <a:prstDash val="solid"/>
          </a:ln>
        </p:spPr>
      </p:sp>
      <p:sp>
        <p:nvSpPr>
          <p:cNvPr id="7" name="Text 4"/>
          <p:cNvSpPr/>
          <p:nvPr/>
        </p:nvSpPr>
        <p:spPr>
          <a:xfrm>
            <a:off x="731520" y="1463040"/>
            <a:ext cx="10607040" cy="731520"/>
          </a:xfrm>
          <a:prstGeom prst="rect">
            <a:avLst/>
          </a:prstGeom>
          <a:noFill/>
          <a:ln/>
        </p:spPr>
        <p:txBody>
          <a:bodyPr wrap="square" rtlCol="0" anchor="ctr"/>
          <a:lstStyle/>
          <a:p>
            <a:pPr indent="0" marL="0">
              <a:buNone/>
            </a:pPr>
            <a:r>
              <a:rPr lang="en-US" sz="1800" b="1" i="1" dirty="0">
                <a:solidFill>
                  <a:srgbClr val="B84A2F"/>
                </a:solidFill>
                <a:latin typeface="AT Aero" pitchFamily="34" charset="0"/>
                <a:ea typeface="AT Aero" pitchFamily="34" charset="-122"/>
                <a:cs typeface="AT Aero" pitchFamily="34" charset="-120"/>
              </a:rPr>
              <a:t>Key Message: AI-driven "Business Intelligence Cockpits" are essential for predicting shortages 6-12 months in advance.</a:t>
            </a:r>
            <a:endParaRPr lang="en-US" sz="1800" dirty="0"/>
          </a:p>
        </p:txBody>
      </p:sp>
      <p:sp>
        <p:nvSpPr>
          <p:cNvPr id="8" name="Shape 5"/>
          <p:cNvSpPr/>
          <p:nvPr/>
        </p:nvSpPr>
        <p:spPr>
          <a:xfrm>
            <a:off x="548640" y="2560320"/>
            <a:ext cx="5212080" cy="2377440"/>
          </a:xfrm>
          <a:prstGeom prst="rect">
            <a:avLst/>
          </a:prstGeom>
          <a:solidFill>
            <a:srgbClr val="FFFDF8"/>
          </a:solidFill>
          <a:ln w="12700">
            <a:solidFill>
              <a:srgbClr val="E0D9D0"/>
            </a:solidFill>
            <a:prstDash val="solid"/>
          </a:ln>
        </p:spPr>
      </p:sp>
      <p:sp>
        <p:nvSpPr>
          <p:cNvPr id="9" name="Text 6"/>
          <p:cNvSpPr/>
          <p:nvPr/>
        </p:nvSpPr>
        <p:spPr>
          <a:xfrm>
            <a:off x="822960" y="2743200"/>
            <a:ext cx="4663440" cy="365760"/>
          </a:xfrm>
          <a:prstGeom prst="rect">
            <a:avLst/>
          </a:prstGeom>
          <a:noFill/>
          <a:ln/>
        </p:spPr>
        <p:txBody>
          <a:bodyPr wrap="square" rtlCol="0" anchor="ctr"/>
          <a:lstStyle/>
          <a:p>
            <a:pPr indent="0" marL="0">
              <a:buNone/>
            </a:pPr>
            <a:r>
              <a:rPr lang="en-US" sz="2000" b="1" dirty="0">
                <a:solidFill>
                  <a:srgbClr val="B84A2F"/>
                </a:solidFill>
                <a:latin typeface="PP Mondwest" pitchFamily="34" charset="0"/>
                <a:ea typeface="PP Mondwest" pitchFamily="34" charset="-122"/>
                <a:cs typeface="PP Mondwest" pitchFamily="34" charset="-120"/>
              </a:rPr>
              <a:t>LTA &amp; Reservation Fees</a:t>
            </a:r>
            <a:endParaRPr lang="en-US" sz="2000" dirty="0"/>
          </a:p>
        </p:txBody>
      </p:sp>
      <p:sp>
        <p:nvSpPr>
          <p:cNvPr id="10" name="Text 7"/>
          <p:cNvSpPr/>
          <p:nvPr/>
        </p:nvSpPr>
        <p:spPr>
          <a:xfrm>
            <a:off x="822960" y="3291840"/>
            <a:ext cx="4663440" cy="1371600"/>
          </a:xfrm>
          <a:prstGeom prst="rect">
            <a:avLst/>
          </a:prstGeom>
          <a:noFill/>
          <a:ln/>
        </p:spPr>
        <p:txBody>
          <a:bodyPr wrap="square" rtlCol="0" anchor="ctr"/>
          <a:lstStyle/>
          <a:p>
            <a:pPr indent="0" marL="0">
              <a:buNone/>
            </a:pPr>
            <a:r>
              <a:rPr lang="en-US" sz="1800" dirty="0">
                <a:solidFill>
                  <a:srgbClr val="6B6560"/>
                </a:solidFill>
                <a:latin typeface="AT Aero" pitchFamily="34" charset="0"/>
                <a:ea typeface="AT Aero" pitchFamily="34" charset="-122"/>
                <a:cs typeface="AT Aero" pitchFamily="34" charset="-120"/>
              </a:rPr>
              <a:t>Securing fab slots requires upfront reservation fees and take-or-pay clauses in Long-Term Agreements (LTAs) to lock down volume.</a:t>
            </a:r>
            <a:endParaRPr lang="en-US" sz="1800" dirty="0"/>
          </a:p>
        </p:txBody>
      </p:sp>
      <p:sp>
        <p:nvSpPr>
          <p:cNvPr id="11" name="Shape 8"/>
          <p:cNvSpPr/>
          <p:nvPr/>
        </p:nvSpPr>
        <p:spPr>
          <a:xfrm>
            <a:off x="6309360" y="2560320"/>
            <a:ext cx="5212080" cy="2377440"/>
          </a:xfrm>
          <a:prstGeom prst="rect">
            <a:avLst/>
          </a:prstGeom>
          <a:solidFill>
            <a:srgbClr val="FFFDF8"/>
          </a:solidFill>
          <a:ln w="12700">
            <a:solidFill>
              <a:srgbClr val="E0D9D0"/>
            </a:solidFill>
            <a:prstDash val="solid"/>
          </a:ln>
        </p:spPr>
      </p:sp>
      <p:sp>
        <p:nvSpPr>
          <p:cNvPr id="12" name="Text 9"/>
          <p:cNvSpPr/>
          <p:nvPr/>
        </p:nvSpPr>
        <p:spPr>
          <a:xfrm>
            <a:off x="6583680" y="2743200"/>
            <a:ext cx="4663440" cy="365760"/>
          </a:xfrm>
          <a:prstGeom prst="rect">
            <a:avLst/>
          </a:prstGeom>
          <a:noFill/>
          <a:ln/>
        </p:spPr>
        <p:txBody>
          <a:bodyPr wrap="square" rtlCol="0" anchor="ctr"/>
          <a:lstStyle/>
          <a:p>
            <a:pPr indent="0" marL="0">
              <a:buNone/>
            </a:pPr>
            <a:r>
              <a:rPr lang="en-US" sz="2000" b="1" dirty="0">
                <a:solidFill>
                  <a:srgbClr val="768C7C"/>
                </a:solidFill>
                <a:latin typeface="PP Mondwest" pitchFamily="34" charset="0"/>
                <a:ea typeface="PP Mondwest" pitchFamily="34" charset="-122"/>
                <a:cs typeface="PP Mondwest" pitchFamily="34" charset="-120"/>
              </a:rPr>
              <a:t>Friend-Shoring Sourcing</a:t>
            </a:r>
            <a:endParaRPr lang="en-US" sz="2000" dirty="0"/>
          </a:p>
        </p:txBody>
      </p:sp>
      <p:sp>
        <p:nvSpPr>
          <p:cNvPr id="13" name="Text 10"/>
          <p:cNvSpPr/>
          <p:nvPr/>
        </p:nvSpPr>
        <p:spPr>
          <a:xfrm>
            <a:off x="6583680" y="3291840"/>
            <a:ext cx="4663440" cy="1371600"/>
          </a:xfrm>
          <a:prstGeom prst="rect">
            <a:avLst/>
          </a:prstGeom>
          <a:noFill/>
          <a:ln/>
        </p:spPr>
        <p:txBody>
          <a:bodyPr wrap="square" rtlCol="0" anchor="ctr"/>
          <a:lstStyle/>
          <a:p>
            <a:pPr indent="0" marL="0">
              <a:buNone/>
            </a:pPr>
            <a:r>
              <a:rPr lang="en-US" sz="1800" dirty="0">
                <a:solidFill>
                  <a:srgbClr val="6B6560"/>
                </a:solidFill>
                <a:latin typeface="AT Aero" pitchFamily="34" charset="0"/>
                <a:ea typeface="AT Aero" pitchFamily="34" charset="-122"/>
                <a:cs typeface="AT Aero" pitchFamily="34" charset="-120"/>
              </a:rPr>
              <a:t>Decoupling supply links from high-risk locations, redirecting procurement to allied geopolitical nodes with guaranteed supply lines.</a:t>
            </a:r>
            <a:endParaRPr lang="en-US" sz="1800" dirty="0"/>
          </a:p>
        </p:txBody>
      </p:sp>
      <p:sp>
        <p:nvSpPr>
          <p:cNvPr id="14" name="Shape 11"/>
          <p:cNvSpPr/>
          <p:nvPr/>
        </p:nvSpPr>
        <p:spPr>
          <a:xfrm>
            <a:off x="548640" y="5212080"/>
            <a:ext cx="10972800" cy="822960"/>
          </a:xfrm>
          <a:prstGeom prst="rect">
            <a:avLst/>
          </a:prstGeom>
          <a:solidFill>
            <a:srgbClr val="FFFDF8"/>
          </a:solidFill>
          <a:ln w="12700">
            <a:solidFill>
              <a:srgbClr val="B84A2F"/>
            </a:solidFill>
            <a:prstDash val="solid"/>
          </a:ln>
        </p:spPr>
      </p:sp>
      <p:sp>
        <p:nvSpPr>
          <p:cNvPr id="15" name="Text 12"/>
          <p:cNvSpPr/>
          <p:nvPr/>
        </p:nvSpPr>
        <p:spPr>
          <a:xfrm>
            <a:off x="731520" y="5303520"/>
            <a:ext cx="10607040" cy="640080"/>
          </a:xfrm>
          <a:prstGeom prst="rect">
            <a:avLst/>
          </a:prstGeom>
          <a:noFill/>
          <a:ln/>
        </p:spPr>
        <p:txBody>
          <a:bodyPr wrap="square" rtlCol="0" anchor="ctr"/>
          <a:lstStyle/>
          <a:p>
            <a:pPr indent="0" marL="0">
              <a:buNone/>
            </a:pPr>
            <a:r>
              <a:rPr lang="en-US" sz="1500" dirty="0">
                <a:solidFill>
                  <a:srgbClr val="6B6560"/>
                </a:solidFill>
                <a:latin typeface="AT Aero" pitchFamily="34" charset="0"/>
                <a:ea typeface="AT Aero" pitchFamily="34" charset="-122"/>
                <a:cs typeface="AT Aero" pitchFamily="34" charset="-120"/>
              </a:rPr>
              <a:t>AI integration automatically tracks tier-2 chemical and substrate suppliers to detect factory closures or export blocks before they ripple into final fab allocations.</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T Aero" pitchFamily="34" charset="0"/>
                <a:ea typeface="AT Aero" pitchFamily="34" charset="-122"/>
                <a:cs typeface="AT Aero" pitchFamily="34" charset="-120"/>
              </a:rPr>
              <a:t>PART 2: THE GLOBAL SUPPLY CHAIN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The Global Supply Chain: A Web of Complexity</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T Aero" pitchFamily="34" charset="0"/>
                <a:ea typeface="AT Aero" pitchFamily="34" charset="-122"/>
                <a:cs typeface="AT Aero" pitchFamily="34" charset="-120"/>
              </a:rPr>
              <a:t>The 2026 Semiconductor Ecosystem | Slide 06</a:t>
            </a:r>
            <a:endParaRPr lang="en-US" sz="1000" dirty="0"/>
          </a:p>
        </p:txBody>
      </p:sp>
      <p:sp>
        <p:nvSpPr>
          <p:cNvPr id="6" name="Shape 3"/>
          <p:cNvSpPr/>
          <p:nvPr/>
        </p:nvSpPr>
        <p:spPr>
          <a:xfrm>
            <a:off x="548640" y="1371600"/>
            <a:ext cx="10972800" cy="914400"/>
          </a:xfrm>
          <a:prstGeom prst="rect">
            <a:avLst/>
          </a:prstGeom>
          <a:solidFill>
            <a:srgbClr val="FFFDF8"/>
          </a:solidFill>
          <a:ln w="19050">
            <a:solidFill>
              <a:srgbClr val="B84A2F"/>
            </a:solidFill>
            <a:prstDash val="solid"/>
          </a:ln>
        </p:spPr>
      </p:sp>
      <p:sp>
        <p:nvSpPr>
          <p:cNvPr id="7" name="Text 4"/>
          <p:cNvSpPr/>
          <p:nvPr/>
        </p:nvSpPr>
        <p:spPr>
          <a:xfrm>
            <a:off x="731520" y="1463040"/>
            <a:ext cx="10607040" cy="731520"/>
          </a:xfrm>
          <a:prstGeom prst="rect">
            <a:avLst/>
          </a:prstGeom>
          <a:noFill/>
          <a:ln/>
        </p:spPr>
        <p:txBody>
          <a:bodyPr wrap="square" rtlCol="0" anchor="ctr"/>
          <a:lstStyle/>
          <a:p>
            <a:pPr indent="0" marL="0">
              <a:buNone/>
            </a:pPr>
            <a:r>
              <a:rPr lang="en-US" sz="1800" b="1" i="1" dirty="0">
                <a:solidFill>
                  <a:srgbClr val="B84A2F"/>
                </a:solidFill>
                <a:latin typeface="AT Aero" pitchFamily="34" charset="0"/>
                <a:ea typeface="AT Aero" pitchFamily="34" charset="-122"/>
                <a:cs typeface="AT Aero" pitchFamily="34" charset="-120"/>
              </a:rPr>
              <a:t>Key Message: A single chip may cross international borders over 70 times, making it the most geographically dispersed value chain in history.</a:t>
            </a:r>
            <a:endParaRPr lang="en-US" sz="1800" dirty="0"/>
          </a:p>
        </p:txBody>
      </p:sp>
      <p:sp>
        <p:nvSpPr>
          <p:cNvPr id="8" name="Text 5"/>
          <p:cNvSpPr/>
          <p:nvPr/>
        </p:nvSpPr>
        <p:spPr>
          <a:xfrm>
            <a:off x="548640" y="2560320"/>
            <a:ext cx="10972800" cy="365760"/>
          </a:xfrm>
          <a:prstGeom prst="rect">
            <a:avLst/>
          </a:prstGeom>
          <a:noFill/>
          <a:ln/>
        </p:spPr>
        <p:txBody>
          <a:bodyPr wrap="square" rtlCol="0" anchor="ctr"/>
          <a:lstStyle/>
          <a:p>
            <a:pPr indent="0" marL="0">
              <a:buNone/>
            </a:pPr>
            <a:r>
              <a:rPr lang="en-US" sz="1600" b="1" dirty="0">
                <a:solidFill>
                  <a:srgbClr val="768C7C"/>
                </a:solidFill>
                <a:latin typeface="AT Aero" pitchFamily="34" charset="0"/>
                <a:ea typeface="AT Aero" pitchFamily="34" charset="-122"/>
                <a:cs typeface="AT Aero" pitchFamily="34" charset="-120"/>
              </a:rPr>
              <a:t>THE SILICON JOURNEY</a:t>
            </a:r>
            <a:endParaRPr lang="en-US" sz="1600" dirty="0"/>
          </a:p>
        </p:txBody>
      </p:sp>
      <p:sp>
        <p:nvSpPr>
          <p:cNvPr id="9" name="Shape 6"/>
          <p:cNvSpPr/>
          <p:nvPr/>
        </p:nvSpPr>
        <p:spPr>
          <a:xfrm>
            <a:off x="548640" y="3108960"/>
            <a:ext cx="1828800" cy="2377440"/>
          </a:xfrm>
          <a:prstGeom prst="rect">
            <a:avLst/>
          </a:prstGeom>
          <a:solidFill>
            <a:srgbClr val="FFFDF8"/>
          </a:solidFill>
          <a:ln w="12700">
            <a:solidFill>
              <a:srgbClr val="E0D9D0"/>
            </a:solidFill>
            <a:prstDash val="solid"/>
          </a:ln>
        </p:spPr>
      </p:sp>
      <p:sp>
        <p:nvSpPr>
          <p:cNvPr id="10" name="Text 7"/>
          <p:cNvSpPr/>
          <p:nvPr/>
        </p:nvSpPr>
        <p:spPr>
          <a:xfrm>
            <a:off x="731520" y="3291840"/>
            <a:ext cx="1463040" cy="365760"/>
          </a:xfrm>
          <a:prstGeom prst="rect">
            <a:avLst/>
          </a:prstGeom>
          <a:noFill/>
          <a:ln/>
        </p:spPr>
        <p:txBody>
          <a:bodyPr wrap="square" rtlCol="0" anchor="ctr"/>
          <a:lstStyle/>
          <a:p>
            <a:pPr indent="0" marL="0">
              <a:buNone/>
            </a:pPr>
            <a:r>
              <a:rPr lang="en-US" sz="2400" b="1" dirty="0">
                <a:solidFill>
                  <a:srgbClr val="B84A2F"/>
                </a:solidFill>
                <a:latin typeface="PP Mondwest" pitchFamily="34" charset="0"/>
                <a:ea typeface="PP Mondwest" pitchFamily="34" charset="-122"/>
                <a:cs typeface="PP Mondwest" pitchFamily="34" charset="-120"/>
              </a:rPr>
              <a:t>1</a:t>
            </a:r>
            <a:endParaRPr lang="en-US" sz="2400" dirty="0"/>
          </a:p>
        </p:txBody>
      </p:sp>
      <p:sp>
        <p:nvSpPr>
          <p:cNvPr id="11" name="Text 8"/>
          <p:cNvSpPr/>
          <p:nvPr/>
        </p:nvSpPr>
        <p:spPr>
          <a:xfrm>
            <a:off x="731520" y="3749040"/>
            <a:ext cx="1463040" cy="365760"/>
          </a:xfrm>
          <a:prstGeom prst="rect">
            <a:avLst/>
          </a:prstGeom>
          <a:noFill/>
          <a:ln/>
        </p:spPr>
        <p:txBody>
          <a:bodyPr wrap="square" rtlCol="0" anchor="ctr"/>
          <a:lstStyle/>
          <a:p>
            <a:pPr indent="0" marL="0">
              <a:buNone/>
            </a:pPr>
            <a:r>
              <a:rPr lang="en-US" sz="1800" b="1" dirty="0">
                <a:solidFill>
                  <a:srgbClr val="1A1714"/>
                </a:solidFill>
                <a:latin typeface="AT Aero" pitchFamily="34" charset="0"/>
                <a:ea typeface="AT Aero" pitchFamily="34" charset="-122"/>
                <a:cs typeface="AT Aero" pitchFamily="34" charset="-120"/>
              </a:rPr>
              <a:t>US Design</a:t>
            </a:r>
            <a:endParaRPr lang="en-US" sz="1800" dirty="0"/>
          </a:p>
        </p:txBody>
      </p:sp>
      <p:sp>
        <p:nvSpPr>
          <p:cNvPr id="12" name="Text 9"/>
          <p:cNvSpPr/>
          <p:nvPr/>
        </p:nvSpPr>
        <p:spPr>
          <a:xfrm>
            <a:off x="731520" y="4206240"/>
            <a:ext cx="1463040" cy="1097280"/>
          </a:xfrm>
          <a:prstGeom prst="rect">
            <a:avLst/>
          </a:prstGeom>
          <a:noFill/>
          <a:ln/>
        </p:spPr>
        <p:txBody>
          <a:bodyPr wrap="square" rtlCol="0" anchor="ctr"/>
          <a:lstStyle/>
          <a:p>
            <a:pPr indent="0" marL="0">
              <a:buNone/>
            </a:pPr>
            <a:r>
              <a:rPr lang="en-US" sz="1400" dirty="0">
                <a:solidFill>
                  <a:srgbClr val="6B6560"/>
                </a:solidFill>
                <a:latin typeface="AT Aero" pitchFamily="34" charset="0"/>
                <a:ea typeface="AT Aero" pitchFamily="34" charset="-122"/>
                <a:cs typeface="AT Aero" pitchFamily="34" charset="-120"/>
              </a:rPr>
              <a:t>Design &amp; EDA Tools</a:t>
            </a:r>
            <a:endParaRPr lang="en-US" sz="1400" dirty="0"/>
          </a:p>
        </p:txBody>
      </p:sp>
      <p:sp>
        <p:nvSpPr>
          <p:cNvPr id="13" name="Shape 10"/>
          <p:cNvSpPr/>
          <p:nvPr/>
        </p:nvSpPr>
        <p:spPr>
          <a:xfrm>
            <a:off x="2834640" y="3108960"/>
            <a:ext cx="1828800" cy="2377440"/>
          </a:xfrm>
          <a:prstGeom prst="rect">
            <a:avLst/>
          </a:prstGeom>
          <a:solidFill>
            <a:srgbClr val="FFFDF8"/>
          </a:solidFill>
          <a:ln w="12700">
            <a:solidFill>
              <a:srgbClr val="E0D9D0"/>
            </a:solidFill>
            <a:prstDash val="solid"/>
          </a:ln>
        </p:spPr>
      </p:sp>
      <p:sp>
        <p:nvSpPr>
          <p:cNvPr id="14" name="Text 11"/>
          <p:cNvSpPr/>
          <p:nvPr/>
        </p:nvSpPr>
        <p:spPr>
          <a:xfrm>
            <a:off x="3017520" y="3291840"/>
            <a:ext cx="1463040" cy="365760"/>
          </a:xfrm>
          <a:prstGeom prst="rect">
            <a:avLst/>
          </a:prstGeom>
          <a:noFill/>
          <a:ln/>
        </p:spPr>
        <p:txBody>
          <a:bodyPr wrap="square" rtlCol="0" anchor="ctr"/>
          <a:lstStyle/>
          <a:p>
            <a:pPr indent="0" marL="0">
              <a:buNone/>
            </a:pPr>
            <a:r>
              <a:rPr lang="en-US" sz="2400" b="1" dirty="0">
                <a:solidFill>
                  <a:srgbClr val="B84A2F"/>
                </a:solidFill>
                <a:latin typeface="PP Mondwest" pitchFamily="34" charset="0"/>
                <a:ea typeface="PP Mondwest" pitchFamily="34" charset="-122"/>
                <a:cs typeface="PP Mondwest" pitchFamily="34" charset="-120"/>
              </a:rPr>
              <a:t>2</a:t>
            </a:r>
            <a:endParaRPr lang="en-US" sz="2400" dirty="0"/>
          </a:p>
        </p:txBody>
      </p:sp>
      <p:sp>
        <p:nvSpPr>
          <p:cNvPr id="15" name="Text 12"/>
          <p:cNvSpPr/>
          <p:nvPr/>
        </p:nvSpPr>
        <p:spPr>
          <a:xfrm>
            <a:off x="3017520" y="3749040"/>
            <a:ext cx="1463040" cy="365760"/>
          </a:xfrm>
          <a:prstGeom prst="rect">
            <a:avLst/>
          </a:prstGeom>
          <a:noFill/>
          <a:ln/>
        </p:spPr>
        <p:txBody>
          <a:bodyPr wrap="square" rtlCol="0" anchor="ctr"/>
          <a:lstStyle/>
          <a:p>
            <a:pPr indent="0" marL="0">
              <a:buNone/>
            </a:pPr>
            <a:r>
              <a:rPr lang="en-US" sz="1800" b="1" dirty="0">
                <a:solidFill>
                  <a:srgbClr val="1A1714"/>
                </a:solidFill>
                <a:latin typeface="AT Aero" pitchFamily="34" charset="0"/>
                <a:ea typeface="AT Aero" pitchFamily="34" charset="-122"/>
                <a:cs typeface="AT Aero" pitchFamily="34" charset="-120"/>
              </a:rPr>
              <a:t>Dutch SME</a:t>
            </a:r>
            <a:endParaRPr lang="en-US" sz="1800" dirty="0"/>
          </a:p>
        </p:txBody>
      </p:sp>
      <p:sp>
        <p:nvSpPr>
          <p:cNvPr id="16" name="Text 13"/>
          <p:cNvSpPr/>
          <p:nvPr/>
        </p:nvSpPr>
        <p:spPr>
          <a:xfrm>
            <a:off x="3017520" y="4206240"/>
            <a:ext cx="1463040" cy="1097280"/>
          </a:xfrm>
          <a:prstGeom prst="rect">
            <a:avLst/>
          </a:prstGeom>
          <a:noFill/>
          <a:ln/>
        </p:spPr>
        <p:txBody>
          <a:bodyPr wrap="square" rtlCol="0" anchor="ctr"/>
          <a:lstStyle/>
          <a:p>
            <a:pPr indent="0" marL="0">
              <a:buNone/>
            </a:pPr>
            <a:r>
              <a:rPr lang="en-US" sz="1400" dirty="0">
                <a:solidFill>
                  <a:srgbClr val="6B6560"/>
                </a:solidFill>
                <a:latin typeface="AT Aero" pitchFamily="34" charset="0"/>
                <a:ea typeface="AT Aero" pitchFamily="34" charset="-122"/>
                <a:cs typeface="AT Aero" pitchFamily="34" charset="-120"/>
              </a:rPr>
              <a:t>ASML EUV Optics</a:t>
            </a:r>
            <a:endParaRPr lang="en-US" sz="1400" dirty="0"/>
          </a:p>
        </p:txBody>
      </p:sp>
      <p:sp>
        <p:nvSpPr>
          <p:cNvPr id="17" name="Shape 14"/>
          <p:cNvSpPr/>
          <p:nvPr/>
        </p:nvSpPr>
        <p:spPr>
          <a:xfrm>
            <a:off x="5120640" y="3108960"/>
            <a:ext cx="1828800" cy="2377440"/>
          </a:xfrm>
          <a:prstGeom prst="rect">
            <a:avLst/>
          </a:prstGeom>
          <a:solidFill>
            <a:srgbClr val="FFFDF8"/>
          </a:solidFill>
          <a:ln w="12700">
            <a:solidFill>
              <a:srgbClr val="E0D9D0"/>
            </a:solidFill>
            <a:prstDash val="solid"/>
          </a:ln>
        </p:spPr>
      </p:sp>
      <p:sp>
        <p:nvSpPr>
          <p:cNvPr id="18" name="Text 15"/>
          <p:cNvSpPr/>
          <p:nvPr/>
        </p:nvSpPr>
        <p:spPr>
          <a:xfrm>
            <a:off x="5303520" y="3291840"/>
            <a:ext cx="1463040" cy="365760"/>
          </a:xfrm>
          <a:prstGeom prst="rect">
            <a:avLst/>
          </a:prstGeom>
          <a:noFill/>
          <a:ln/>
        </p:spPr>
        <p:txBody>
          <a:bodyPr wrap="square" rtlCol="0" anchor="ctr"/>
          <a:lstStyle/>
          <a:p>
            <a:pPr indent="0" marL="0">
              <a:buNone/>
            </a:pPr>
            <a:r>
              <a:rPr lang="en-US" sz="2400" b="1" dirty="0">
                <a:solidFill>
                  <a:srgbClr val="B84A2F"/>
                </a:solidFill>
                <a:latin typeface="PP Mondwest" pitchFamily="34" charset="0"/>
                <a:ea typeface="PP Mondwest" pitchFamily="34" charset="-122"/>
                <a:cs typeface="PP Mondwest" pitchFamily="34" charset="-120"/>
              </a:rPr>
              <a:t>3</a:t>
            </a:r>
            <a:endParaRPr lang="en-US" sz="2400" dirty="0"/>
          </a:p>
        </p:txBody>
      </p:sp>
      <p:sp>
        <p:nvSpPr>
          <p:cNvPr id="19" name="Text 16"/>
          <p:cNvSpPr/>
          <p:nvPr/>
        </p:nvSpPr>
        <p:spPr>
          <a:xfrm>
            <a:off x="5303520" y="3749040"/>
            <a:ext cx="1463040" cy="365760"/>
          </a:xfrm>
          <a:prstGeom prst="rect">
            <a:avLst/>
          </a:prstGeom>
          <a:noFill/>
          <a:ln/>
        </p:spPr>
        <p:txBody>
          <a:bodyPr wrap="square" rtlCol="0" anchor="ctr"/>
          <a:lstStyle/>
          <a:p>
            <a:pPr indent="0" marL="0">
              <a:buNone/>
            </a:pPr>
            <a:r>
              <a:rPr lang="en-US" sz="1800" b="1" dirty="0">
                <a:solidFill>
                  <a:srgbClr val="1A1714"/>
                </a:solidFill>
                <a:latin typeface="AT Aero" pitchFamily="34" charset="0"/>
                <a:ea typeface="AT Aero" pitchFamily="34" charset="-122"/>
                <a:cs typeface="AT Aero" pitchFamily="34" charset="-120"/>
              </a:rPr>
              <a:t>Taiwan Fab</a:t>
            </a:r>
            <a:endParaRPr lang="en-US" sz="1800" dirty="0"/>
          </a:p>
        </p:txBody>
      </p:sp>
      <p:sp>
        <p:nvSpPr>
          <p:cNvPr id="20" name="Text 17"/>
          <p:cNvSpPr/>
          <p:nvPr/>
        </p:nvSpPr>
        <p:spPr>
          <a:xfrm>
            <a:off x="5303520" y="4206240"/>
            <a:ext cx="1463040" cy="1097280"/>
          </a:xfrm>
          <a:prstGeom prst="rect">
            <a:avLst/>
          </a:prstGeom>
          <a:noFill/>
          <a:ln/>
        </p:spPr>
        <p:txBody>
          <a:bodyPr wrap="square" rtlCol="0" anchor="ctr"/>
          <a:lstStyle/>
          <a:p>
            <a:pPr indent="0" marL="0">
              <a:buNone/>
            </a:pPr>
            <a:r>
              <a:rPr lang="en-US" sz="1400" dirty="0">
                <a:solidFill>
                  <a:srgbClr val="6B6560"/>
                </a:solidFill>
                <a:latin typeface="AT Aero" pitchFamily="34" charset="0"/>
                <a:ea typeface="AT Aero" pitchFamily="34" charset="-122"/>
                <a:cs typeface="AT Aero" pitchFamily="34" charset="-120"/>
              </a:rPr>
              <a:t>TSMC Printing</a:t>
            </a:r>
            <a:endParaRPr lang="en-US" sz="1400" dirty="0"/>
          </a:p>
        </p:txBody>
      </p:sp>
      <p:sp>
        <p:nvSpPr>
          <p:cNvPr id="21" name="Shape 18"/>
          <p:cNvSpPr/>
          <p:nvPr/>
        </p:nvSpPr>
        <p:spPr>
          <a:xfrm>
            <a:off x="7406640" y="3108960"/>
            <a:ext cx="1828800" cy="2377440"/>
          </a:xfrm>
          <a:prstGeom prst="rect">
            <a:avLst/>
          </a:prstGeom>
          <a:solidFill>
            <a:srgbClr val="FFFDF8"/>
          </a:solidFill>
          <a:ln w="12700">
            <a:solidFill>
              <a:srgbClr val="E0D9D0"/>
            </a:solidFill>
            <a:prstDash val="solid"/>
          </a:ln>
        </p:spPr>
      </p:sp>
      <p:sp>
        <p:nvSpPr>
          <p:cNvPr id="22" name="Text 19"/>
          <p:cNvSpPr/>
          <p:nvPr/>
        </p:nvSpPr>
        <p:spPr>
          <a:xfrm>
            <a:off x="7589520" y="3291840"/>
            <a:ext cx="1463040" cy="365760"/>
          </a:xfrm>
          <a:prstGeom prst="rect">
            <a:avLst/>
          </a:prstGeom>
          <a:noFill/>
          <a:ln/>
        </p:spPr>
        <p:txBody>
          <a:bodyPr wrap="square" rtlCol="0" anchor="ctr"/>
          <a:lstStyle/>
          <a:p>
            <a:pPr indent="0" marL="0">
              <a:buNone/>
            </a:pPr>
            <a:r>
              <a:rPr lang="en-US" sz="2400" b="1" dirty="0">
                <a:solidFill>
                  <a:srgbClr val="B84A2F"/>
                </a:solidFill>
                <a:latin typeface="PP Mondwest" pitchFamily="34" charset="0"/>
                <a:ea typeface="PP Mondwest" pitchFamily="34" charset="-122"/>
                <a:cs typeface="PP Mondwest" pitchFamily="34" charset="-120"/>
              </a:rPr>
              <a:t>4</a:t>
            </a:r>
            <a:endParaRPr lang="en-US" sz="2400" dirty="0"/>
          </a:p>
        </p:txBody>
      </p:sp>
      <p:sp>
        <p:nvSpPr>
          <p:cNvPr id="23" name="Text 20"/>
          <p:cNvSpPr/>
          <p:nvPr/>
        </p:nvSpPr>
        <p:spPr>
          <a:xfrm>
            <a:off x="7589520" y="3749040"/>
            <a:ext cx="1463040" cy="365760"/>
          </a:xfrm>
          <a:prstGeom prst="rect">
            <a:avLst/>
          </a:prstGeom>
          <a:noFill/>
          <a:ln/>
        </p:spPr>
        <p:txBody>
          <a:bodyPr wrap="square" rtlCol="0" anchor="ctr"/>
          <a:lstStyle/>
          <a:p>
            <a:pPr indent="0" marL="0">
              <a:buNone/>
            </a:pPr>
            <a:r>
              <a:rPr lang="en-US" sz="1800" b="1" dirty="0">
                <a:solidFill>
                  <a:srgbClr val="1A1714"/>
                </a:solidFill>
                <a:latin typeface="AT Aero" pitchFamily="34" charset="0"/>
                <a:ea typeface="AT Aero" pitchFamily="34" charset="-122"/>
                <a:cs typeface="AT Aero" pitchFamily="34" charset="-120"/>
              </a:rPr>
              <a:t>Japan Material</a:t>
            </a:r>
            <a:endParaRPr lang="en-US" sz="1800" dirty="0"/>
          </a:p>
        </p:txBody>
      </p:sp>
      <p:sp>
        <p:nvSpPr>
          <p:cNvPr id="24" name="Text 21"/>
          <p:cNvSpPr/>
          <p:nvPr/>
        </p:nvSpPr>
        <p:spPr>
          <a:xfrm>
            <a:off x="7589520" y="4206240"/>
            <a:ext cx="1463040" cy="1097280"/>
          </a:xfrm>
          <a:prstGeom prst="rect">
            <a:avLst/>
          </a:prstGeom>
          <a:noFill/>
          <a:ln/>
        </p:spPr>
        <p:txBody>
          <a:bodyPr wrap="square" rtlCol="0" anchor="ctr"/>
          <a:lstStyle/>
          <a:p>
            <a:pPr indent="0" marL="0">
              <a:buNone/>
            </a:pPr>
            <a:r>
              <a:rPr lang="en-US" sz="1400" dirty="0">
                <a:solidFill>
                  <a:srgbClr val="6B6560"/>
                </a:solidFill>
                <a:latin typeface="AT Aero" pitchFamily="34" charset="0"/>
                <a:ea typeface="AT Aero" pitchFamily="34" charset="-122"/>
                <a:cs typeface="AT Aero" pitchFamily="34" charset="-120"/>
              </a:rPr>
              <a:t>Wafers &amp; Photoresist</a:t>
            </a:r>
            <a:endParaRPr lang="en-US" sz="1400" dirty="0"/>
          </a:p>
        </p:txBody>
      </p:sp>
      <p:sp>
        <p:nvSpPr>
          <p:cNvPr id="25" name="Shape 22"/>
          <p:cNvSpPr/>
          <p:nvPr/>
        </p:nvSpPr>
        <p:spPr>
          <a:xfrm>
            <a:off x="9692640" y="3108960"/>
            <a:ext cx="1828800" cy="2377440"/>
          </a:xfrm>
          <a:prstGeom prst="rect">
            <a:avLst/>
          </a:prstGeom>
          <a:solidFill>
            <a:srgbClr val="FFFDF8"/>
          </a:solidFill>
          <a:ln w="12700">
            <a:solidFill>
              <a:srgbClr val="E0D9D0"/>
            </a:solidFill>
            <a:prstDash val="solid"/>
          </a:ln>
        </p:spPr>
      </p:sp>
      <p:sp>
        <p:nvSpPr>
          <p:cNvPr id="26" name="Text 23"/>
          <p:cNvSpPr/>
          <p:nvPr/>
        </p:nvSpPr>
        <p:spPr>
          <a:xfrm>
            <a:off x="9875520" y="3291840"/>
            <a:ext cx="1463040" cy="365760"/>
          </a:xfrm>
          <a:prstGeom prst="rect">
            <a:avLst/>
          </a:prstGeom>
          <a:noFill/>
          <a:ln/>
        </p:spPr>
        <p:txBody>
          <a:bodyPr wrap="square" rtlCol="0" anchor="ctr"/>
          <a:lstStyle/>
          <a:p>
            <a:pPr indent="0" marL="0">
              <a:buNone/>
            </a:pPr>
            <a:r>
              <a:rPr lang="en-US" sz="2400" b="1" dirty="0">
                <a:solidFill>
                  <a:srgbClr val="B84A2F"/>
                </a:solidFill>
                <a:latin typeface="PP Mondwest" pitchFamily="34" charset="0"/>
                <a:ea typeface="PP Mondwest" pitchFamily="34" charset="-122"/>
                <a:cs typeface="PP Mondwest" pitchFamily="34" charset="-120"/>
              </a:rPr>
              <a:t>5</a:t>
            </a:r>
            <a:endParaRPr lang="en-US" sz="2400" dirty="0"/>
          </a:p>
        </p:txBody>
      </p:sp>
      <p:sp>
        <p:nvSpPr>
          <p:cNvPr id="27" name="Text 24"/>
          <p:cNvSpPr/>
          <p:nvPr/>
        </p:nvSpPr>
        <p:spPr>
          <a:xfrm>
            <a:off x="9875520" y="3749040"/>
            <a:ext cx="1463040" cy="365760"/>
          </a:xfrm>
          <a:prstGeom prst="rect">
            <a:avLst/>
          </a:prstGeom>
          <a:noFill/>
          <a:ln/>
        </p:spPr>
        <p:txBody>
          <a:bodyPr wrap="square" rtlCol="0" anchor="ctr"/>
          <a:lstStyle/>
          <a:p>
            <a:pPr indent="0" marL="0">
              <a:buNone/>
            </a:pPr>
            <a:r>
              <a:rPr lang="en-US" sz="1800" b="1" dirty="0">
                <a:solidFill>
                  <a:srgbClr val="1A1714"/>
                </a:solidFill>
                <a:latin typeface="AT Aero" pitchFamily="34" charset="0"/>
                <a:ea typeface="AT Aero" pitchFamily="34" charset="-122"/>
                <a:cs typeface="AT Aero" pitchFamily="34" charset="-120"/>
              </a:rPr>
              <a:t>SE Asia Pack</a:t>
            </a:r>
            <a:endParaRPr lang="en-US" sz="1800" dirty="0"/>
          </a:p>
        </p:txBody>
      </p:sp>
      <p:sp>
        <p:nvSpPr>
          <p:cNvPr id="28" name="Text 25"/>
          <p:cNvSpPr/>
          <p:nvPr/>
        </p:nvSpPr>
        <p:spPr>
          <a:xfrm>
            <a:off x="9875520" y="4206240"/>
            <a:ext cx="1463040" cy="1097280"/>
          </a:xfrm>
          <a:prstGeom prst="rect">
            <a:avLst/>
          </a:prstGeom>
          <a:noFill/>
          <a:ln/>
        </p:spPr>
        <p:txBody>
          <a:bodyPr wrap="square" rtlCol="0" anchor="ctr"/>
          <a:lstStyle/>
          <a:p>
            <a:pPr indent="0" marL="0">
              <a:buNone/>
            </a:pPr>
            <a:r>
              <a:rPr lang="en-US" sz="1400" dirty="0">
                <a:solidFill>
                  <a:srgbClr val="6B6560"/>
                </a:solidFill>
                <a:latin typeface="AT Aero" pitchFamily="34" charset="0"/>
                <a:ea typeface="AT Aero" pitchFamily="34" charset="-122"/>
                <a:cs typeface="AT Aero" pitchFamily="34" charset="-120"/>
              </a:rPr>
              <a:t>OSAT Assembly</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T Aero" pitchFamily="34" charset="0"/>
                <a:ea typeface="AT Aero" pitchFamily="34" charset="-122"/>
                <a:cs typeface="AT Aero" pitchFamily="34" charset="-120"/>
              </a:rPr>
              <a:t>PART 2: THE GLOBAL SUPPLY CHAIN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Architecture of the Global Value Chain (GVC)</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T Aero" pitchFamily="34" charset="0"/>
                <a:ea typeface="AT Aero" pitchFamily="34" charset="-122"/>
                <a:cs typeface="AT Aero" pitchFamily="34" charset="-120"/>
              </a:rPr>
              <a:t>The 2026 Semiconductor Ecosystem | Slide 07</a:t>
            </a:r>
            <a:endParaRPr lang="en-US" sz="1000" dirty="0"/>
          </a:p>
        </p:txBody>
      </p:sp>
      <p:sp>
        <p:nvSpPr>
          <p:cNvPr id="6" name="Shape 3"/>
          <p:cNvSpPr/>
          <p:nvPr/>
        </p:nvSpPr>
        <p:spPr>
          <a:xfrm>
            <a:off x="548640" y="1371600"/>
            <a:ext cx="6583680" cy="914400"/>
          </a:xfrm>
          <a:prstGeom prst="rect">
            <a:avLst/>
          </a:prstGeom>
          <a:solidFill>
            <a:srgbClr val="FFFDF8"/>
          </a:solidFill>
          <a:ln w="19050">
            <a:solidFill>
              <a:srgbClr val="9E7D84"/>
            </a:solidFill>
            <a:prstDash val="solid"/>
          </a:ln>
        </p:spPr>
      </p:sp>
      <p:sp>
        <p:nvSpPr>
          <p:cNvPr id="7" name="Text 4"/>
          <p:cNvSpPr/>
          <p:nvPr/>
        </p:nvSpPr>
        <p:spPr>
          <a:xfrm>
            <a:off x="731520" y="1463040"/>
            <a:ext cx="6217920" cy="731520"/>
          </a:xfrm>
          <a:prstGeom prst="rect">
            <a:avLst/>
          </a:prstGeom>
          <a:noFill/>
          <a:ln/>
        </p:spPr>
        <p:txBody>
          <a:bodyPr wrap="square" rtlCol="0" anchor="ctr"/>
          <a:lstStyle/>
          <a:p>
            <a:pPr indent="0" marL="0">
              <a:buNone/>
            </a:pPr>
            <a:r>
              <a:rPr lang="en-US" sz="1800" b="1" i="1" dirty="0">
                <a:solidFill>
                  <a:srgbClr val="9E7D84"/>
                </a:solidFill>
                <a:latin typeface="AT Aero" pitchFamily="34" charset="0"/>
                <a:ea typeface="AT Aero" pitchFamily="34" charset="-122"/>
                <a:cs typeface="AT Aero" pitchFamily="34" charset="-120"/>
              </a:rPr>
              <a:t>Key Message: Value is highly concentrated in specialized clusters: U.S. (Design), Europe (Equipment), and East Asia (Manufacturing).</a:t>
            </a:r>
            <a:endParaRPr lang="en-US" sz="1800" dirty="0"/>
          </a:p>
        </p:txBody>
      </p:sp>
      <p:sp>
        <p:nvSpPr>
          <p:cNvPr id="8" name="Text 5"/>
          <p:cNvSpPr/>
          <p:nvPr/>
        </p:nvSpPr>
        <p:spPr>
          <a:xfrm>
            <a:off x="548640" y="2560320"/>
            <a:ext cx="6583680" cy="3474720"/>
          </a:xfrm>
          <a:prstGeom prst="rect">
            <a:avLst/>
          </a:prstGeom>
          <a:noFill/>
          <a:ln/>
        </p:spPr>
        <p:txBody>
          <a:bodyPr wrap="square" rtlCol="0" anchor="ctr"/>
          <a:lstStyle/>
          <a:p>
            <a:pPr marL="342900" indent="-342900">
              <a:buSzPct val="100000"/>
              <a:buChar char="•"/>
            </a:pPr>
            <a:r>
              <a:rPr lang="en-US" sz="1800" dirty="0">
                <a:solidFill>
                  <a:srgbClr val="6B6560"/>
                </a:solidFill>
                <a:latin typeface="AT Aero" pitchFamily="34" charset="0"/>
                <a:ea typeface="AT Aero" pitchFamily="34" charset="-122"/>
                <a:cs typeface="AT Aero" pitchFamily="34" charset="-120"/>
              </a:rPr>
              <a:t>- Design &amp; EDA (United States): Dominance in core processor blueprints and layout compiler systems (NVIDIA, Apple, Qualcomm).</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T Aero" pitchFamily="34" charset="0"/>
                <a:ea typeface="AT Aero" pitchFamily="34" charset="-122"/>
                <a:cs typeface="AT Aero" pitchFamily="34" charset="-120"/>
              </a:rPr>
              <a:t>- SME Equipment (Europe): Monopoly on Extreme Ultraviolet tools (ASML) required to etch sub-7nm circuit nodes.</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T Aero" pitchFamily="34" charset="0"/>
                <a:ea typeface="AT Aero" pitchFamily="34" charset="-122"/>
                <a:cs typeface="AT Aero" pitchFamily="34" charset="-120"/>
              </a:rPr>
              <a:t>- Wafer Fabrication (East Asia): TSMC (Taiwan) and Samsung (Korea) form the production base for global advanced nodes.</a:t>
            </a:r>
            <a:endParaRPr lang="en-US" sz="1800" dirty="0"/>
          </a:p>
        </p:txBody>
      </p:sp>
      <p:sp>
        <p:nvSpPr>
          <p:cNvPr id="9" name="Shape 6"/>
          <p:cNvSpPr/>
          <p:nvPr/>
        </p:nvSpPr>
        <p:spPr>
          <a:xfrm>
            <a:off x="7680960" y="1371600"/>
            <a:ext cx="3840480" cy="2103120"/>
          </a:xfrm>
          <a:prstGeom prst="rect">
            <a:avLst/>
          </a:prstGeom>
          <a:solidFill>
            <a:srgbClr val="FFFDF8"/>
          </a:solidFill>
          <a:ln w="12700">
            <a:solidFill>
              <a:srgbClr val="B84A2F"/>
            </a:solidFill>
            <a:prstDash val="solid"/>
          </a:ln>
        </p:spPr>
      </p:sp>
      <p:sp>
        <p:nvSpPr>
          <p:cNvPr id="10" name="Text 7"/>
          <p:cNvSpPr/>
          <p:nvPr/>
        </p:nvSpPr>
        <p:spPr>
          <a:xfrm>
            <a:off x="7863840" y="1554480"/>
            <a:ext cx="3474720" cy="1737360"/>
          </a:xfrm>
          <a:prstGeom prst="rect">
            <a:avLst/>
          </a:prstGeom>
          <a:noFill/>
          <a:ln/>
        </p:spPr>
        <p:txBody>
          <a:bodyPr wrap="square" rtlCol="0" anchor="ctr"/>
          <a:lstStyle/>
          <a:p>
            <a:pPr indent="0" marL="0">
              <a:buNone/>
            </a:pPr>
            <a:r>
              <a:rPr lang="en-US" sz="1600" dirty="0">
                <a:solidFill>
                  <a:srgbClr val="6B6560"/>
                </a:solidFill>
                <a:latin typeface="AT Aero" pitchFamily="34" charset="0"/>
                <a:ea typeface="AT Aero" pitchFamily="34" charset="-122"/>
                <a:cs typeface="AT Aero" pitchFamily="34" charset="-120"/>
              </a:rPr>
              <a:t>USA: Design IP</a:t>
            </a:r>
            <a:endParaRPr lang="en-US" sz="1600" dirty="0"/>
          </a:p>
          <a:p>
            <a:pPr indent="0" marL="0">
              <a:buNone/>
            </a:pPr>
            <a:endParaRPr lang="en-US" sz="1600" dirty="0"/>
          </a:p>
          <a:p>
            <a:pPr indent="0" marL="0">
              <a:buNone/>
            </a:pPr>
            <a:r>
              <a:rPr lang="en-US" sz="1600" dirty="0">
                <a:solidFill>
                  <a:srgbClr val="6B6560"/>
                </a:solidFill>
                <a:latin typeface="AT Aero" pitchFamily="34" charset="0"/>
                <a:ea typeface="AT Aero" pitchFamily="34" charset="-122"/>
                <a:cs typeface="AT Aero" pitchFamily="34" charset="-120"/>
              </a:rPr>
              <a:t>80%+ market share in advanced EDA software tools.</a:t>
            </a:r>
            <a:endParaRPr lang="en-US" sz="1600" dirty="0"/>
          </a:p>
        </p:txBody>
      </p:sp>
      <p:sp>
        <p:nvSpPr>
          <p:cNvPr id="11" name="Shape 8"/>
          <p:cNvSpPr/>
          <p:nvPr/>
        </p:nvSpPr>
        <p:spPr>
          <a:xfrm>
            <a:off x="7680960" y="3840480"/>
            <a:ext cx="3840480" cy="2103120"/>
          </a:xfrm>
          <a:prstGeom prst="rect">
            <a:avLst/>
          </a:prstGeom>
          <a:solidFill>
            <a:srgbClr val="FFFDF8"/>
          </a:solidFill>
          <a:ln w="12700">
            <a:solidFill>
              <a:srgbClr val="9E7D84"/>
            </a:solidFill>
            <a:prstDash val="solid"/>
          </a:ln>
        </p:spPr>
      </p:sp>
      <p:sp>
        <p:nvSpPr>
          <p:cNvPr id="12" name="Text 9"/>
          <p:cNvSpPr/>
          <p:nvPr/>
        </p:nvSpPr>
        <p:spPr>
          <a:xfrm>
            <a:off x="7863840" y="4023360"/>
            <a:ext cx="3474720" cy="1737360"/>
          </a:xfrm>
          <a:prstGeom prst="rect">
            <a:avLst/>
          </a:prstGeom>
          <a:noFill/>
          <a:ln/>
        </p:spPr>
        <p:txBody>
          <a:bodyPr wrap="square" rtlCol="0" anchor="ctr"/>
          <a:lstStyle/>
          <a:p>
            <a:pPr indent="0" marL="0">
              <a:buNone/>
            </a:pPr>
            <a:r>
              <a:rPr lang="en-US" sz="1600" dirty="0">
                <a:solidFill>
                  <a:srgbClr val="6B6560"/>
                </a:solidFill>
                <a:latin typeface="AT Aero" pitchFamily="34" charset="0"/>
                <a:ea typeface="AT Aero" pitchFamily="34" charset="-122"/>
                <a:cs typeface="AT Aero" pitchFamily="34" charset="-120"/>
              </a:rPr>
              <a:t>ASML (EU): Lithography</a:t>
            </a:r>
            <a:endParaRPr lang="en-US" sz="1600" dirty="0"/>
          </a:p>
          <a:p>
            <a:pPr indent="0" marL="0">
              <a:buNone/>
            </a:pPr>
            <a:endParaRPr lang="en-US" sz="1600" dirty="0"/>
          </a:p>
          <a:p>
            <a:pPr indent="0" marL="0">
              <a:buNone/>
            </a:pPr>
            <a:r>
              <a:rPr lang="en-US" sz="1600" dirty="0">
                <a:solidFill>
                  <a:srgbClr val="6B6560"/>
                </a:solidFill>
                <a:latin typeface="AT Aero" pitchFamily="34" charset="0"/>
                <a:ea typeface="AT Aero" pitchFamily="34" charset="-122"/>
                <a:cs typeface="AT Aero" pitchFamily="34" charset="-120"/>
              </a:rPr>
              <a:t>100% monopsony on EUV printing technology.</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T Aero" pitchFamily="34" charset="0"/>
                <a:ea typeface="AT Aero" pitchFamily="34" charset="-122"/>
                <a:cs typeface="AT Aero" pitchFamily="34" charset="-120"/>
              </a:rPr>
              <a:t>PART 2: THE GLOBAL SUPPLY CHAIN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Front-End &amp; Back-End Bottlenecks</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T Aero" pitchFamily="34" charset="0"/>
                <a:ea typeface="AT Aero" pitchFamily="34" charset="-122"/>
                <a:cs typeface="AT Aero" pitchFamily="34" charset="-120"/>
              </a:rPr>
              <a:t>The 2026 Semiconductor Ecosystem | Slide 08</a:t>
            </a:r>
            <a:endParaRPr lang="en-US" sz="1000" dirty="0"/>
          </a:p>
        </p:txBody>
      </p:sp>
      <p:sp>
        <p:nvSpPr>
          <p:cNvPr id="6" name="Shape 3"/>
          <p:cNvSpPr/>
          <p:nvPr/>
        </p:nvSpPr>
        <p:spPr>
          <a:xfrm>
            <a:off x="548640" y="1371600"/>
            <a:ext cx="10972800" cy="914400"/>
          </a:xfrm>
          <a:prstGeom prst="rect">
            <a:avLst/>
          </a:prstGeom>
          <a:solidFill>
            <a:srgbClr val="FFFDF8"/>
          </a:solidFill>
          <a:ln w="19050">
            <a:solidFill>
              <a:srgbClr val="768C7C"/>
            </a:solidFill>
            <a:prstDash val="solid"/>
          </a:ln>
        </p:spPr>
      </p:sp>
      <p:sp>
        <p:nvSpPr>
          <p:cNvPr id="7" name="Text 4"/>
          <p:cNvSpPr/>
          <p:nvPr/>
        </p:nvSpPr>
        <p:spPr>
          <a:xfrm>
            <a:off x="731520" y="1463040"/>
            <a:ext cx="10607040" cy="731520"/>
          </a:xfrm>
          <a:prstGeom prst="rect">
            <a:avLst/>
          </a:prstGeom>
          <a:noFill/>
          <a:ln/>
        </p:spPr>
        <p:txBody>
          <a:bodyPr wrap="square" rtlCol="0" anchor="ctr"/>
          <a:lstStyle/>
          <a:p>
            <a:pPr indent="0" marL="0">
              <a:buNone/>
            </a:pPr>
            <a:r>
              <a:rPr lang="en-US" sz="1800" b="1" i="1" dirty="0">
                <a:solidFill>
                  <a:srgbClr val="768C7C"/>
                </a:solidFill>
                <a:latin typeface="AT Aero" pitchFamily="34" charset="0"/>
                <a:ea typeface="AT Aero" pitchFamily="34" charset="-122"/>
                <a:cs typeface="AT Aero" pitchFamily="34" charset="-120"/>
              </a:rPr>
              <a:t>Key Message: Advanced packaging (CoWoS, 3D Stacking) is the new primary growth limiter for the AI industry.</a:t>
            </a:r>
            <a:endParaRPr lang="en-US" sz="1800" dirty="0"/>
          </a:p>
        </p:txBody>
      </p:sp>
      <p:sp>
        <p:nvSpPr>
          <p:cNvPr id="8" name="Shape 5"/>
          <p:cNvSpPr/>
          <p:nvPr/>
        </p:nvSpPr>
        <p:spPr>
          <a:xfrm>
            <a:off x="548640" y="2560320"/>
            <a:ext cx="5212080" cy="2377440"/>
          </a:xfrm>
          <a:prstGeom prst="rect">
            <a:avLst/>
          </a:prstGeom>
          <a:solidFill>
            <a:srgbClr val="FFFDF8"/>
          </a:solidFill>
          <a:ln w="12700">
            <a:solidFill>
              <a:srgbClr val="B84A2F"/>
            </a:solidFill>
            <a:prstDash val="solid"/>
          </a:ln>
        </p:spPr>
      </p:sp>
      <p:sp>
        <p:nvSpPr>
          <p:cNvPr id="9" name="Text 6"/>
          <p:cNvSpPr/>
          <p:nvPr/>
        </p:nvSpPr>
        <p:spPr>
          <a:xfrm>
            <a:off x="822960" y="2743200"/>
            <a:ext cx="4663440" cy="365760"/>
          </a:xfrm>
          <a:prstGeom prst="rect">
            <a:avLst/>
          </a:prstGeom>
          <a:noFill/>
          <a:ln/>
        </p:spPr>
        <p:txBody>
          <a:bodyPr wrap="square" rtlCol="0" anchor="ctr"/>
          <a:lstStyle/>
          <a:p>
            <a:pPr indent="0" marL="0">
              <a:buNone/>
            </a:pPr>
            <a:r>
              <a:rPr lang="en-US" sz="2000" b="1" dirty="0">
                <a:solidFill>
                  <a:srgbClr val="B84A2F"/>
                </a:solidFill>
                <a:latin typeface="PP Mondwest" pitchFamily="34" charset="0"/>
                <a:ea typeface="PP Mondwest" pitchFamily="34" charset="-122"/>
                <a:cs typeface="PP Mondwest" pitchFamily="34" charset="-120"/>
              </a:rPr>
              <a:t>Front-End: Node Scaling</a:t>
            </a:r>
            <a:endParaRPr lang="en-US" sz="2000" dirty="0"/>
          </a:p>
        </p:txBody>
      </p:sp>
      <p:sp>
        <p:nvSpPr>
          <p:cNvPr id="10" name="Text 7"/>
          <p:cNvSpPr/>
          <p:nvPr/>
        </p:nvSpPr>
        <p:spPr>
          <a:xfrm>
            <a:off x="822960" y="3291840"/>
            <a:ext cx="4663440" cy="1371600"/>
          </a:xfrm>
          <a:prstGeom prst="rect">
            <a:avLst/>
          </a:prstGeom>
          <a:noFill/>
          <a:ln/>
        </p:spPr>
        <p:txBody>
          <a:bodyPr wrap="square" rtlCol="0" anchor="ctr"/>
          <a:lstStyle/>
          <a:p>
            <a:pPr indent="0" marL="0">
              <a:buNone/>
            </a:pPr>
            <a:r>
              <a:rPr lang="en-US" sz="1800" dirty="0">
                <a:solidFill>
                  <a:srgbClr val="6B6560"/>
                </a:solidFill>
                <a:latin typeface="AT Aero" pitchFamily="34" charset="0"/>
                <a:ea typeface="AT Aero" pitchFamily="34" charset="-122"/>
                <a:cs typeface="AT Aero" pitchFamily="34" charset="-120"/>
              </a:rPr>
              <a:t>The race for the 2nm and 1.4nm nodes continues to demand immense capital investments for wafer fabrication lines.</a:t>
            </a:r>
            <a:endParaRPr lang="en-US" sz="1800" dirty="0"/>
          </a:p>
        </p:txBody>
      </p:sp>
      <p:sp>
        <p:nvSpPr>
          <p:cNvPr id="11" name="Shape 8"/>
          <p:cNvSpPr/>
          <p:nvPr/>
        </p:nvSpPr>
        <p:spPr>
          <a:xfrm>
            <a:off x="6309360" y="2560320"/>
            <a:ext cx="5212080" cy="2377440"/>
          </a:xfrm>
          <a:prstGeom prst="rect">
            <a:avLst/>
          </a:prstGeom>
          <a:solidFill>
            <a:srgbClr val="FFFDF8"/>
          </a:solidFill>
          <a:ln w="12700">
            <a:solidFill>
              <a:srgbClr val="768C7C"/>
            </a:solidFill>
            <a:prstDash val="solid"/>
          </a:ln>
        </p:spPr>
      </p:sp>
      <p:sp>
        <p:nvSpPr>
          <p:cNvPr id="12" name="Text 9"/>
          <p:cNvSpPr/>
          <p:nvPr/>
        </p:nvSpPr>
        <p:spPr>
          <a:xfrm>
            <a:off x="6583680" y="2743200"/>
            <a:ext cx="4663440" cy="365760"/>
          </a:xfrm>
          <a:prstGeom prst="rect">
            <a:avLst/>
          </a:prstGeom>
          <a:noFill/>
          <a:ln/>
        </p:spPr>
        <p:txBody>
          <a:bodyPr wrap="square" rtlCol="0" anchor="ctr"/>
          <a:lstStyle/>
          <a:p>
            <a:pPr indent="0" marL="0">
              <a:buNone/>
            </a:pPr>
            <a:r>
              <a:rPr lang="en-US" sz="2000" b="1" dirty="0">
                <a:solidFill>
                  <a:srgbClr val="768C7C"/>
                </a:solidFill>
                <a:latin typeface="PP Mondwest" pitchFamily="34" charset="0"/>
                <a:ea typeface="PP Mondwest" pitchFamily="34" charset="-122"/>
                <a:cs typeface="PP Mondwest" pitchFamily="34" charset="-120"/>
              </a:rPr>
              <a:t>Back-End: Advanced Packaging Chokepoint</a:t>
            </a:r>
            <a:endParaRPr lang="en-US" sz="2000" dirty="0"/>
          </a:p>
        </p:txBody>
      </p:sp>
      <p:sp>
        <p:nvSpPr>
          <p:cNvPr id="13" name="Text 10"/>
          <p:cNvSpPr/>
          <p:nvPr/>
        </p:nvSpPr>
        <p:spPr>
          <a:xfrm>
            <a:off x="6583680" y="3291840"/>
            <a:ext cx="4663440" cy="1371600"/>
          </a:xfrm>
          <a:prstGeom prst="rect">
            <a:avLst/>
          </a:prstGeom>
          <a:noFill/>
          <a:ln/>
        </p:spPr>
        <p:txBody>
          <a:bodyPr wrap="square" rtlCol="0" anchor="ctr"/>
          <a:lstStyle/>
          <a:p>
            <a:pPr indent="0" marL="0">
              <a:buNone/>
            </a:pPr>
            <a:r>
              <a:rPr lang="en-US" sz="1800" dirty="0">
                <a:solidFill>
                  <a:srgbClr val="6B6560"/>
                </a:solidFill>
                <a:latin typeface="AT Aero" pitchFamily="34" charset="0"/>
                <a:ea typeface="AT Aero" pitchFamily="34" charset="-122"/>
                <a:cs typeface="AT Aero" pitchFamily="34" charset="-120"/>
              </a:rPr>
              <a:t>Integrating multiple logic dies and High Bandwidth Memory (HBM) via CoWoS interposers is more constrained than wafer printing.</a:t>
            </a:r>
            <a:endParaRPr lang="en-US" sz="1800" dirty="0"/>
          </a:p>
        </p:txBody>
      </p:sp>
      <p:sp>
        <p:nvSpPr>
          <p:cNvPr id="14" name="Shape 11"/>
          <p:cNvSpPr/>
          <p:nvPr/>
        </p:nvSpPr>
        <p:spPr>
          <a:xfrm>
            <a:off x="548640" y="5212080"/>
            <a:ext cx="10972800" cy="822960"/>
          </a:xfrm>
          <a:prstGeom prst="rect">
            <a:avLst/>
          </a:prstGeom>
          <a:solidFill>
            <a:srgbClr val="FFFDF8"/>
          </a:solidFill>
          <a:ln w="12700">
            <a:solidFill>
              <a:srgbClr val="768C7C"/>
            </a:solidFill>
            <a:prstDash val="solid"/>
          </a:ln>
        </p:spPr>
      </p:sp>
      <p:sp>
        <p:nvSpPr>
          <p:cNvPr id="15" name="Text 12"/>
          <p:cNvSpPr/>
          <p:nvPr/>
        </p:nvSpPr>
        <p:spPr>
          <a:xfrm>
            <a:off x="731520" y="5303520"/>
            <a:ext cx="10607040" cy="640080"/>
          </a:xfrm>
          <a:prstGeom prst="rect">
            <a:avLst/>
          </a:prstGeom>
          <a:noFill/>
          <a:ln/>
        </p:spPr>
        <p:txBody>
          <a:bodyPr wrap="square" rtlCol="0" anchor="ctr"/>
          <a:lstStyle/>
          <a:p>
            <a:pPr indent="0" marL="0">
              <a:buNone/>
            </a:pPr>
            <a:r>
              <a:rPr lang="en-US" sz="1500" dirty="0">
                <a:solidFill>
                  <a:srgbClr val="6B6560"/>
                </a:solidFill>
                <a:latin typeface="AT Aero" pitchFamily="34" charset="0"/>
                <a:ea typeface="AT Aero" pitchFamily="34" charset="-122"/>
                <a:cs typeface="AT Aero" pitchFamily="34" charset="-120"/>
              </a:rPr>
              <a:t>Logistics bottleneck: Reaching target AI yields depends heavily on advanced back-end capacity, not just front-end print nodes.</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T Aero" pitchFamily="34" charset="0"/>
                <a:ea typeface="AT Aero" pitchFamily="34" charset="-122"/>
                <a:cs typeface="AT Aero" pitchFamily="34" charset="-120"/>
              </a:rPr>
              <a:t>PART 2: THE GLOBAL SUPPLY CHAIN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SME, Materials &amp; Geopolitical Fragmentation</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T Aero" pitchFamily="34" charset="0"/>
                <a:ea typeface="AT Aero" pitchFamily="34" charset="-122"/>
                <a:cs typeface="AT Aero" pitchFamily="34" charset="-120"/>
              </a:rPr>
              <a:t>The 2026 Semiconductor Ecosystem | Slide 09</a:t>
            </a:r>
            <a:endParaRPr lang="en-US" sz="1000" dirty="0"/>
          </a:p>
        </p:txBody>
      </p:sp>
      <p:sp>
        <p:nvSpPr>
          <p:cNvPr id="6" name="Shape 3"/>
          <p:cNvSpPr/>
          <p:nvPr/>
        </p:nvSpPr>
        <p:spPr>
          <a:xfrm>
            <a:off x="548640" y="1371600"/>
            <a:ext cx="6583680" cy="914400"/>
          </a:xfrm>
          <a:prstGeom prst="rect">
            <a:avLst/>
          </a:prstGeom>
          <a:solidFill>
            <a:srgbClr val="FFFDF8"/>
          </a:solidFill>
          <a:ln w="19050">
            <a:solidFill>
              <a:srgbClr val="B84A2F"/>
            </a:solidFill>
            <a:prstDash val="solid"/>
          </a:ln>
        </p:spPr>
      </p:sp>
      <p:sp>
        <p:nvSpPr>
          <p:cNvPr id="7" name="Text 4"/>
          <p:cNvSpPr/>
          <p:nvPr/>
        </p:nvSpPr>
        <p:spPr>
          <a:xfrm>
            <a:off x="731520" y="1463040"/>
            <a:ext cx="6217920" cy="731520"/>
          </a:xfrm>
          <a:prstGeom prst="rect">
            <a:avLst/>
          </a:prstGeom>
          <a:noFill/>
          <a:ln/>
        </p:spPr>
        <p:txBody>
          <a:bodyPr wrap="square" rtlCol="0" anchor="ctr"/>
          <a:lstStyle/>
          <a:p>
            <a:pPr indent="0" marL="0">
              <a:buNone/>
            </a:pPr>
            <a:r>
              <a:rPr lang="en-US" sz="1800" b="1" i="1" dirty="0">
                <a:solidFill>
                  <a:srgbClr val="B84A2F"/>
                </a:solidFill>
                <a:latin typeface="AT Aero" pitchFamily="34" charset="0"/>
                <a:ea typeface="AT Aero" pitchFamily="34" charset="-122"/>
                <a:cs typeface="AT Aero" pitchFamily="34" charset="-120"/>
              </a:rPr>
              <a:t>Key Message: Geopolitics has created a "Multi-Polar" silicon world, where export controls and subsidies drive regionalization.</a:t>
            </a:r>
            <a:endParaRPr lang="en-US" sz="1800" dirty="0"/>
          </a:p>
        </p:txBody>
      </p:sp>
      <p:sp>
        <p:nvSpPr>
          <p:cNvPr id="8" name="Text 5"/>
          <p:cNvSpPr/>
          <p:nvPr/>
        </p:nvSpPr>
        <p:spPr>
          <a:xfrm>
            <a:off x="548640" y="2560320"/>
            <a:ext cx="6583680" cy="3474720"/>
          </a:xfrm>
          <a:prstGeom prst="rect">
            <a:avLst/>
          </a:prstGeom>
          <a:noFill/>
          <a:ln/>
        </p:spPr>
        <p:txBody>
          <a:bodyPr wrap="square" rtlCol="0" anchor="ctr"/>
          <a:lstStyle/>
          <a:p>
            <a:pPr marL="342900" indent="-342900">
              <a:buSzPct val="100000"/>
              <a:buChar char="•"/>
            </a:pPr>
            <a:r>
              <a:rPr lang="en-US" sz="1800" dirty="0">
                <a:solidFill>
                  <a:srgbClr val="6B6560"/>
                </a:solidFill>
                <a:latin typeface="AT Aero" pitchFamily="34" charset="0"/>
                <a:ea typeface="AT Aero" pitchFamily="34" charset="-122"/>
                <a:cs typeface="AT Aero" pitchFamily="34" charset="-120"/>
              </a:rPr>
              <a:t>- The US CHIPS Act ($52B): Funding the domestic establishment of advanced logic fabs to balance East Asian concentration.</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T Aero" pitchFamily="34" charset="0"/>
                <a:ea typeface="AT Aero" pitchFamily="34" charset="-122"/>
                <a:cs typeface="AT Aero" pitchFamily="34" charset="-120"/>
              </a:rPr>
              <a:t>- Europe &amp; China Reshoring: Multi-billion dollar state-supported programs targeting semiconductor in-sourcing.</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T Aero" pitchFamily="34" charset="0"/>
                <a:ea typeface="AT Aero" pitchFamily="34" charset="-122"/>
                <a:cs typeface="AT Aero" pitchFamily="34" charset="-120"/>
              </a:rPr>
              <a:t>- Material Chokepoints: Strict export controls placed on critical trace materials like Gallium and Germanium.</a:t>
            </a:r>
            <a:endParaRPr lang="en-US" sz="1800" dirty="0"/>
          </a:p>
        </p:txBody>
      </p:sp>
      <p:sp>
        <p:nvSpPr>
          <p:cNvPr id="9" name="Shape 6"/>
          <p:cNvSpPr/>
          <p:nvPr/>
        </p:nvSpPr>
        <p:spPr>
          <a:xfrm>
            <a:off x="7680960" y="1371600"/>
            <a:ext cx="3840480" cy="4572000"/>
          </a:xfrm>
          <a:prstGeom prst="rect">
            <a:avLst/>
          </a:prstGeom>
          <a:solidFill>
            <a:srgbClr val="FFFDF8"/>
          </a:solidFill>
          <a:ln w="12700">
            <a:solidFill>
              <a:srgbClr val="B84A2F"/>
            </a:solidFill>
            <a:prstDash val="solid"/>
          </a:ln>
        </p:spPr>
      </p:sp>
      <p:sp>
        <p:nvSpPr>
          <p:cNvPr id="10" name="Text 7"/>
          <p:cNvSpPr/>
          <p:nvPr/>
        </p:nvSpPr>
        <p:spPr>
          <a:xfrm>
            <a:off x="7680960" y="2011680"/>
            <a:ext cx="3840480" cy="365760"/>
          </a:xfrm>
          <a:prstGeom prst="rect">
            <a:avLst/>
          </a:prstGeom>
          <a:noFill/>
          <a:ln/>
        </p:spPr>
        <p:txBody>
          <a:bodyPr wrap="square" rtlCol="0" anchor="ctr"/>
          <a:lstStyle/>
          <a:p>
            <a:pPr algn="ctr" indent="0" marL="0">
              <a:buNone/>
            </a:pPr>
            <a:r>
              <a:rPr lang="en-US" sz="1200" b="1" dirty="0">
                <a:solidFill>
                  <a:srgbClr val="B84A2F"/>
                </a:solidFill>
                <a:latin typeface="AT Aero" pitchFamily="34" charset="0"/>
                <a:ea typeface="AT Aero" pitchFamily="34" charset="-122"/>
                <a:cs typeface="AT Aero" pitchFamily="34" charset="-120"/>
              </a:rPr>
              <a:t>CRITICAL CHOKEPOINT</a:t>
            </a:r>
            <a:endParaRPr lang="en-US" sz="1200" dirty="0"/>
          </a:p>
        </p:txBody>
      </p:sp>
      <p:sp>
        <p:nvSpPr>
          <p:cNvPr id="11" name="Text 8"/>
          <p:cNvSpPr/>
          <p:nvPr/>
        </p:nvSpPr>
        <p:spPr>
          <a:xfrm>
            <a:off x="7680960" y="2560320"/>
            <a:ext cx="3840480" cy="1097280"/>
          </a:xfrm>
          <a:prstGeom prst="rect">
            <a:avLst/>
          </a:prstGeom>
          <a:noFill/>
          <a:ln/>
        </p:spPr>
        <p:txBody>
          <a:bodyPr wrap="square" rtlCol="0" anchor="ctr"/>
          <a:lstStyle/>
          <a:p>
            <a:pPr algn="ctr" indent="0" marL="0">
              <a:buNone/>
            </a:pPr>
            <a:r>
              <a:rPr lang="en-US" sz="3600" b="1" dirty="0">
                <a:solidFill>
                  <a:srgbClr val="1A1714"/>
                </a:solidFill>
                <a:latin typeface="PP Mondwest" pitchFamily="34" charset="0"/>
                <a:ea typeface="PP Mondwest" pitchFamily="34" charset="-122"/>
                <a:cs typeface="PP Mondwest" pitchFamily="34" charset="-120"/>
              </a:rPr>
              <a:t>Gallium &amp;</a:t>
            </a:r>
            <a:endParaRPr lang="en-US" sz="3600" dirty="0"/>
          </a:p>
          <a:p>
            <a:pPr algn="ctr" indent="0" marL="0">
              <a:buNone/>
            </a:pPr>
            <a:r>
              <a:rPr lang="en-US" sz="3600" b="1" dirty="0">
                <a:solidFill>
                  <a:srgbClr val="1A1714"/>
                </a:solidFill>
                <a:latin typeface="PP Mondwest" pitchFamily="34" charset="0"/>
                <a:ea typeface="PP Mondwest" pitchFamily="34" charset="-122"/>
                <a:cs typeface="PP Mondwest" pitchFamily="34" charset="-120"/>
              </a:rPr>
              <a:t>Germanium</a:t>
            </a:r>
            <a:endParaRPr lang="en-US" sz="3600" dirty="0"/>
          </a:p>
        </p:txBody>
      </p:sp>
      <p:sp>
        <p:nvSpPr>
          <p:cNvPr id="12" name="Text 9"/>
          <p:cNvSpPr/>
          <p:nvPr/>
        </p:nvSpPr>
        <p:spPr>
          <a:xfrm>
            <a:off x="7680960" y="3840480"/>
            <a:ext cx="3840480" cy="731520"/>
          </a:xfrm>
          <a:prstGeom prst="rect">
            <a:avLst/>
          </a:prstGeom>
          <a:noFill/>
          <a:ln/>
        </p:spPr>
        <p:txBody>
          <a:bodyPr wrap="square" rtlCol="0" anchor="ctr"/>
          <a:lstStyle/>
          <a:p>
            <a:pPr algn="ctr" indent="0" marL="0">
              <a:buNone/>
            </a:pPr>
            <a:r>
              <a:rPr lang="en-US" sz="1500" dirty="0">
                <a:solidFill>
                  <a:srgbClr val="6B6560"/>
                </a:solidFill>
                <a:latin typeface="AT Aero" pitchFamily="34" charset="0"/>
                <a:ea typeface="AT Aero" pitchFamily="34" charset="-122"/>
                <a:cs typeface="AT Aero" pitchFamily="34" charset="-120"/>
              </a:rPr>
              <a:t>Strict raw material export control levers</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T Aero" pitchFamily="34" charset="0"/>
                <a:ea typeface="AT Aero" pitchFamily="34" charset="-122"/>
                <a:cs typeface="AT Aero" pitchFamily="34" charset="-120"/>
              </a:rPr>
              <a:t>PART 2: THE GLOBAL SUPPLY CHAIN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Supply Chain Resilience: Digital &amp; Circular</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T Aero" pitchFamily="34" charset="0"/>
                <a:ea typeface="AT Aero" pitchFamily="34" charset="-122"/>
                <a:cs typeface="AT Aero" pitchFamily="34" charset="-120"/>
              </a:rPr>
              <a:t>The 2026 Semiconductor Ecosystem | Slide 10</a:t>
            </a:r>
            <a:endParaRPr lang="en-US" sz="1000" dirty="0"/>
          </a:p>
        </p:txBody>
      </p:sp>
      <p:sp>
        <p:nvSpPr>
          <p:cNvPr id="6" name="Shape 3"/>
          <p:cNvSpPr/>
          <p:nvPr/>
        </p:nvSpPr>
        <p:spPr>
          <a:xfrm>
            <a:off x="548640" y="1371600"/>
            <a:ext cx="10972800" cy="914400"/>
          </a:xfrm>
          <a:prstGeom prst="rect">
            <a:avLst/>
          </a:prstGeom>
          <a:solidFill>
            <a:srgbClr val="FFFDF8"/>
          </a:solidFill>
          <a:ln w="19050">
            <a:solidFill>
              <a:srgbClr val="B84A2F"/>
            </a:solidFill>
            <a:prstDash val="solid"/>
          </a:ln>
        </p:spPr>
      </p:sp>
      <p:sp>
        <p:nvSpPr>
          <p:cNvPr id="7" name="Text 4"/>
          <p:cNvSpPr/>
          <p:nvPr/>
        </p:nvSpPr>
        <p:spPr>
          <a:xfrm>
            <a:off x="731520" y="1463040"/>
            <a:ext cx="10607040" cy="731520"/>
          </a:xfrm>
          <a:prstGeom prst="rect">
            <a:avLst/>
          </a:prstGeom>
          <a:noFill/>
          <a:ln/>
        </p:spPr>
        <p:txBody>
          <a:bodyPr wrap="square" rtlCol="0" anchor="ctr"/>
          <a:lstStyle/>
          <a:p>
            <a:pPr indent="0" marL="0">
              <a:buNone/>
            </a:pPr>
            <a:r>
              <a:rPr lang="en-US" sz="1800" b="1" i="1" dirty="0">
                <a:solidFill>
                  <a:srgbClr val="B84A2F"/>
                </a:solidFill>
                <a:latin typeface="AT Aero" pitchFamily="34" charset="0"/>
                <a:ea typeface="AT Aero" pitchFamily="34" charset="-122"/>
                <a:cs typeface="AT Aero" pitchFamily="34" charset="-120"/>
              </a:rPr>
              <a:t>Key Message: The response? Circular and Autonomous Supply Chains. We are using AI to 'self-heal' the supply chain.</a:t>
            </a:r>
            <a:endParaRPr lang="en-US" sz="1800" dirty="0"/>
          </a:p>
        </p:txBody>
      </p:sp>
      <p:sp>
        <p:nvSpPr>
          <p:cNvPr id="8" name="Shape 5"/>
          <p:cNvSpPr/>
          <p:nvPr/>
        </p:nvSpPr>
        <p:spPr>
          <a:xfrm>
            <a:off x="548640" y="2560320"/>
            <a:ext cx="5212080" cy="2377440"/>
          </a:xfrm>
          <a:prstGeom prst="rect">
            <a:avLst/>
          </a:prstGeom>
          <a:solidFill>
            <a:srgbClr val="FFFDF8"/>
          </a:solidFill>
          <a:ln w="12700">
            <a:solidFill>
              <a:srgbClr val="E0D9D0"/>
            </a:solidFill>
            <a:prstDash val="solid"/>
          </a:ln>
        </p:spPr>
      </p:sp>
      <p:sp>
        <p:nvSpPr>
          <p:cNvPr id="9" name="Text 6"/>
          <p:cNvSpPr/>
          <p:nvPr/>
        </p:nvSpPr>
        <p:spPr>
          <a:xfrm>
            <a:off x="822960" y="2743200"/>
            <a:ext cx="4663440" cy="365760"/>
          </a:xfrm>
          <a:prstGeom prst="rect">
            <a:avLst/>
          </a:prstGeom>
          <a:noFill/>
          <a:ln/>
        </p:spPr>
        <p:txBody>
          <a:bodyPr wrap="square" rtlCol="0" anchor="ctr"/>
          <a:lstStyle/>
          <a:p>
            <a:pPr indent="0" marL="0">
              <a:buNone/>
            </a:pPr>
            <a:r>
              <a:rPr lang="en-US" sz="2000" b="1" dirty="0">
                <a:solidFill>
                  <a:srgbClr val="B84A2F"/>
                </a:solidFill>
                <a:latin typeface="PP Mondwest" pitchFamily="34" charset="0"/>
                <a:ea typeface="PP Mondwest" pitchFamily="34" charset="-122"/>
                <a:cs typeface="PP Mondwest" pitchFamily="34" charset="-120"/>
              </a:rPr>
              <a:t>Deep Supply Mapping &amp; AI</a:t>
            </a:r>
            <a:endParaRPr lang="en-US" sz="2000" dirty="0"/>
          </a:p>
        </p:txBody>
      </p:sp>
      <p:sp>
        <p:nvSpPr>
          <p:cNvPr id="10" name="Text 7"/>
          <p:cNvSpPr/>
          <p:nvPr/>
        </p:nvSpPr>
        <p:spPr>
          <a:xfrm>
            <a:off x="822960" y="3291840"/>
            <a:ext cx="4663440" cy="1371600"/>
          </a:xfrm>
          <a:prstGeom prst="rect">
            <a:avLst/>
          </a:prstGeom>
          <a:noFill/>
          <a:ln/>
        </p:spPr>
        <p:txBody>
          <a:bodyPr wrap="square" rtlCol="0" anchor="ctr"/>
          <a:lstStyle/>
          <a:p>
            <a:pPr indent="0" marL="0">
              <a:buNone/>
            </a:pPr>
            <a:r>
              <a:rPr lang="en-US" sz="1800" dirty="0">
                <a:solidFill>
                  <a:srgbClr val="6B6560"/>
                </a:solidFill>
                <a:latin typeface="AT Aero" pitchFamily="34" charset="0"/>
                <a:ea typeface="AT Aero" pitchFamily="34" charset="-122"/>
                <a:cs typeface="AT Aero" pitchFamily="34" charset="-120"/>
              </a:rPr>
              <a:t>Automatically re-routing orders when a port closes or a factory goes down. Mapping up to Tier-4 and Tier-5 suppliers.</a:t>
            </a:r>
            <a:endParaRPr lang="en-US" sz="1800" dirty="0"/>
          </a:p>
        </p:txBody>
      </p:sp>
      <p:sp>
        <p:nvSpPr>
          <p:cNvPr id="11" name="Shape 8"/>
          <p:cNvSpPr/>
          <p:nvPr/>
        </p:nvSpPr>
        <p:spPr>
          <a:xfrm>
            <a:off x="6309360" y="2560320"/>
            <a:ext cx="5212080" cy="2377440"/>
          </a:xfrm>
          <a:prstGeom prst="rect">
            <a:avLst/>
          </a:prstGeom>
          <a:solidFill>
            <a:srgbClr val="FFFDF8"/>
          </a:solidFill>
          <a:ln w="12700">
            <a:solidFill>
              <a:srgbClr val="E0D9D0"/>
            </a:solidFill>
            <a:prstDash val="solid"/>
          </a:ln>
        </p:spPr>
      </p:sp>
      <p:sp>
        <p:nvSpPr>
          <p:cNvPr id="12" name="Text 9"/>
          <p:cNvSpPr/>
          <p:nvPr/>
        </p:nvSpPr>
        <p:spPr>
          <a:xfrm>
            <a:off x="6583680" y="2743200"/>
            <a:ext cx="4663440" cy="365760"/>
          </a:xfrm>
          <a:prstGeom prst="rect">
            <a:avLst/>
          </a:prstGeom>
          <a:noFill/>
          <a:ln/>
        </p:spPr>
        <p:txBody>
          <a:bodyPr wrap="square" rtlCol="0" anchor="ctr"/>
          <a:lstStyle/>
          <a:p>
            <a:pPr indent="0" marL="0">
              <a:buNone/>
            </a:pPr>
            <a:r>
              <a:rPr lang="en-US" sz="2000" b="1" dirty="0">
                <a:solidFill>
                  <a:srgbClr val="768C7C"/>
                </a:solidFill>
                <a:latin typeface="PP Mondwest" pitchFamily="34" charset="0"/>
                <a:ea typeface="PP Mondwest" pitchFamily="34" charset="-122"/>
                <a:cs typeface="PP Mondwest" pitchFamily="34" charset="-120"/>
              </a:rPr>
              <a:t>Circular Reclamation</a:t>
            </a:r>
            <a:endParaRPr lang="en-US" sz="2000" dirty="0"/>
          </a:p>
        </p:txBody>
      </p:sp>
      <p:sp>
        <p:nvSpPr>
          <p:cNvPr id="13" name="Text 10"/>
          <p:cNvSpPr/>
          <p:nvPr/>
        </p:nvSpPr>
        <p:spPr>
          <a:xfrm>
            <a:off x="6583680" y="3291840"/>
            <a:ext cx="4663440" cy="1371600"/>
          </a:xfrm>
          <a:prstGeom prst="rect">
            <a:avLst/>
          </a:prstGeom>
          <a:noFill/>
          <a:ln/>
        </p:spPr>
        <p:txBody>
          <a:bodyPr wrap="square" rtlCol="0" anchor="ctr"/>
          <a:lstStyle/>
          <a:p>
            <a:pPr indent="0" marL="0">
              <a:buNone/>
            </a:pPr>
            <a:r>
              <a:rPr lang="en-US" sz="1800" dirty="0">
                <a:solidFill>
                  <a:srgbClr val="6B6560"/>
                </a:solidFill>
                <a:latin typeface="AT Aero" pitchFamily="34" charset="0"/>
                <a:ea typeface="AT Aero" pitchFamily="34" charset="-122"/>
                <a:cs typeface="AT Aero" pitchFamily="34" charset="-120"/>
              </a:rPr>
              <a:t>Mining the 'urban mine'—recovering rare earth elements from old electronics to reduce dependency on volatile mining regions.</a:t>
            </a:r>
            <a:endParaRPr lang="en-US" sz="1800" dirty="0"/>
          </a:p>
        </p:txBody>
      </p:sp>
      <p:sp>
        <p:nvSpPr>
          <p:cNvPr id="14" name="Shape 11"/>
          <p:cNvSpPr/>
          <p:nvPr/>
        </p:nvSpPr>
        <p:spPr>
          <a:xfrm>
            <a:off x="548640" y="5212080"/>
            <a:ext cx="10972800" cy="822960"/>
          </a:xfrm>
          <a:prstGeom prst="rect">
            <a:avLst/>
          </a:prstGeom>
          <a:solidFill>
            <a:srgbClr val="FFFDF8"/>
          </a:solidFill>
          <a:ln w="12700">
            <a:solidFill>
              <a:srgbClr val="B84A2F"/>
            </a:solidFill>
            <a:prstDash val="solid"/>
          </a:ln>
        </p:spPr>
      </p:sp>
      <p:sp>
        <p:nvSpPr>
          <p:cNvPr id="15" name="Text 12"/>
          <p:cNvSpPr/>
          <p:nvPr/>
        </p:nvSpPr>
        <p:spPr>
          <a:xfrm>
            <a:off x="731520" y="5303520"/>
            <a:ext cx="10607040" cy="640080"/>
          </a:xfrm>
          <a:prstGeom prst="rect">
            <a:avLst/>
          </a:prstGeom>
          <a:noFill/>
          <a:ln/>
        </p:spPr>
        <p:txBody>
          <a:bodyPr wrap="square" rtlCol="0" anchor="ctr"/>
          <a:lstStyle/>
          <a:p>
            <a:pPr indent="0" marL="0">
              <a:buNone/>
            </a:pPr>
            <a:r>
              <a:rPr lang="en-US" sz="1500" dirty="0">
                <a:solidFill>
                  <a:srgbClr val="6B6560"/>
                </a:solidFill>
                <a:latin typeface="AT Aero" pitchFamily="34" charset="0"/>
                <a:ea typeface="AT Aero" pitchFamily="34" charset="-122"/>
                <a:cs typeface="AT Aero" pitchFamily="34" charset="-120"/>
              </a:rPr>
              <a:t>Autonomous logistics systems automatically scan trade flows to reroute containers before bottleneck events cause line shutdowns.</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T Aero" pitchFamily="34" charset="0"/>
                <a:ea typeface="AT Aero" pitchFamily="34" charset="-122"/>
                <a:cs typeface="AT Aero" pitchFamily="34" charset="-120"/>
              </a:rPr>
              <a:t>PART 3: END-USER INDUSTRIES &amp; APPLICATION ECOSYSTEM</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The Ubiquity of Silicon: Powering the Modern World</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T Aero" pitchFamily="34" charset="0"/>
                <a:ea typeface="AT Aero" pitchFamily="34" charset="-122"/>
                <a:cs typeface="AT Aero" pitchFamily="34" charset="-120"/>
              </a:rPr>
              <a:t>The 2026 Semiconductor Ecosystem | Slide 11</a:t>
            </a:r>
            <a:endParaRPr lang="en-US" sz="1000" dirty="0"/>
          </a:p>
        </p:txBody>
      </p:sp>
      <p:sp>
        <p:nvSpPr>
          <p:cNvPr id="6" name="Shape 3"/>
          <p:cNvSpPr/>
          <p:nvPr/>
        </p:nvSpPr>
        <p:spPr>
          <a:xfrm>
            <a:off x="548640" y="1371600"/>
            <a:ext cx="6583680" cy="914400"/>
          </a:xfrm>
          <a:prstGeom prst="rect">
            <a:avLst/>
          </a:prstGeom>
          <a:solidFill>
            <a:srgbClr val="FFFDF8"/>
          </a:solidFill>
          <a:ln w="19050">
            <a:solidFill>
              <a:srgbClr val="9E7D84"/>
            </a:solidFill>
            <a:prstDash val="solid"/>
          </a:ln>
        </p:spPr>
      </p:sp>
      <p:sp>
        <p:nvSpPr>
          <p:cNvPr id="7" name="Text 4"/>
          <p:cNvSpPr/>
          <p:nvPr/>
        </p:nvSpPr>
        <p:spPr>
          <a:xfrm>
            <a:off x="731520" y="1463040"/>
            <a:ext cx="6217920" cy="731520"/>
          </a:xfrm>
          <a:prstGeom prst="rect">
            <a:avLst/>
          </a:prstGeom>
          <a:noFill/>
          <a:ln/>
        </p:spPr>
        <p:txBody>
          <a:bodyPr wrap="square" rtlCol="0" anchor="ctr"/>
          <a:lstStyle/>
          <a:p>
            <a:pPr indent="0" marL="0">
              <a:buNone/>
            </a:pPr>
            <a:r>
              <a:rPr lang="en-US" sz="1800" b="1" i="1" dirty="0">
                <a:solidFill>
                  <a:srgbClr val="9E7D84"/>
                </a:solidFill>
                <a:latin typeface="AT Aero" pitchFamily="34" charset="0"/>
                <a:ea typeface="AT Aero" pitchFamily="34" charset="-122"/>
                <a:cs typeface="AT Aero" pitchFamily="34" charset="-120"/>
              </a:rPr>
              <a:t>Key Message: Semiconductors are the "nerve system" of the global economy; no modern industry can function without them.</a:t>
            </a:r>
            <a:endParaRPr lang="en-US" sz="1800" dirty="0"/>
          </a:p>
        </p:txBody>
      </p:sp>
      <p:sp>
        <p:nvSpPr>
          <p:cNvPr id="8" name="Text 5"/>
          <p:cNvSpPr/>
          <p:nvPr/>
        </p:nvSpPr>
        <p:spPr>
          <a:xfrm>
            <a:off x="548640" y="2560320"/>
            <a:ext cx="6583680" cy="3474720"/>
          </a:xfrm>
          <a:prstGeom prst="rect">
            <a:avLst/>
          </a:prstGeom>
          <a:noFill/>
          <a:ln/>
        </p:spPr>
        <p:txBody>
          <a:bodyPr wrap="square" rtlCol="0" anchor="ctr"/>
          <a:lstStyle/>
          <a:p>
            <a:pPr marL="342900" indent="-342900">
              <a:buSzPct val="100000"/>
              <a:buChar char="•"/>
            </a:pPr>
            <a:r>
              <a:rPr lang="en-US" sz="1800" dirty="0">
                <a:solidFill>
                  <a:srgbClr val="6B6560"/>
                </a:solidFill>
                <a:latin typeface="AT Aero" pitchFamily="34" charset="0"/>
                <a:ea typeface="AT Aero" pitchFamily="34" charset="-122"/>
                <a:cs typeface="AT Aero" pitchFamily="34" charset="-120"/>
              </a:rPr>
              <a:t>- Central Nerve System: Microchips control the storage, routing, and processing of every piece of data globally.</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T Aero" pitchFamily="34" charset="0"/>
                <a:ea typeface="AT Aero" pitchFamily="34" charset="-122"/>
                <a:cs typeface="AT Aero" pitchFamily="34" charset="-120"/>
              </a:rPr>
              <a:t>- Silicon Intensity Metric: The total value of silicon content per product is the primary metric of industrial scaling.</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T Aero" pitchFamily="34" charset="0"/>
                <a:ea typeface="AT Aero" pitchFamily="34" charset="-122"/>
                <a:cs typeface="AT Aero" pitchFamily="34" charset="-120"/>
              </a:rPr>
              <a:t>- Ubiquitous Integration: Foundational logic layers power smart municipal grids, medical machinery, and neural processors.</a:t>
            </a:r>
            <a:endParaRPr lang="en-US" sz="1800" dirty="0"/>
          </a:p>
        </p:txBody>
      </p:sp>
      <p:sp>
        <p:nvSpPr>
          <p:cNvPr id="9" name="Shape 6"/>
          <p:cNvSpPr/>
          <p:nvPr/>
        </p:nvSpPr>
        <p:spPr>
          <a:xfrm>
            <a:off x="7680960" y="1371600"/>
            <a:ext cx="3840480" cy="4572000"/>
          </a:xfrm>
          <a:prstGeom prst="rect">
            <a:avLst/>
          </a:prstGeom>
          <a:solidFill>
            <a:srgbClr val="FFFDF8"/>
          </a:solidFill>
          <a:ln w="12700">
            <a:solidFill>
              <a:srgbClr val="E0D9D0"/>
            </a:solidFill>
            <a:prstDash val="solid"/>
          </a:ln>
        </p:spPr>
      </p:sp>
      <p:sp>
        <p:nvSpPr>
          <p:cNvPr id="10" name="Text 7"/>
          <p:cNvSpPr/>
          <p:nvPr/>
        </p:nvSpPr>
        <p:spPr>
          <a:xfrm>
            <a:off x="7680960" y="2011680"/>
            <a:ext cx="3840480" cy="365760"/>
          </a:xfrm>
          <a:prstGeom prst="rect">
            <a:avLst/>
          </a:prstGeom>
          <a:noFill/>
          <a:ln/>
        </p:spPr>
        <p:txBody>
          <a:bodyPr wrap="square" rtlCol="0" anchor="ctr"/>
          <a:lstStyle/>
          <a:p>
            <a:pPr algn="ctr" indent="0" marL="0">
              <a:buNone/>
            </a:pPr>
            <a:r>
              <a:rPr lang="en-US" sz="1200" b="1" dirty="0">
                <a:solidFill>
                  <a:srgbClr val="9E7D84"/>
                </a:solidFill>
                <a:latin typeface="AT Aero" pitchFamily="34" charset="0"/>
                <a:ea typeface="AT Aero" pitchFamily="34" charset="-122"/>
                <a:cs typeface="AT Aero" pitchFamily="34" charset="-120"/>
              </a:rPr>
              <a:t>KEY METRIC</a:t>
            </a:r>
            <a:endParaRPr lang="en-US" sz="1200" dirty="0"/>
          </a:p>
        </p:txBody>
      </p:sp>
      <p:sp>
        <p:nvSpPr>
          <p:cNvPr id="11" name="Text 8"/>
          <p:cNvSpPr/>
          <p:nvPr/>
        </p:nvSpPr>
        <p:spPr>
          <a:xfrm>
            <a:off x="7680960" y="2560320"/>
            <a:ext cx="3840480" cy="1097280"/>
          </a:xfrm>
          <a:prstGeom prst="rect">
            <a:avLst/>
          </a:prstGeom>
          <a:noFill/>
          <a:ln/>
        </p:spPr>
        <p:txBody>
          <a:bodyPr wrap="square" rtlCol="0" anchor="ctr"/>
          <a:lstStyle/>
          <a:p>
            <a:pPr algn="ctr" indent="0" marL="0">
              <a:buNone/>
            </a:pPr>
            <a:r>
              <a:rPr lang="en-US" sz="3600" b="1" dirty="0">
                <a:solidFill>
                  <a:srgbClr val="1A1714"/>
                </a:solidFill>
                <a:latin typeface="PP Mondwest" pitchFamily="34" charset="0"/>
                <a:ea typeface="PP Mondwest" pitchFamily="34" charset="-122"/>
                <a:cs typeface="PP Mondwest" pitchFamily="34" charset="-120"/>
              </a:rPr>
              <a:t>Silicon</a:t>
            </a:r>
            <a:endParaRPr lang="en-US" sz="3600" dirty="0"/>
          </a:p>
          <a:p>
            <a:pPr algn="ctr" indent="0" marL="0">
              <a:buNone/>
            </a:pPr>
            <a:r>
              <a:rPr lang="en-US" sz="3600" b="1" dirty="0">
                <a:solidFill>
                  <a:srgbClr val="1A1714"/>
                </a:solidFill>
                <a:latin typeface="PP Mondwest" pitchFamily="34" charset="0"/>
                <a:ea typeface="PP Mondwest" pitchFamily="34" charset="-122"/>
                <a:cs typeface="PP Mondwest" pitchFamily="34" charset="-120"/>
              </a:rPr>
              <a:t>Intensity</a:t>
            </a:r>
            <a:endParaRPr lang="en-US" sz="3600" dirty="0"/>
          </a:p>
        </p:txBody>
      </p:sp>
      <p:sp>
        <p:nvSpPr>
          <p:cNvPr id="12" name="Text 9"/>
          <p:cNvSpPr/>
          <p:nvPr/>
        </p:nvSpPr>
        <p:spPr>
          <a:xfrm>
            <a:off x="7680960" y="3840480"/>
            <a:ext cx="3840480" cy="731520"/>
          </a:xfrm>
          <a:prstGeom prst="rect">
            <a:avLst/>
          </a:prstGeom>
          <a:noFill/>
          <a:ln/>
        </p:spPr>
        <p:txBody>
          <a:bodyPr wrap="square" rtlCol="0" anchor="ctr"/>
          <a:lstStyle/>
          <a:p>
            <a:pPr algn="ctr" indent="0" marL="0">
              <a:buNone/>
            </a:pPr>
            <a:r>
              <a:rPr lang="en-US" sz="1500" dirty="0">
                <a:solidFill>
                  <a:srgbClr val="6B6560"/>
                </a:solidFill>
                <a:latin typeface="AT Aero" pitchFamily="34" charset="0"/>
                <a:ea typeface="AT Aero" pitchFamily="34" charset="-122"/>
                <a:cs typeface="AT Aero" pitchFamily="34" charset="-120"/>
              </a:rPr>
              <a:t>Primary industrial competitiveness index</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T Aero" pitchFamily="34" charset="0"/>
                <a:ea typeface="AT Aero" pitchFamily="34" charset="-122"/>
                <a:cs typeface="AT Aero" pitchFamily="34" charset="-120"/>
              </a:rPr>
              <a:t>PART 3: END-USER INDUSTRIES &amp; APPLICATION ECOSYSTEM</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Executive Summary: The Demand Landscape in 2026</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T Aero" pitchFamily="34" charset="0"/>
                <a:ea typeface="AT Aero" pitchFamily="34" charset="-122"/>
                <a:cs typeface="AT Aero" pitchFamily="34" charset="-120"/>
              </a:rPr>
              <a:t>The 2026 Semiconductor Ecosystem | Slide 12</a:t>
            </a:r>
            <a:endParaRPr lang="en-US" sz="1000" dirty="0"/>
          </a:p>
        </p:txBody>
      </p:sp>
      <p:sp>
        <p:nvSpPr>
          <p:cNvPr id="6" name="Shape 3"/>
          <p:cNvSpPr/>
          <p:nvPr/>
        </p:nvSpPr>
        <p:spPr>
          <a:xfrm>
            <a:off x="548640" y="1371600"/>
            <a:ext cx="10972800" cy="914400"/>
          </a:xfrm>
          <a:prstGeom prst="rect">
            <a:avLst/>
          </a:prstGeom>
          <a:solidFill>
            <a:srgbClr val="FFFDF8"/>
          </a:solidFill>
          <a:ln w="19050">
            <a:solidFill>
              <a:srgbClr val="B84A2F"/>
            </a:solidFill>
            <a:prstDash val="solid"/>
          </a:ln>
        </p:spPr>
      </p:sp>
      <p:sp>
        <p:nvSpPr>
          <p:cNvPr id="7" name="Text 4"/>
          <p:cNvSpPr/>
          <p:nvPr/>
        </p:nvSpPr>
        <p:spPr>
          <a:xfrm>
            <a:off x="731520" y="1463040"/>
            <a:ext cx="10607040" cy="731520"/>
          </a:xfrm>
          <a:prstGeom prst="rect">
            <a:avLst/>
          </a:prstGeom>
          <a:noFill/>
          <a:ln/>
        </p:spPr>
        <p:txBody>
          <a:bodyPr wrap="square" rtlCol="0" anchor="ctr"/>
          <a:lstStyle/>
          <a:p>
            <a:pPr indent="0" marL="0">
              <a:buNone/>
            </a:pPr>
            <a:r>
              <a:rPr lang="en-US" sz="1800" b="1" i="1" dirty="0">
                <a:solidFill>
                  <a:srgbClr val="B84A2F"/>
                </a:solidFill>
                <a:latin typeface="AT Aero" pitchFamily="34" charset="0"/>
                <a:ea typeface="AT Aero" pitchFamily="34" charset="-122"/>
                <a:cs typeface="AT Aero" pitchFamily="34" charset="-120"/>
              </a:rPr>
              <a:t>Key Message: Demand is shifting from traditional computing toward AI infrastructure, Automotive, and Industrial Automation.</a:t>
            </a:r>
            <a:endParaRPr lang="en-US" sz="1800" dirty="0"/>
          </a:p>
        </p:txBody>
      </p:sp>
      <p:sp>
        <p:nvSpPr>
          <p:cNvPr id="8" name="Shape 5"/>
          <p:cNvSpPr/>
          <p:nvPr/>
        </p:nvSpPr>
        <p:spPr>
          <a:xfrm>
            <a:off x="548640" y="2560320"/>
            <a:ext cx="3291840" cy="3474720"/>
          </a:xfrm>
          <a:prstGeom prst="rect">
            <a:avLst/>
          </a:prstGeom>
          <a:solidFill>
            <a:srgbClr val="FFFDF8"/>
          </a:solidFill>
          <a:ln w="12700">
            <a:solidFill>
              <a:srgbClr val="E0D9D0"/>
            </a:solidFill>
            <a:prstDash val="solid"/>
          </a:ln>
        </p:spPr>
      </p:sp>
      <p:sp>
        <p:nvSpPr>
          <p:cNvPr id="9" name="Text 6"/>
          <p:cNvSpPr/>
          <p:nvPr/>
        </p:nvSpPr>
        <p:spPr>
          <a:xfrm>
            <a:off x="822960" y="2834640"/>
            <a:ext cx="2743200" cy="457200"/>
          </a:xfrm>
          <a:prstGeom prst="rect">
            <a:avLst/>
          </a:prstGeom>
          <a:noFill/>
          <a:ln/>
        </p:spPr>
        <p:txBody>
          <a:bodyPr wrap="square" rtlCol="0" anchor="ctr"/>
          <a:lstStyle/>
          <a:p>
            <a:pPr indent="0" marL="0">
              <a:buNone/>
            </a:pPr>
            <a:r>
              <a:rPr lang="en-US" sz="2000" b="1" dirty="0">
                <a:solidFill>
                  <a:srgbClr val="B84A2F"/>
                </a:solidFill>
                <a:latin typeface="PP Mondwest" pitchFamily="34" charset="0"/>
                <a:ea typeface="PP Mondwest" pitchFamily="34" charset="-122"/>
                <a:cs typeface="PP Mondwest" pitchFamily="34" charset="-120"/>
              </a:rPr>
              <a:t>AI Datacenters</a:t>
            </a:r>
            <a:endParaRPr lang="en-US" sz="2000" dirty="0"/>
          </a:p>
        </p:txBody>
      </p:sp>
      <p:sp>
        <p:nvSpPr>
          <p:cNvPr id="10" name="Text 7"/>
          <p:cNvSpPr/>
          <p:nvPr/>
        </p:nvSpPr>
        <p:spPr>
          <a:xfrm>
            <a:off x="822960" y="3474720"/>
            <a:ext cx="2743200" cy="2286000"/>
          </a:xfrm>
          <a:prstGeom prst="rect">
            <a:avLst/>
          </a:prstGeom>
          <a:noFill/>
          <a:ln/>
        </p:spPr>
        <p:txBody>
          <a:bodyPr wrap="square" rtlCol="0" anchor="ctr"/>
          <a:lstStyle/>
          <a:p>
            <a:pPr indent="0" marL="0">
              <a:buNone/>
            </a:pPr>
            <a:r>
              <a:rPr lang="en-US" sz="1800" dirty="0">
                <a:solidFill>
                  <a:srgbClr val="6B6560"/>
                </a:solidFill>
                <a:latin typeface="AT Aero" pitchFamily="34" charset="0"/>
                <a:ea typeface="AT Aero" pitchFamily="34" charset="-122"/>
                <a:cs typeface="AT Aero" pitchFamily="34" charset="-120"/>
              </a:rPr>
              <a:t>Nearly 50% of semiconductor industry growth and revenue is driven by high-performance AI accelerators.</a:t>
            </a:r>
            <a:endParaRPr lang="en-US" sz="1800" dirty="0"/>
          </a:p>
        </p:txBody>
      </p:sp>
      <p:sp>
        <p:nvSpPr>
          <p:cNvPr id="11" name="Shape 8"/>
          <p:cNvSpPr/>
          <p:nvPr/>
        </p:nvSpPr>
        <p:spPr>
          <a:xfrm>
            <a:off x="4389120" y="2560320"/>
            <a:ext cx="3291840" cy="3474720"/>
          </a:xfrm>
          <a:prstGeom prst="rect">
            <a:avLst/>
          </a:prstGeom>
          <a:solidFill>
            <a:srgbClr val="FFFDF8"/>
          </a:solidFill>
          <a:ln w="12700">
            <a:solidFill>
              <a:srgbClr val="E0D9D0"/>
            </a:solidFill>
            <a:prstDash val="solid"/>
          </a:ln>
        </p:spPr>
      </p:sp>
      <p:sp>
        <p:nvSpPr>
          <p:cNvPr id="12" name="Text 9"/>
          <p:cNvSpPr/>
          <p:nvPr/>
        </p:nvSpPr>
        <p:spPr>
          <a:xfrm>
            <a:off x="4663440" y="2834640"/>
            <a:ext cx="2743200" cy="457200"/>
          </a:xfrm>
          <a:prstGeom prst="rect">
            <a:avLst/>
          </a:prstGeom>
          <a:noFill/>
          <a:ln/>
        </p:spPr>
        <p:txBody>
          <a:bodyPr wrap="square" rtlCol="0" anchor="ctr"/>
          <a:lstStyle/>
          <a:p>
            <a:pPr indent="0" marL="0">
              <a:buNone/>
            </a:pPr>
            <a:r>
              <a:rPr lang="en-US" sz="2000" b="1" dirty="0">
                <a:solidFill>
                  <a:srgbClr val="9E7D84"/>
                </a:solidFill>
                <a:latin typeface="PP Mondwest" pitchFamily="34" charset="0"/>
                <a:ea typeface="PP Mondwest" pitchFamily="34" charset="-122"/>
                <a:cs typeface="PP Mondwest" pitchFamily="34" charset="-120"/>
              </a:rPr>
              <a:t>Automotive</a:t>
            </a:r>
            <a:endParaRPr lang="en-US" sz="2000" dirty="0"/>
          </a:p>
        </p:txBody>
      </p:sp>
      <p:sp>
        <p:nvSpPr>
          <p:cNvPr id="13" name="Text 10"/>
          <p:cNvSpPr/>
          <p:nvPr/>
        </p:nvSpPr>
        <p:spPr>
          <a:xfrm>
            <a:off x="4663440" y="3474720"/>
            <a:ext cx="2743200" cy="2286000"/>
          </a:xfrm>
          <a:prstGeom prst="rect">
            <a:avLst/>
          </a:prstGeom>
          <a:noFill/>
          <a:ln/>
        </p:spPr>
        <p:txBody>
          <a:bodyPr wrap="square" rtlCol="0" anchor="ctr"/>
          <a:lstStyle/>
          <a:p>
            <a:pPr indent="0" marL="0">
              <a:buNone/>
            </a:pPr>
            <a:r>
              <a:rPr lang="en-US" sz="1800" dirty="0">
                <a:solidFill>
                  <a:srgbClr val="6B6560"/>
                </a:solidFill>
                <a:latin typeface="AT Aero" pitchFamily="34" charset="0"/>
                <a:ea typeface="AT Aero" pitchFamily="34" charset="-122"/>
                <a:cs typeface="AT Aero" pitchFamily="34" charset="-120"/>
              </a:rPr>
              <a:t>The fastest growing volume segment, requiring massive numbers of legacy control nodes and SiC power chips.</a:t>
            </a:r>
            <a:endParaRPr lang="en-US" sz="1800" dirty="0"/>
          </a:p>
        </p:txBody>
      </p:sp>
      <p:sp>
        <p:nvSpPr>
          <p:cNvPr id="14" name="Shape 11"/>
          <p:cNvSpPr/>
          <p:nvPr/>
        </p:nvSpPr>
        <p:spPr>
          <a:xfrm>
            <a:off x="8229600" y="2560320"/>
            <a:ext cx="3291840" cy="3474720"/>
          </a:xfrm>
          <a:prstGeom prst="rect">
            <a:avLst/>
          </a:prstGeom>
          <a:solidFill>
            <a:srgbClr val="FFFDF8"/>
          </a:solidFill>
          <a:ln w="12700">
            <a:solidFill>
              <a:srgbClr val="E0D9D0"/>
            </a:solidFill>
            <a:prstDash val="solid"/>
          </a:ln>
        </p:spPr>
      </p:sp>
      <p:sp>
        <p:nvSpPr>
          <p:cNvPr id="15" name="Text 12"/>
          <p:cNvSpPr/>
          <p:nvPr/>
        </p:nvSpPr>
        <p:spPr>
          <a:xfrm>
            <a:off x="8503920" y="2834640"/>
            <a:ext cx="2743200" cy="457200"/>
          </a:xfrm>
          <a:prstGeom prst="rect">
            <a:avLst/>
          </a:prstGeom>
          <a:noFill/>
          <a:ln/>
        </p:spPr>
        <p:txBody>
          <a:bodyPr wrap="square" rtlCol="0" anchor="ctr"/>
          <a:lstStyle/>
          <a:p>
            <a:pPr indent="0" marL="0">
              <a:buNone/>
            </a:pPr>
            <a:r>
              <a:rPr lang="en-US" sz="2000" b="1" dirty="0">
                <a:solidFill>
                  <a:srgbClr val="768C7C"/>
                </a:solidFill>
                <a:latin typeface="PP Mondwest" pitchFamily="34" charset="0"/>
                <a:ea typeface="PP Mondwest" pitchFamily="34" charset="-122"/>
                <a:cs typeface="PP Mondwest" pitchFamily="34" charset="-120"/>
              </a:rPr>
              <a:t>Smartphones &amp; PCs</a:t>
            </a:r>
            <a:endParaRPr lang="en-US" sz="2000" dirty="0"/>
          </a:p>
        </p:txBody>
      </p:sp>
      <p:sp>
        <p:nvSpPr>
          <p:cNvPr id="16" name="Text 13"/>
          <p:cNvSpPr/>
          <p:nvPr/>
        </p:nvSpPr>
        <p:spPr>
          <a:xfrm>
            <a:off x="8503920" y="3474720"/>
            <a:ext cx="2743200" cy="2286000"/>
          </a:xfrm>
          <a:prstGeom prst="rect">
            <a:avLst/>
          </a:prstGeom>
          <a:noFill/>
          <a:ln/>
        </p:spPr>
        <p:txBody>
          <a:bodyPr wrap="square" rtlCol="0" anchor="ctr"/>
          <a:lstStyle/>
          <a:p>
            <a:pPr indent="0" marL="0">
              <a:buNone/>
            </a:pPr>
            <a:r>
              <a:rPr lang="en-US" sz="1800" dirty="0">
                <a:solidFill>
                  <a:srgbClr val="6B6560"/>
                </a:solidFill>
                <a:latin typeface="AT Aero" pitchFamily="34" charset="0"/>
                <a:ea typeface="AT Aero" pitchFamily="34" charset="-122"/>
                <a:cs typeface="AT Aero" pitchFamily="34" charset="-120"/>
              </a:rPr>
              <a:t>Traditional core segments face volume saturation, driving consolidation and focus on specialized edge accelerators.</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T Aero" pitchFamily="34" charset="0"/>
                <a:ea typeface="AT Aero" pitchFamily="34" charset="-122"/>
                <a:cs typeface="AT Aero" pitchFamily="34" charset="-120"/>
              </a:rPr>
              <a:t>PART 3: END-USER INDUSTRIES &amp; APPLICATION ECOSYSTEM</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AI &amp; Data Centers: The Generative Revolution</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T Aero" pitchFamily="34" charset="0"/>
                <a:ea typeface="AT Aero" pitchFamily="34" charset="-122"/>
                <a:cs typeface="AT Aero" pitchFamily="34" charset="-120"/>
              </a:rPr>
              <a:t>The 2026 Semiconductor Ecosystem | Slide 13</a:t>
            </a:r>
            <a:endParaRPr lang="en-US" sz="1000" dirty="0"/>
          </a:p>
        </p:txBody>
      </p:sp>
      <p:sp>
        <p:nvSpPr>
          <p:cNvPr id="6" name="Shape 3"/>
          <p:cNvSpPr/>
          <p:nvPr/>
        </p:nvSpPr>
        <p:spPr>
          <a:xfrm>
            <a:off x="548640" y="1371600"/>
            <a:ext cx="6583680" cy="914400"/>
          </a:xfrm>
          <a:prstGeom prst="rect">
            <a:avLst/>
          </a:prstGeom>
          <a:solidFill>
            <a:srgbClr val="FFFDF8"/>
          </a:solidFill>
          <a:ln w="19050">
            <a:solidFill>
              <a:srgbClr val="768C7C"/>
            </a:solidFill>
            <a:prstDash val="solid"/>
          </a:ln>
        </p:spPr>
      </p:sp>
      <p:sp>
        <p:nvSpPr>
          <p:cNvPr id="7" name="Text 4"/>
          <p:cNvSpPr/>
          <p:nvPr/>
        </p:nvSpPr>
        <p:spPr>
          <a:xfrm>
            <a:off x="731520" y="1463040"/>
            <a:ext cx="6217920" cy="731520"/>
          </a:xfrm>
          <a:prstGeom prst="rect">
            <a:avLst/>
          </a:prstGeom>
          <a:noFill/>
          <a:ln/>
        </p:spPr>
        <p:txBody>
          <a:bodyPr wrap="square" rtlCol="0" anchor="ctr"/>
          <a:lstStyle/>
          <a:p>
            <a:pPr indent="0" marL="0">
              <a:buNone/>
            </a:pPr>
            <a:r>
              <a:rPr lang="en-US" sz="1800" b="1" i="1" dirty="0">
                <a:solidFill>
                  <a:srgbClr val="768C7C"/>
                </a:solidFill>
                <a:latin typeface="AT Aero" pitchFamily="34" charset="0"/>
                <a:ea typeface="AT Aero" pitchFamily="34" charset="-122"/>
                <a:cs typeface="AT Aero" pitchFamily="34" charset="-120"/>
              </a:rPr>
              <a:t>Key Message: Data centers have evolved into "Intelligence Engines," consuming the highest-value silicon ever produced.</a:t>
            </a:r>
            <a:endParaRPr lang="en-US" sz="1800" dirty="0"/>
          </a:p>
        </p:txBody>
      </p:sp>
      <p:sp>
        <p:nvSpPr>
          <p:cNvPr id="8" name="Text 5"/>
          <p:cNvSpPr/>
          <p:nvPr/>
        </p:nvSpPr>
        <p:spPr>
          <a:xfrm>
            <a:off x="548640" y="2560320"/>
            <a:ext cx="6583680" cy="3474720"/>
          </a:xfrm>
          <a:prstGeom prst="rect">
            <a:avLst/>
          </a:prstGeom>
          <a:noFill/>
          <a:ln/>
        </p:spPr>
        <p:txBody>
          <a:bodyPr wrap="square" rtlCol="0" anchor="ctr"/>
          <a:lstStyle/>
          <a:p>
            <a:pPr marL="342900" indent="-342900">
              <a:buSzPct val="100000"/>
              <a:buChar char="•"/>
            </a:pPr>
            <a:r>
              <a:rPr lang="en-US" sz="1800" dirty="0">
                <a:solidFill>
                  <a:srgbClr val="6B6560"/>
                </a:solidFill>
                <a:latin typeface="AT Aero" pitchFamily="34" charset="0"/>
                <a:ea typeface="AT Aero" pitchFamily="34" charset="-122"/>
                <a:cs typeface="AT Aero" pitchFamily="34" charset="-120"/>
              </a:rPr>
              <a:t>- Accelerator Market ($500B): Generative models and neural computing demand massive scaling of TPU and GPU nodes.</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T Aero" pitchFamily="34" charset="0"/>
                <a:ea typeface="AT Aero" pitchFamily="34" charset="-122"/>
                <a:cs typeface="AT Aero" pitchFamily="34" charset="-120"/>
              </a:rPr>
              <a:t>- Sub-3nm Node Sourcing: The primary consumers of the most advanced wafer print architectures globally.</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T Aero" pitchFamily="34" charset="0"/>
                <a:ea typeface="AT Aero" pitchFamily="34" charset="-122"/>
                <a:cs typeface="AT Aero" pitchFamily="34" charset="-120"/>
              </a:rPr>
              <a:t>- Memory &amp; Interconnect: Demands extreme density of High Bandwidth Memory (HBM) and customized routing interconnect silicon.</a:t>
            </a:r>
            <a:endParaRPr lang="en-US" sz="1800" dirty="0"/>
          </a:p>
        </p:txBody>
      </p:sp>
      <p:sp>
        <p:nvSpPr>
          <p:cNvPr id="9" name="Shape 6"/>
          <p:cNvSpPr/>
          <p:nvPr/>
        </p:nvSpPr>
        <p:spPr>
          <a:xfrm>
            <a:off x="7680960" y="1371600"/>
            <a:ext cx="3840480" cy="4572000"/>
          </a:xfrm>
          <a:prstGeom prst="rect">
            <a:avLst/>
          </a:prstGeom>
          <a:solidFill>
            <a:srgbClr val="FFFDF8"/>
          </a:solidFill>
          <a:ln w="12700">
            <a:solidFill>
              <a:srgbClr val="768C7C"/>
            </a:solidFill>
            <a:prstDash val="solid"/>
          </a:ln>
        </p:spPr>
      </p:sp>
      <p:sp>
        <p:nvSpPr>
          <p:cNvPr id="10" name="Text 7"/>
          <p:cNvSpPr/>
          <p:nvPr/>
        </p:nvSpPr>
        <p:spPr>
          <a:xfrm>
            <a:off x="7680960" y="2011680"/>
            <a:ext cx="3840480" cy="365760"/>
          </a:xfrm>
          <a:prstGeom prst="rect">
            <a:avLst/>
          </a:prstGeom>
          <a:noFill/>
          <a:ln/>
        </p:spPr>
        <p:txBody>
          <a:bodyPr wrap="square" rtlCol="0" anchor="ctr"/>
          <a:lstStyle/>
          <a:p>
            <a:pPr algn="ctr" indent="0" marL="0">
              <a:buNone/>
            </a:pPr>
            <a:r>
              <a:rPr lang="en-US" sz="1200" b="1" dirty="0">
                <a:solidFill>
                  <a:srgbClr val="768C7C"/>
                </a:solidFill>
                <a:latin typeface="AT Aero" pitchFamily="34" charset="0"/>
                <a:ea typeface="AT Aero" pitchFamily="34" charset="-122"/>
                <a:cs typeface="AT Aero" pitchFamily="34" charset="-120"/>
              </a:rPr>
              <a:t>ANALYST PROJECT</a:t>
            </a:r>
            <a:endParaRPr lang="en-US" sz="1200" dirty="0"/>
          </a:p>
        </p:txBody>
      </p:sp>
      <p:sp>
        <p:nvSpPr>
          <p:cNvPr id="11" name="Text 8"/>
          <p:cNvSpPr/>
          <p:nvPr/>
        </p:nvSpPr>
        <p:spPr>
          <a:xfrm>
            <a:off x="7680960" y="2560320"/>
            <a:ext cx="3840480" cy="1097280"/>
          </a:xfrm>
          <a:prstGeom prst="rect">
            <a:avLst/>
          </a:prstGeom>
          <a:noFill/>
          <a:ln/>
        </p:spPr>
        <p:txBody>
          <a:bodyPr wrap="square" rtlCol="0" anchor="ctr"/>
          <a:lstStyle/>
          <a:p>
            <a:pPr algn="ctr" indent="0" marL="0">
              <a:buNone/>
            </a:pPr>
            <a:r>
              <a:rPr lang="en-US" sz="5400" b="1" dirty="0">
                <a:solidFill>
                  <a:srgbClr val="1A1714"/>
                </a:solidFill>
                <a:latin typeface="PP Mondwest" pitchFamily="34" charset="0"/>
                <a:ea typeface="PP Mondwest" pitchFamily="34" charset="-122"/>
                <a:cs typeface="PP Mondwest" pitchFamily="34" charset="-120"/>
              </a:rPr>
              <a:t>$500B</a:t>
            </a:r>
            <a:endParaRPr lang="en-US" sz="5400" dirty="0"/>
          </a:p>
        </p:txBody>
      </p:sp>
      <p:sp>
        <p:nvSpPr>
          <p:cNvPr id="12" name="Text 9"/>
          <p:cNvSpPr/>
          <p:nvPr/>
        </p:nvSpPr>
        <p:spPr>
          <a:xfrm>
            <a:off x="7680960" y="3840480"/>
            <a:ext cx="3840480" cy="731520"/>
          </a:xfrm>
          <a:prstGeom prst="rect">
            <a:avLst/>
          </a:prstGeom>
          <a:noFill/>
          <a:ln/>
        </p:spPr>
        <p:txBody>
          <a:bodyPr wrap="square" rtlCol="0" anchor="ctr"/>
          <a:lstStyle/>
          <a:p>
            <a:pPr algn="ctr" indent="0" marL="0">
              <a:buNone/>
            </a:pPr>
            <a:r>
              <a:rPr lang="en-US" sz="1500" dirty="0">
                <a:solidFill>
                  <a:srgbClr val="6B6560"/>
                </a:solidFill>
                <a:latin typeface="AT Aero" pitchFamily="34" charset="0"/>
                <a:ea typeface="AT Aero" pitchFamily="34" charset="-122"/>
                <a:cs typeface="AT Aero" pitchFamily="34" charset="-120"/>
              </a:rPr>
              <a:t>AI Accelerator market size by 2026</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T Aero" pitchFamily="34" charset="0"/>
                <a:ea typeface="AT Aero" pitchFamily="34" charset="-122"/>
                <a:cs typeface="AT Aero" pitchFamily="34" charset="-120"/>
              </a:rPr>
              <a:t>PART 3: END-USER INDUSTRIES &amp; APPLICATION ECOSYSTEM</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Automotive: The "Smartphone on Wheels"</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T Aero" pitchFamily="34" charset="0"/>
                <a:ea typeface="AT Aero" pitchFamily="34" charset="-122"/>
                <a:cs typeface="AT Aero" pitchFamily="34" charset="-120"/>
              </a:rPr>
              <a:t>The 2026 Semiconductor Ecosystem | Slide 14</a:t>
            </a:r>
            <a:endParaRPr lang="en-US" sz="1000" dirty="0"/>
          </a:p>
        </p:txBody>
      </p:sp>
      <p:sp>
        <p:nvSpPr>
          <p:cNvPr id="6" name="Shape 3"/>
          <p:cNvSpPr/>
          <p:nvPr/>
        </p:nvSpPr>
        <p:spPr>
          <a:xfrm>
            <a:off x="548640" y="1371600"/>
            <a:ext cx="6583680" cy="914400"/>
          </a:xfrm>
          <a:prstGeom prst="rect">
            <a:avLst/>
          </a:prstGeom>
          <a:solidFill>
            <a:srgbClr val="FFFDF8"/>
          </a:solidFill>
          <a:ln w="19050">
            <a:solidFill>
              <a:srgbClr val="B84A2F"/>
            </a:solidFill>
            <a:prstDash val="solid"/>
          </a:ln>
        </p:spPr>
      </p:sp>
      <p:sp>
        <p:nvSpPr>
          <p:cNvPr id="7" name="Text 4"/>
          <p:cNvSpPr/>
          <p:nvPr/>
        </p:nvSpPr>
        <p:spPr>
          <a:xfrm>
            <a:off x="731520" y="1463040"/>
            <a:ext cx="6217920" cy="731520"/>
          </a:xfrm>
          <a:prstGeom prst="rect">
            <a:avLst/>
          </a:prstGeom>
          <a:noFill/>
          <a:ln/>
        </p:spPr>
        <p:txBody>
          <a:bodyPr wrap="square" rtlCol="0" anchor="ctr"/>
          <a:lstStyle/>
          <a:p>
            <a:pPr indent="0" marL="0">
              <a:buNone/>
            </a:pPr>
            <a:r>
              <a:rPr lang="en-US" sz="1800" b="1" i="1" dirty="0">
                <a:solidFill>
                  <a:srgbClr val="B84A2F"/>
                </a:solidFill>
                <a:latin typeface="AT Aero" pitchFamily="34" charset="0"/>
                <a:ea typeface="AT Aero" pitchFamily="34" charset="-122"/>
                <a:cs typeface="AT Aero" pitchFamily="34" charset="-120"/>
              </a:rPr>
              <a:t>Key Message: The transition to EVs and ADAS is doubling semiconductor content per vehicle, reaching over $1,000 per unit.</a:t>
            </a:r>
            <a:endParaRPr lang="en-US" sz="1800" dirty="0"/>
          </a:p>
        </p:txBody>
      </p:sp>
      <p:sp>
        <p:nvSpPr>
          <p:cNvPr id="8" name="Text 5"/>
          <p:cNvSpPr/>
          <p:nvPr/>
        </p:nvSpPr>
        <p:spPr>
          <a:xfrm>
            <a:off x="548640" y="2560320"/>
            <a:ext cx="6583680" cy="3474720"/>
          </a:xfrm>
          <a:prstGeom prst="rect">
            <a:avLst/>
          </a:prstGeom>
          <a:noFill/>
          <a:ln/>
        </p:spPr>
        <p:txBody>
          <a:bodyPr wrap="square" rtlCol="0" anchor="ctr"/>
          <a:lstStyle/>
          <a:p>
            <a:pPr marL="342900" indent="-342900">
              <a:buSzPct val="100000"/>
              <a:buChar char="•"/>
            </a:pPr>
            <a:r>
              <a:rPr lang="en-US" sz="1800" dirty="0">
                <a:solidFill>
                  <a:srgbClr val="6B6560"/>
                </a:solidFill>
                <a:latin typeface="AT Aero" pitchFamily="34" charset="0"/>
                <a:ea typeface="AT Aero" pitchFamily="34" charset="-122"/>
                <a:cs typeface="AT Aero" pitchFamily="34" charset="-120"/>
              </a:rPr>
              <a:t>- Silicon Carbide (SiC) Power: Drives high-efficiency power switches in high-voltage EV battery platforms.</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T Aero" pitchFamily="34" charset="0"/>
                <a:ea typeface="AT Aero" pitchFamily="34" charset="-122"/>
                <a:cs typeface="AT Aero" pitchFamily="34" charset="-120"/>
              </a:rPr>
              <a:t>- ADAS Autonomous Compute: Self-driving capabilities demand heavy on-board computational units for sensor fusion.</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T Aero" pitchFamily="34" charset="0"/>
                <a:ea typeface="AT Aero" pitchFamily="34" charset="-122"/>
                <a:cs typeface="AT Aero" pitchFamily="34" charset="-120"/>
              </a:rPr>
              <a:t>- Sensor Arrays Sourcing: Vehicles integrate multiple LiDAR, radar, and camera chip sets for 360-degree coverage.</a:t>
            </a:r>
            <a:endParaRPr lang="en-US" sz="1800" dirty="0"/>
          </a:p>
        </p:txBody>
      </p:sp>
      <p:sp>
        <p:nvSpPr>
          <p:cNvPr id="9" name="Shape 6"/>
          <p:cNvSpPr/>
          <p:nvPr/>
        </p:nvSpPr>
        <p:spPr>
          <a:xfrm>
            <a:off x="7680960" y="1371600"/>
            <a:ext cx="3840480" cy="4572000"/>
          </a:xfrm>
          <a:prstGeom prst="rect">
            <a:avLst/>
          </a:prstGeom>
          <a:solidFill>
            <a:srgbClr val="FFFDF8"/>
          </a:solidFill>
          <a:ln w="12700">
            <a:solidFill>
              <a:srgbClr val="E0D9D0"/>
            </a:solidFill>
            <a:prstDash val="solid"/>
          </a:ln>
        </p:spPr>
      </p:sp>
      <p:sp>
        <p:nvSpPr>
          <p:cNvPr id="10" name="Text 7"/>
          <p:cNvSpPr/>
          <p:nvPr/>
        </p:nvSpPr>
        <p:spPr>
          <a:xfrm>
            <a:off x="7680960" y="2011680"/>
            <a:ext cx="3840480" cy="365760"/>
          </a:xfrm>
          <a:prstGeom prst="rect">
            <a:avLst/>
          </a:prstGeom>
          <a:noFill/>
          <a:ln/>
        </p:spPr>
        <p:txBody>
          <a:bodyPr wrap="square" rtlCol="0" anchor="ctr"/>
          <a:lstStyle/>
          <a:p>
            <a:pPr algn="ctr" indent="0" marL="0">
              <a:buNone/>
            </a:pPr>
            <a:r>
              <a:rPr lang="en-US" sz="1200" b="1" dirty="0">
                <a:solidFill>
                  <a:srgbClr val="B84A2F"/>
                </a:solidFill>
                <a:latin typeface="AT Aero" pitchFamily="34" charset="0"/>
                <a:ea typeface="AT Aero" pitchFamily="34" charset="-122"/>
                <a:cs typeface="AT Aero" pitchFamily="34" charset="-120"/>
              </a:rPr>
              <a:t>ESTIMATE</a:t>
            </a:r>
            <a:endParaRPr lang="en-US" sz="1200" dirty="0"/>
          </a:p>
        </p:txBody>
      </p:sp>
      <p:sp>
        <p:nvSpPr>
          <p:cNvPr id="11" name="Text 8"/>
          <p:cNvSpPr/>
          <p:nvPr/>
        </p:nvSpPr>
        <p:spPr>
          <a:xfrm>
            <a:off x="7680960" y="2560320"/>
            <a:ext cx="3840480" cy="1097280"/>
          </a:xfrm>
          <a:prstGeom prst="rect">
            <a:avLst/>
          </a:prstGeom>
          <a:noFill/>
          <a:ln/>
        </p:spPr>
        <p:txBody>
          <a:bodyPr wrap="square" rtlCol="0" anchor="ctr"/>
          <a:lstStyle/>
          <a:p>
            <a:pPr algn="ctr" indent="0" marL="0">
              <a:buNone/>
            </a:pPr>
            <a:r>
              <a:rPr lang="en-US" sz="5000" b="1" dirty="0">
                <a:solidFill>
                  <a:srgbClr val="1A1714"/>
                </a:solidFill>
                <a:latin typeface="PP Mondwest" pitchFamily="34" charset="0"/>
                <a:ea typeface="PP Mondwest" pitchFamily="34" charset="-122"/>
                <a:cs typeface="PP Mondwest" pitchFamily="34" charset="-120"/>
              </a:rPr>
              <a:t>$1,000+</a:t>
            </a:r>
            <a:endParaRPr lang="en-US" sz="5000" dirty="0"/>
          </a:p>
        </p:txBody>
      </p:sp>
      <p:sp>
        <p:nvSpPr>
          <p:cNvPr id="12" name="Text 9"/>
          <p:cNvSpPr/>
          <p:nvPr/>
        </p:nvSpPr>
        <p:spPr>
          <a:xfrm>
            <a:off x="7680960" y="3840480"/>
            <a:ext cx="3840480" cy="731520"/>
          </a:xfrm>
          <a:prstGeom prst="rect">
            <a:avLst/>
          </a:prstGeom>
          <a:noFill/>
          <a:ln/>
        </p:spPr>
        <p:txBody>
          <a:bodyPr wrap="square" rtlCol="0" anchor="ctr"/>
          <a:lstStyle/>
          <a:p>
            <a:pPr algn="ctr" indent="0" marL="0">
              <a:buNone/>
            </a:pPr>
            <a:r>
              <a:rPr lang="en-US" sz="1500" dirty="0">
                <a:solidFill>
                  <a:srgbClr val="6B6560"/>
                </a:solidFill>
                <a:latin typeface="AT Aero" pitchFamily="34" charset="0"/>
                <a:ea typeface="AT Aero" pitchFamily="34" charset="-122"/>
                <a:cs typeface="AT Aero" pitchFamily="34" charset="-120"/>
              </a:rPr>
              <a:t>Silicon value content per EV unit</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T Aero" pitchFamily="34" charset="0"/>
                <a:ea typeface="AT Aero" pitchFamily="34" charset="-122"/>
                <a:cs typeface="AT Aero" pitchFamily="34" charset="-120"/>
              </a:rPr>
              <a:t>PART 3: END-USER INDUSTRIES &amp; APPLICATION ECOSYSTEM</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Industrial, IoT &amp; Healthcare: Intelligence at the Edge</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T Aero" pitchFamily="34" charset="0"/>
                <a:ea typeface="AT Aero" pitchFamily="34" charset="-122"/>
                <a:cs typeface="AT Aero" pitchFamily="34" charset="-120"/>
              </a:rPr>
              <a:t>The 2026 Semiconductor Ecosystem | Slide 15</a:t>
            </a:r>
            <a:endParaRPr lang="en-US" sz="1000" dirty="0"/>
          </a:p>
        </p:txBody>
      </p:sp>
      <p:sp>
        <p:nvSpPr>
          <p:cNvPr id="6" name="Shape 3"/>
          <p:cNvSpPr/>
          <p:nvPr/>
        </p:nvSpPr>
        <p:spPr>
          <a:xfrm>
            <a:off x="548640" y="1371600"/>
            <a:ext cx="10972800" cy="914400"/>
          </a:xfrm>
          <a:prstGeom prst="rect">
            <a:avLst/>
          </a:prstGeom>
          <a:solidFill>
            <a:srgbClr val="FFFDF8"/>
          </a:solidFill>
          <a:ln w="19050">
            <a:solidFill>
              <a:srgbClr val="9E7D84"/>
            </a:solidFill>
            <a:prstDash val="solid"/>
          </a:ln>
        </p:spPr>
      </p:sp>
      <p:sp>
        <p:nvSpPr>
          <p:cNvPr id="7" name="Text 4"/>
          <p:cNvSpPr/>
          <p:nvPr/>
        </p:nvSpPr>
        <p:spPr>
          <a:xfrm>
            <a:off x="731520" y="1463040"/>
            <a:ext cx="10607040" cy="731520"/>
          </a:xfrm>
          <a:prstGeom prst="rect">
            <a:avLst/>
          </a:prstGeom>
          <a:noFill/>
          <a:ln/>
        </p:spPr>
        <p:txBody>
          <a:bodyPr wrap="square" rtlCol="0" anchor="ctr"/>
          <a:lstStyle/>
          <a:p>
            <a:pPr indent="0" marL="0">
              <a:buNone/>
            </a:pPr>
            <a:r>
              <a:rPr lang="en-US" sz="1800" b="1" i="1" dirty="0">
                <a:solidFill>
                  <a:srgbClr val="9E7D84"/>
                </a:solidFill>
                <a:latin typeface="AT Aero" pitchFamily="34" charset="0"/>
                <a:ea typeface="AT Aero" pitchFamily="34" charset="-122"/>
                <a:cs typeface="AT Aero" pitchFamily="34" charset="-120"/>
              </a:rPr>
              <a:t>Key Message: Edge AI is transforming manufacturing and healthcare, prioritizing long-lifecycle, high-reliability silicon.</a:t>
            </a:r>
            <a:endParaRPr lang="en-US" sz="1800" dirty="0"/>
          </a:p>
        </p:txBody>
      </p:sp>
      <p:sp>
        <p:nvSpPr>
          <p:cNvPr id="8" name="Shape 5"/>
          <p:cNvSpPr/>
          <p:nvPr/>
        </p:nvSpPr>
        <p:spPr>
          <a:xfrm>
            <a:off x="548640" y="2560320"/>
            <a:ext cx="5212080" cy="3474720"/>
          </a:xfrm>
          <a:prstGeom prst="rect">
            <a:avLst/>
          </a:prstGeom>
          <a:solidFill>
            <a:srgbClr val="FFFDF8"/>
          </a:solidFill>
          <a:ln w="12700">
            <a:solidFill>
              <a:srgbClr val="9E7D84"/>
            </a:solidFill>
            <a:prstDash val="solid"/>
          </a:ln>
        </p:spPr>
      </p:sp>
      <p:sp>
        <p:nvSpPr>
          <p:cNvPr id="9" name="Text 6"/>
          <p:cNvSpPr/>
          <p:nvPr/>
        </p:nvSpPr>
        <p:spPr>
          <a:xfrm>
            <a:off x="822960" y="2834640"/>
            <a:ext cx="4663440" cy="457200"/>
          </a:xfrm>
          <a:prstGeom prst="rect">
            <a:avLst/>
          </a:prstGeom>
          <a:noFill/>
          <a:ln/>
        </p:spPr>
        <p:txBody>
          <a:bodyPr wrap="square" rtlCol="0" anchor="ctr"/>
          <a:lstStyle/>
          <a:p>
            <a:pPr indent="0" marL="0">
              <a:buNone/>
            </a:pPr>
            <a:r>
              <a:rPr lang="en-US" sz="2000" b="1" dirty="0">
                <a:solidFill>
                  <a:srgbClr val="9E7D84"/>
                </a:solidFill>
                <a:latin typeface="PP Mondwest" pitchFamily="34" charset="0"/>
                <a:ea typeface="PP Mondwest" pitchFamily="34" charset="-122"/>
                <a:cs typeface="PP Mondwest" pitchFamily="34" charset="-120"/>
              </a:rPr>
              <a:t>Industry 4.0 Edge Analytics</a:t>
            </a:r>
            <a:endParaRPr lang="en-US" sz="2000" dirty="0"/>
          </a:p>
        </p:txBody>
      </p:sp>
      <p:sp>
        <p:nvSpPr>
          <p:cNvPr id="10" name="Text 7"/>
          <p:cNvSpPr/>
          <p:nvPr/>
        </p:nvSpPr>
        <p:spPr>
          <a:xfrm>
            <a:off x="822960" y="3474720"/>
            <a:ext cx="4663440" cy="2194560"/>
          </a:xfrm>
          <a:prstGeom prst="rect">
            <a:avLst/>
          </a:prstGeom>
          <a:noFill/>
          <a:ln/>
        </p:spPr>
        <p:txBody>
          <a:bodyPr wrap="square" rtlCol="0" anchor="ctr"/>
          <a:lstStyle/>
          <a:p>
            <a:pPr indent="0" marL="0">
              <a:buNone/>
            </a:pPr>
            <a:r>
              <a:rPr lang="en-US" sz="1800" dirty="0">
                <a:solidFill>
                  <a:srgbClr val="6B6560"/>
                </a:solidFill>
                <a:latin typeface="AT Aero" pitchFamily="34" charset="0"/>
                <a:ea typeface="AT Aero" pitchFamily="34" charset="-122"/>
                <a:cs typeface="AT Aero" pitchFamily="34" charset="-120"/>
              </a:rPr>
              <a:t>Factory floor nodes execute real-time local algorithms for predictive maintenance and machine vision controls, utilizing highly rugged legacy processes.</a:t>
            </a:r>
            <a:endParaRPr lang="en-US" sz="1800" dirty="0"/>
          </a:p>
        </p:txBody>
      </p:sp>
      <p:sp>
        <p:nvSpPr>
          <p:cNvPr id="11" name="Shape 8"/>
          <p:cNvSpPr/>
          <p:nvPr/>
        </p:nvSpPr>
        <p:spPr>
          <a:xfrm>
            <a:off x="6309360" y="2560320"/>
            <a:ext cx="5212080" cy="3474720"/>
          </a:xfrm>
          <a:prstGeom prst="rect">
            <a:avLst/>
          </a:prstGeom>
          <a:solidFill>
            <a:srgbClr val="FFFDF8"/>
          </a:solidFill>
          <a:ln w="12700">
            <a:solidFill>
              <a:srgbClr val="768C7C"/>
            </a:solidFill>
            <a:prstDash val="solid"/>
          </a:ln>
        </p:spPr>
      </p:sp>
      <p:sp>
        <p:nvSpPr>
          <p:cNvPr id="12" name="Text 9"/>
          <p:cNvSpPr/>
          <p:nvPr/>
        </p:nvSpPr>
        <p:spPr>
          <a:xfrm>
            <a:off x="6583680" y="2834640"/>
            <a:ext cx="4663440" cy="457200"/>
          </a:xfrm>
          <a:prstGeom prst="rect">
            <a:avLst/>
          </a:prstGeom>
          <a:noFill/>
          <a:ln/>
        </p:spPr>
        <p:txBody>
          <a:bodyPr wrap="square" rtlCol="0" anchor="ctr"/>
          <a:lstStyle/>
          <a:p>
            <a:pPr indent="0" marL="0">
              <a:buNone/>
            </a:pPr>
            <a:r>
              <a:rPr lang="en-US" sz="2000" b="1" dirty="0">
                <a:solidFill>
                  <a:srgbClr val="768C7C"/>
                </a:solidFill>
                <a:latin typeface="PP Mondwest" pitchFamily="34" charset="0"/>
                <a:ea typeface="PP Mondwest" pitchFamily="34" charset="-122"/>
                <a:cs typeface="PP Mondwest" pitchFamily="34" charset="-120"/>
              </a:rPr>
              <a:t>Healthcare Personalized Sourcing</a:t>
            </a:r>
            <a:endParaRPr lang="en-US" sz="2000" dirty="0"/>
          </a:p>
        </p:txBody>
      </p:sp>
      <p:sp>
        <p:nvSpPr>
          <p:cNvPr id="13" name="Text 10"/>
          <p:cNvSpPr/>
          <p:nvPr/>
        </p:nvSpPr>
        <p:spPr>
          <a:xfrm>
            <a:off x="6583680" y="3474720"/>
            <a:ext cx="4663440" cy="2194560"/>
          </a:xfrm>
          <a:prstGeom prst="rect">
            <a:avLst/>
          </a:prstGeom>
          <a:noFill/>
          <a:ln/>
        </p:spPr>
        <p:txBody>
          <a:bodyPr wrap="square" rtlCol="0" anchor="ctr"/>
          <a:lstStyle/>
          <a:p>
            <a:pPr indent="0" marL="0">
              <a:buNone/>
            </a:pPr>
            <a:r>
              <a:rPr lang="en-US" sz="1800" dirty="0">
                <a:solidFill>
                  <a:srgbClr val="6B6560"/>
                </a:solidFill>
                <a:latin typeface="AT Aero" pitchFamily="34" charset="0"/>
                <a:ea typeface="AT Aero" pitchFamily="34" charset="-122"/>
                <a:cs typeface="AT Aero" pitchFamily="34" charset="-120"/>
              </a:rPr>
              <a:t>Semiconductors enable smart wearable diagnostics, active health implants, and personalized diagnostics. Requires extreme reliability certifications.</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T Aero" pitchFamily="34" charset="0"/>
                <a:ea typeface="AT Aero" pitchFamily="34" charset="-122"/>
                <a:cs typeface="AT Aero" pitchFamily="34" charset="-120"/>
              </a:rPr>
              <a:t>PART 3: END-USER INDUSTRIES &amp; APPLICATION ECOSYSTEM</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Consumer Electronics &amp; Emerging Frontiers</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T Aero" pitchFamily="34" charset="0"/>
                <a:ea typeface="AT Aero" pitchFamily="34" charset="-122"/>
                <a:cs typeface="AT Aero" pitchFamily="34" charset="-120"/>
              </a:rPr>
              <a:t>The 2026 Semiconductor Ecosystem | Slide 16</a:t>
            </a:r>
            <a:endParaRPr lang="en-US" sz="1000" dirty="0"/>
          </a:p>
        </p:txBody>
      </p:sp>
      <p:sp>
        <p:nvSpPr>
          <p:cNvPr id="6" name="Shape 3"/>
          <p:cNvSpPr/>
          <p:nvPr/>
        </p:nvSpPr>
        <p:spPr>
          <a:xfrm>
            <a:off x="548640" y="1371600"/>
            <a:ext cx="6583680" cy="914400"/>
          </a:xfrm>
          <a:prstGeom prst="rect">
            <a:avLst/>
          </a:prstGeom>
          <a:solidFill>
            <a:srgbClr val="FFFDF8"/>
          </a:solidFill>
          <a:ln w="19050">
            <a:solidFill>
              <a:srgbClr val="768C7C"/>
            </a:solidFill>
            <a:prstDash val="solid"/>
          </a:ln>
        </p:spPr>
      </p:sp>
      <p:sp>
        <p:nvSpPr>
          <p:cNvPr id="7" name="Text 4"/>
          <p:cNvSpPr/>
          <p:nvPr/>
        </p:nvSpPr>
        <p:spPr>
          <a:xfrm>
            <a:off x="731520" y="1463040"/>
            <a:ext cx="6217920" cy="731520"/>
          </a:xfrm>
          <a:prstGeom prst="rect">
            <a:avLst/>
          </a:prstGeom>
          <a:noFill/>
          <a:ln/>
        </p:spPr>
        <p:txBody>
          <a:bodyPr wrap="square" rtlCol="0" anchor="ctr"/>
          <a:lstStyle/>
          <a:p>
            <a:pPr indent="0" marL="0">
              <a:buNone/>
            </a:pPr>
            <a:r>
              <a:rPr lang="en-US" sz="1800" b="1" i="1" dirty="0">
                <a:solidFill>
                  <a:srgbClr val="768C7C"/>
                </a:solidFill>
                <a:latin typeface="AT Aero" pitchFamily="34" charset="0"/>
                <a:ea typeface="AT Aero" pitchFamily="34" charset="-122"/>
                <a:cs typeface="AT Aero" pitchFamily="34" charset="-120"/>
              </a:rPr>
              <a:t>Key Message: While traditional consumer tech matures, frontiers like Quantum, 6G, and Neuromorphic computing define the 2030 roadmap.</a:t>
            </a:r>
            <a:endParaRPr lang="en-US" sz="1800" dirty="0"/>
          </a:p>
        </p:txBody>
      </p:sp>
      <p:sp>
        <p:nvSpPr>
          <p:cNvPr id="8" name="Text 5"/>
          <p:cNvSpPr/>
          <p:nvPr/>
        </p:nvSpPr>
        <p:spPr>
          <a:xfrm>
            <a:off x="548640" y="2560320"/>
            <a:ext cx="6583680" cy="3474720"/>
          </a:xfrm>
          <a:prstGeom prst="rect">
            <a:avLst/>
          </a:prstGeom>
          <a:noFill/>
          <a:ln/>
        </p:spPr>
        <p:txBody>
          <a:bodyPr wrap="square" rtlCol="0" anchor="ctr"/>
          <a:lstStyle/>
          <a:p>
            <a:pPr marL="342900" indent="-342900">
              <a:buSzPct val="100000"/>
              <a:buChar char="•"/>
            </a:pPr>
            <a:r>
              <a:rPr lang="en-US" sz="1800" dirty="0">
                <a:solidFill>
                  <a:srgbClr val="6B6560"/>
                </a:solidFill>
                <a:latin typeface="AT Aero" pitchFamily="34" charset="0"/>
                <a:ea typeface="AT Aero" pitchFamily="34" charset="-122"/>
                <a:cs typeface="AT Aero" pitchFamily="34" charset="-120"/>
              </a:rPr>
              <a:t>- On-Device NPU Logic: Integrating Neural Processing Units (NPUs) into laptops and mobile phones to enable local AI execution.</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T Aero" pitchFamily="34" charset="0"/>
                <a:ea typeface="AT Aero" pitchFamily="34" charset="-122"/>
                <a:cs typeface="AT Aero" pitchFamily="34" charset="-120"/>
              </a:rPr>
              <a:t>- Neuromorphic Computing: Researching brain-inspired architectures targeting extreme computing power efficiency.</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T Aero" pitchFamily="34" charset="0"/>
                <a:ea typeface="AT Aero" pitchFamily="34" charset="-122"/>
                <a:cs typeface="AT Aero" pitchFamily="34" charset="-120"/>
              </a:rPr>
              <a:t>- Next-Gen Frontiers: Developing quantum structures and 6G communications hardware blocks.</a:t>
            </a:r>
            <a:endParaRPr lang="en-US" sz="1800" dirty="0"/>
          </a:p>
        </p:txBody>
      </p:sp>
      <p:sp>
        <p:nvSpPr>
          <p:cNvPr id="9" name="Shape 6"/>
          <p:cNvSpPr/>
          <p:nvPr/>
        </p:nvSpPr>
        <p:spPr>
          <a:xfrm>
            <a:off x="7680960" y="1371600"/>
            <a:ext cx="3840480" cy="4572000"/>
          </a:xfrm>
          <a:prstGeom prst="rect">
            <a:avLst/>
          </a:prstGeom>
          <a:solidFill>
            <a:srgbClr val="FFFDF8"/>
          </a:solidFill>
          <a:ln w="12700">
            <a:solidFill>
              <a:srgbClr val="E0D9D0"/>
            </a:solidFill>
            <a:prstDash val="solid"/>
          </a:ln>
        </p:spPr>
      </p:sp>
      <p:sp>
        <p:nvSpPr>
          <p:cNvPr id="10" name="Text 7"/>
          <p:cNvSpPr/>
          <p:nvPr/>
        </p:nvSpPr>
        <p:spPr>
          <a:xfrm>
            <a:off x="7680960" y="2011680"/>
            <a:ext cx="3840480" cy="365760"/>
          </a:xfrm>
          <a:prstGeom prst="rect">
            <a:avLst/>
          </a:prstGeom>
          <a:noFill/>
          <a:ln/>
        </p:spPr>
        <p:txBody>
          <a:bodyPr wrap="square" rtlCol="0" anchor="ctr"/>
          <a:lstStyle/>
          <a:p>
            <a:pPr algn="ctr" indent="0" marL="0">
              <a:buNone/>
            </a:pPr>
            <a:r>
              <a:rPr lang="en-US" sz="1200" b="1" dirty="0">
                <a:solidFill>
                  <a:srgbClr val="768C7C"/>
                </a:solidFill>
                <a:latin typeface="AT Aero" pitchFamily="34" charset="0"/>
                <a:ea typeface="AT Aero" pitchFamily="34" charset="-122"/>
                <a:cs typeface="AT Aero" pitchFamily="34" charset="-120"/>
              </a:rPr>
              <a:t>NPU CORES</a:t>
            </a:r>
            <a:endParaRPr lang="en-US" sz="1200" dirty="0"/>
          </a:p>
        </p:txBody>
      </p:sp>
      <p:sp>
        <p:nvSpPr>
          <p:cNvPr id="11" name="Text 8"/>
          <p:cNvSpPr/>
          <p:nvPr/>
        </p:nvSpPr>
        <p:spPr>
          <a:xfrm>
            <a:off x="7680960" y="2560320"/>
            <a:ext cx="3840480" cy="1097280"/>
          </a:xfrm>
          <a:prstGeom prst="rect">
            <a:avLst/>
          </a:prstGeom>
          <a:noFill/>
          <a:ln/>
        </p:spPr>
        <p:txBody>
          <a:bodyPr wrap="square" rtlCol="0" anchor="ctr"/>
          <a:lstStyle/>
          <a:p>
            <a:pPr algn="ctr" indent="0" marL="0">
              <a:buNone/>
            </a:pPr>
            <a:r>
              <a:rPr lang="en-US" sz="3600" b="1" dirty="0">
                <a:solidFill>
                  <a:srgbClr val="1A1714"/>
                </a:solidFill>
                <a:latin typeface="PP Mondwest" pitchFamily="34" charset="0"/>
                <a:ea typeface="PP Mondwest" pitchFamily="34" charset="-122"/>
                <a:cs typeface="PP Mondwest" pitchFamily="34" charset="-120"/>
              </a:rPr>
              <a:t>Client AI</a:t>
            </a:r>
            <a:endParaRPr lang="en-US" sz="3600" dirty="0"/>
          </a:p>
        </p:txBody>
      </p:sp>
      <p:sp>
        <p:nvSpPr>
          <p:cNvPr id="12" name="Text 9"/>
          <p:cNvSpPr/>
          <p:nvPr/>
        </p:nvSpPr>
        <p:spPr>
          <a:xfrm>
            <a:off x="7680960" y="3840480"/>
            <a:ext cx="3840480" cy="731520"/>
          </a:xfrm>
          <a:prstGeom prst="rect">
            <a:avLst/>
          </a:prstGeom>
          <a:noFill/>
          <a:ln/>
        </p:spPr>
        <p:txBody>
          <a:bodyPr wrap="square" rtlCol="0" anchor="ctr"/>
          <a:lstStyle/>
          <a:p>
            <a:pPr algn="ctr" indent="0" marL="0">
              <a:buNone/>
            </a:pPr>
            <a:r>
              <a:rPr lang="en-US" sz="1500" dirty="0">
                <a:solidFill>
                  <a:srgbClr val="6B6560"/>
                </a:solidFill>
                <a:latin typeface="AT Aero" pitchFamily="34" charset="0"/>
                <a:ea typeface="AT Aero" pitchFamily="34" charset="-122"/>
                <a:cs typeface="AT Aero" pitchFamily="34" charset="-120"/>
              </a:rPr>
              <a:t>Standard hardware in 2026 client electronics (laptops, phones)</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T Aero" pitchFamily="34" charset="0"/>
                <a:ea typeface="AT Aero" pitchFamily="34" charset="-122"/>
                <a:cs typeface="AT Aero" pitchFamily="34" charset="-120"/>
              </a:rPr>
              <a:t>SUMMARY &amp; ROADMAP</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Conclusion: A Silicon-Dependent Civilization</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T Aero" pitchFamily="34" charset="0"/>
                <a:ea typeface="AT Aero" pitchFamily="34" charset="-122"/>
                <a:cs typeface="AT Aero" pitchFamily="34" charset="-120"/>
              </a:rPr>
              <a:t>The 2026 Semiconductor Ecosystem | Slide 17</a:t>
            </a:r>
            <a:endParaRPr lang="en-US" sz="1000" dirty="0"/>
          </a:p>
        </p:txBody>
      </p:sp>
      <p:sp>
        <p:nvSpPr>
          <p:cNvPr id="6" name="Shape 3"/>
          <p:cNvSpPr/>
          <p:nvPr/>
        </p:nvSpPr>
        <p:spPr>
          <a:xfrm>
            <a:off x="548640" y="1280160"/>
            <a:ext cx="10972800" cy="822960"/>
          </a:xfrm>
          <a:prstGeom prst="rect">
            <a:avLst/>
          </a:prstGeom>
          <a:solidFill>
            <a:srgbClr val="FFFDF8"/>
          </a:solidFill>
          <a:ln w="19050">
            <a:solidFill>
              <a:srgbClr val="B84A2F"/>
            </a:solidFill>
            <a:prstDash val="solid"/>
          </a:ln>
        </p:spPr>
      </p:sp>
      <p:sp>
        <p:nvSpPr>
          <p:cNvPr id="7" name="Text 4"/>
          <p:cNvSpPr/>
          <p:nvPr/>
        </p:nvSpPr>
        <p:spPr>
          <a:xfrm>
            <a:off x="731520" y="1325880"/>
            <a:ext cx="10607040" cy="731520"/>
          </a:xfrm>
          <a:prstGeom prst="rect">
            <a:avLst/>
          </a:prstGeom>
          <a:noFill/>
          <a:ln/>
        </p:spPr>
        <p:txBody>
          <a:bodyPr wrap="square" rtlCol="0" anchor="ctr"/>
          <a:lstStyle/>
          <a:p>
            <a:pPr indent="0" marL="0">
              <a:buNone/>
            </a:pPr>
            <a:r>
              <a:rPr lang="en-US" sz="1800" b="1" i="1" dirty="0">
                <a:solidFill>
                  <a:srgbClr val="B84A2F"/>
                </a:solidFill>
                <a:latin typeface="AT Aero" pitchFamily="34" charset="0"/>
                <a:ea typeface="AT Aero" pitchFamily="34" charset="-122"/>
                <a:cs typeface="AT Aero" pitchFamily="34" charset="-120"/>
              </a:rPr>
              <a:t>Key Message: We have reached a point of "Total Silicon Dependency." The path to a $2 trillion industry is certain.</a:t>
            </a:r>
            <a:endParaRPr lang="en-US" sz="1800" dirty="0"/>
          </a:p>
        </p:txBody>
      </p:sp>
      <p:sp>
        <p:nvSpPr>
          <p:cNvPr id="8" name="Text 5"/>
          <p:cNvSpPr/>
          <p:nvPr/>
        </p:nvSpPr>
        <p:spPr>
          <a:xfrm>
            <a:off x="548640" y="2194560"/>
            <a:ext cx="10972800" cy="731520"/>
          </a:xfrm>
          <a:prstGeom prst="rect">
            <a:avLst/>
          </a:prstGeom>
          <a:noFill/>
          <a:ln/>
        </p:spPr>
        <p:txBody>
          <a:bodyPr wrap="square" rtlCol="0" anchor="ctr"/>
          <a:lstStyle/>
          <a:p>
            <a:pPr indent="0" marL="0">
              <a:buNone/>
            </a:pPr>
            <a:r>
              <a:rPr lang="en-US" sz="1800" dirty="0">
                <a:solidFill>
                  <a:srgbClr val="6B6560"/>
                </a:solidFill>
                <a:latin typeface="AT Aero" pitchFamily="34" charset="0"/>
                <a:ea typeface="AT Aero" pitchFamily="34" charset="-122"/>
                <a:cs typeface="AT Aero" pitchFamily="34" charset="-120"/>
              </a:rPr>
              <a:t>Mastery of the semiconductor ecosystem is mastery of the future. The "Chip Wars" aren't just about manufacturing; they are about who can best harness silicon to transform their industries.</a:t>
            </a:r>
            <a:endParaRPr lang="en-US" sz="1800" dirty="0"/>
          </a:p>
        </p:txBody>
      </p:sp>
      <p:sp>
        <p:nvSpPr>
          <p:cNvPr id="9" name="Text 6"/>
          <p:cNvSpPr/>
          <p:nvPr/>
        </p:nvSpPr>
        <p:spPr>
          <a:xfrm>
            <a:off x="548640" y="3017520"/>
            <a:ext cx="10972800" cy="274320"/>
          </a:xfrm>
          <a:prstGeom prst="rect">
            <a:avLst/>
          </a:prstGeom>
          <a:noFill/>
          <a:ln/>
        </p:spPr>
        <p:txBody>
          <a:bodyPr wrap="square" rtlCol="0" anchor="ctr"/>
          <a:lstStyle/>
          <a:p>
            <a:pPr indent="0" marL="0">
              <a:buNone/>
            </a:pPr>
            <a:r>
              <a:rPr lang="en-US" sz="1200" b="1" spc="100" kern="0" dirty="0">
                <a:solidFill>
                  <a:srgbClr val="1A1714"/>
                </a:solidFill>
                <a:latin typeface="AT Aero" pitchFamily="34" charset="0"/>
                <a:ea typeface="AT Aero" pitchFamily="34" charset="-122"/>
                <a:cs typeface="AT Aero" pitchFamily="34" charset="-120"/>
              </a:rPr>
              <a:t>KEY TAKEAWAYS SUMMARY</a:t>
            </a:r>
            <a:endParaRPr lang="en-US" sz="1200" dirty="0"/>
          </a:p>
        </p:txBody>
      </p:sp>
      <p:sp>
        <p:nvSpPr>
          <p:cNvPr id="10" name="Shape 7"/>
          <p:cNvSpPr/>
          <p:nvPr/>
        </p:nvSpPr>
        <p:spPr>
          <a:xfrm>
            <a:off x="548640" y="3383280"/>
            <a:ext cx="3291840" cy="2743200"/>
          </a:xfrm>
          <a:prstGeom prst="rect">
            <a:avLst/>
          </a:prstGeom>
          <a:solidFill>
            <a:srgbClr val="FFFDF8"/>
          </a:solidFill>
          <a:ln w="12700">
            <a:solidFill>
              <a:srgbClr val="E0D9D0"/>
            </a:solidFill>
            <a:prstDash val="solid"/>
          </a:ln>
        </p:spPr>
      </p:sp>
      <p:sp>
        <p:nvSpPr>
          <p:cNvPr id="11" name="Text 8"/>
          <p:cNvSpPr/>
          <p:nvPr/>
        </p:nvSpPr>
        <p:spPr>
          <a:xfrm>
            <a:off x="822960" y="3566160"/>
            <a:ext cx="2743200" cy="365760"/>
          </a:xfrm>
          <a:prstGeom prst="rect">
            <a:avLst/>
          </a:prstGeom>
          <a:noFill/>
          <a:ln/>
        </p:spPr>
        <p:txBody>
          <a:bodyPr wrap="square" rtlCol="0" anchor="ctr"/>
          <a:lstStyle/>
          <a:p>
            <a:pPr indent="0" marL="0">
              <a:buNone/>
            </a:pPr>
            <a:r>
              <a:rPr lang="en-US" sz="2000" b="1" dirty="0">
                <a:solidFill>
                  <a:srgbClr val="B84A2F"/>
                </a:solidFill>
                <a:latin typeface="PP Mondwest" pitchFamily="34" charset="0"/>
                <a:ea typeface="PP Mondwest" pitchFamily="34" charset="-122"/>
                <a:cs typeface="PP Mondwest" pitchFamily="34" charset="-120"/>
              </a:rPr>
              <a:t>Procurement</a:t>
            </a:r>
            <a:endParaRPr lang="en-US" sz="2000" dirty="0"/>
          </a:p>
        </p:txBody>
      </p:sp>
      <p:sp>
        <p:nvSpPr>
          <p:cNvPr id="12" name="Text 9"/>
          <p:cNvSpPr/>
          <p:nvPr/>
        </p:nvSpPr>
        <p:spPr>
          <a:xfrm>
            <a:off x="822960" y="4023360"/>
            <a:ext cx="2743200" cy="1920240"/>
          </a:xfrm>
          <a:prstGeom prst="rect">
            <a:avLst/>
          </a:prstGeom>
          <a:noFill/>
          <a:ln/>
        </p:spPr>
        <p:txBody>
          <a:bodyPr wrap="square" rtlCol="0" anchor="ctr"/>
          <a:lstStyle/>
          <a:p>
            <a:pPr indent="0" marL="0">
              <a:buNone/>
            </a:pPr>
            <a:r>
              <a:rPr lang="en-US" sz="1800" dirty="0">
                <a:solidFill>
                  <a:srgbClr val="6B6560"/>
                </a:solidFill>
                <a:latin typeface="AT Aero" pitchFamily="34" charset="0"/>
                <a:ea typeface="AT Aero" pitchFamily="34" charset="-122"/>
                <a:cs typeface="AT Aero" pitchFamily="34" charset="-120"/>
              </a:rPr>
              <a:t>Shift from JIT to Strategic Hybrid; resilience is the new ROI.</a:t>
            </a:r>
            <a:endParaRPr lang="en-US" sz="1800" dirty="0"/>
          </a:p>
        </p:txBody>
      </p:sp>
      <p:sp>
        <p:nvSpPr>
          <p:cNvPr id="13" name="Shape 10"/>
          <p:cNvSpPr/>
          <p:nvPr/>
        </p:nvSpPr>
        <p:spPr>
          <a:xfrm>
            <a:off x="4389120" y="3383280"/>
            <a:ext cx="3291840" cy="2743200"/>
          </a:xfrm>
          <a:prstGeom prst="rect">
            <a:avLst/>
          </a:prstGeom>
          <a:solidFill>
            <a:srgbClr val="FFFDF8"/>
          </a:solidFill>
          <a:ln w="12700">
            <a:solidFill>
              <a:srgbClr val="E0D9D0"/>
            </a:solidFill>
            <a:prstDash val="solid"/>
          </a:ln>
        </p:spPr>
      </p:sp>
      <p:sp>
        <p:nvSpPr>
          <p:cNvPr id="14" name="Text 11"/>
          <p:cNvSpPr/>
          <p:nvPr/>
        </p:nvSpPr>
        <p:spPr>
          <a:xfrm>
            <a:off x="4663440" y="3566160"/>
            <a:ext cx="2743200" cy="365760"/>
          </a:xfrm>
          <a:prstGeom prst="rect">
            <a:avLst/>
          </a:prstGeom>
          <a:noFill/>
          <a:ln/>
        </p:spPr>
        <p:txBody>
          <a:bodyPr wrap="square" rtlCol="0" anchor="ctr"/>
          <a:lstStyle/>
          <a:p>
            <a:pPr indent="0" marL="0">
              <a:buNone/>
            </a:pPr>
            <a:r>
              <a:rPr lang="en-US" sz="2000" b="1" dirty="0">
                <a:solidFill>
                  <a:srgbClr val="9E7D84"/>
                </a:solidFill>
                <a:latin typeface="PP Mondwest" pitchFamily="34" charset="0"/>
                <a:ea typeface="PP Mondwest" pitchFamily="34" charset="-122"/>
                <a:cs typeface="PP Mondwest" pitchFamily="34" charset="-120"/>
              </a:rPr>
              <a:t>Supply Chain</a:t>
            </a:r>
            <a:endParaRPr lang="en-US" sz="2000" dirty="0"/>
          </a:p>
        </p:txBody>
      </p:sp>
      <p:sp>
        <p:nvSpPr>
          <p:cNvPr id="15" name="Text 12"/>
          <p:cNvSpPr/>
          <p:nvPr/>
        </p:nvSpPr>
        <p:spPr>
          <a:xfrm>
            <a:off x="4663440" y="4023360"/>
            <a:ext cx="2743200" cy="1920240"/>
          </a:xfrm>
          <a:prstGeom prst="rect">
            <a:avLst/>
          </a:prstGeom>
          <a:noFill/>
          <a:ln/>
        </p:spPr>
        <p:txBody>
          <a:bodyPr wrap="square" rtlCol="0" anchor="ctr"/>
          <a:lstStyle/>
          <a:p>
            <a:pPr indent="0" marL="0">
              <a:buNone/>
            </a:pPr>
            <a:r>
              <a:rPr lang="en-US" sz="1800" dirty="0">
                <a:solidFill>
                  <a:srgbClr val="6B6560"/>
                </a:solidFill>
                <a:latin typeface="AT Aero" pitchFamily="34" charset="0"/>
                <a:ea typeface="AT Aero" pitchFamily="34" charset="-122"/>
                <a:cs typeface="AT Aero" pitchFamily="34" charset="-120"/>
              </a:rPr>
              <a:t>Chokepoints in Advanced Packaging and SME are the new strategic risks.</a:t>
            </a:r>
            <a:endParaRPr lang="en-US" sz="1800" dirty="0"/>
          </a:p>
        </p:txBody>
      </p:sp>
      <p:sp>
        <p:nvSpPr>
          <p:cNvPr id="16" name="Shape 13"/>
          <p:cNvSpPr/>
          <p:nvPr/>
        </p:nvSpPr>
        <p:spPr>
          <a:xfrm>
            <a:off x="8229600" y="3383280"/>
            <a:ext cx="3291840" cy="2743200"/>
          </a:xfrm>
          <a:prstGeom prst="rect">
            <a:avLst/>
          </a:prstGeom>
          <a:solidFill>
            <a:srgbClr val="FFFDF8"/>
          </a:solidFill>
          <a:ln w="12700">
            <a:solidFill>
              <a:srgbClr val="E0D9D0"/>
            </a:solidFill>
            <a:prstDash val="solid"/>
          </a:ln>
        </p:spPr>
      </p:sp>
      <p:sp>
        <p:nvSpPr>
          <p:cNvPr id="17" name="Text 14"/>
          <p:cNvSpPr/>
          <p:nvPr/>
        </p:nvSpPr>
        <p:spPr>
          <a:xfrm>
            <a:off x="8503920" y="3566160"/>
            <a:ext cx="2743200" cy="365760"/>
          </a:xfrm>
          <a:prstGeom prst="rect">
            <a:avLst/>
          </a:prstGeom>
          <a:noFill/>
          <a:ln/>
        </p:spPr>
        <p:txBody>
          <a:bodyPr wrap="square" rtlCol="0" anchor="ctr"/>
          <a:lstStyle/>
          <a:p>
            <a:pPr indent="0" marL="0">
              <a:buNone/>
            </a:pPr>
            <a:r>
              <a:rPr lang="en-US" sz="2000" b="1" dirty="0">
                <a:solidFill>
                  <a:srgbClr val="768C7C"/>
                </a:solidFill>
                <a:latin typeface="PP Mondwest" pitchFamily="34" charset="0"/>
                <a:ea typeface="PP Mondwest" pitchFamily="34" charset="-122"/>
                <a:cs typeface="PP Mondwest" pitchFamily="34" charset="-120"/>
              </a:rPr>
              <a:t>Industries</a:t>
            </a:r>
            <a:endParaRPr lang="en-US" sz="2000" dirty="0"/>
          </a:p>
        </p:txBody>
      </p:sp>
      <p:sp>
        <p:nvSpPr>
          <p:cNvPr id="18" name="Text 15"/>
          <p:cNvSpPr/>
          <p:nvPr/>
        </p:nvSpPr>
        <p:spPr>
          <a:xfrm>
            <a:off x="8503920" y="4023360"/>
            <a:ext cx="2743200" cy="1920240"/>
          </a:xfrm>
          <a:prstGeom prst="rect">
            <a:avLst/>
          </a:prstGeom>
          <a:noFill/>
          <a:ln/>
        </p:spPr>
        <p:txBody>
          <a:bodyPr wrap="square" rtlCol="0" anchor="ctr"/>
          <a:lstStyle/>
          <a:p>
            <a:pPr indent="0" marL="0">
              <a:buNone/>
            </a:pPr>
            <a:r>
              <a:rPr lang="en-US" sz="1800" dirty="0">
                <a:solidFill>
                  <a:srgbClr val="6B6560"/>
                </a:solidFill>
                <a:latin typeface="AT Aero" pitchFamily="34" charset="0"/>
                <a:ea typeface="AT Aero" pitchFamily="34" charset="-122"/>
                <a:cs typeface="AT Aero" pitchFamily="34" charset="-120"/>
              </a:rPr>
              <a:t>AI is the Value King; Automotive is the Volume King.</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0E8"/>
        </a:solidFill>
      </p:bgPr>
    </p:bg>
    <p:spTree>
      <p:nvGrpSpPr>
        <p:cNvPr id="1" name=""/>
        <p:cNvGrpSpPr/>
        <p:nvPr/>
      </p:nvGrpSpPr>
      <p:grpSpPr>
        <a:xfrm>
          <a:off x="0" y="0"/>
          <a:ext cx="0" cy="0"/>
          <a:chOff x="0" y="0"/>
          <a:chExt cx="0" cy="0"/>
        </a:xfrm>
      </p:grpSpPr>
      <p:sp>
        <p:nvSpPr>
          <p:cNvPr id="3" name="Text 0"/>
          <p:cNvSpPr/>
          <p:nvPr/>
        </p:nvSpPr>
        <p:spPr>
          <a:xfrm>
            <a:off x="731520" y="1371600"/>
            <a:ext cx="10515600" cy="365760"/>
          </a:xfrm>
          <a:prstGeom prst="rect">
            <a:avLst/>
          </a:prstGeom>
          <a:noFill/>
          <a:ln/>
        </p:spPr>
        <p:txBody>
          <a:bodyPr wrap="square" rtlCol="0" anchor="ctr"/>
          <a:lstStyle/>
          <a:p>
            <a:pPr indent="0" marL="0">
              <a:buNone/>
            </a:pPr>
            <a:r>
              <a:rPr lang="en-US" sz="1400" b="1" spc="150" kern="0" dirty="0">
                <a:solidFill>
                  <a:srgbClr val="B84A2F"/>
                </a:solidFill>
                <a:latin typeface="AT Aero" pitchFamily="34" charset="0"/>
                <a:ea typeface="AT Aero" pitchFamily="34" charset="-122"/>
                <a:cs typeface="AT Aero" pitchFamily="34" charset="-120"/>
              </a:rPr>
              <a:t>THE END</a:t>
            </a:r>
            <a:endParaRPr lang="en-US" sz="1400" dirty="0"/>
          </a:p>
        </p:txBody>
      </p:sp>
      <p:sp>
        <p:nvSpPr>
          <p:cNvPr id="4" name="Text 1"/>
          <p:cNvSpPr/>
          <p:nvPr/>
        </p:nvSpPr>
        <p:spPr>
          <a:xfrm>
            <a:off x="731520" y="1828800"/>
            <a:ext cx="10515600" cy="1097280"/>
          </a:xfrm>
          <a:prstGeom prst="rect">
            <a:avLst/>
          </a:prstGeom>
          <a:noFill/>
          <a:ln/>
        </p:spPr>
        <p:txBody>
          <a:bodyPr wrap="square" rtlCol="0" anchor="ctr"/>
          <a:lstStyle/>
          <a:p>
            <a:pPr indent="0" marL="0">
              <a:buNone/>
            </a:pPr>
            <a:r>
              <a:rPr lang="en-US" sz="5600" b="1" dirty="0">
                <a:solidFill>
                  <a:srgbClr val="1A1714"/>
                </a:solidFill>
                <a:latin typeface="PP Mondwest" pitchFamily="34" charset="0"/>
                <a:ea typeface="PP Mondwest" pitchFamily="34" charset="-122"/>
                <a:cs typeface="PP Mondwest" pitchFamily="34" charset="-120"/>
              </a:rPr>
              <a:t>Thank You</a:t>
            </a:r>
            <a:endParaRPr lang="en-US" sz="5600" dirty="0"/>
          </a:p>
        </p:txBody>
      </p:sp>
      <p:sp>
        <p:nvSpPr>
          <p:cNvPr id="5" name="Text 2"/>
          <p:cNvSpPr/>
          <p:nvPr/>
        </p:nvSpPr>
        <p:spPr>
          <a:xfrm>
            <a:off x="731520" y="3017520"/>
            <a:ext cx="10515600" cy="731520"/>
          </a:xfrm>
          <a:prstGeom prst="rect">
            <a:avLst/>
          </a:prstGeom>
          <a:noFill/>
          <a:ln/>
        </p:spPr>
        <p:txBody>
          <a:bodyPr wrap="square" rtlCol="0" anchor="ctr"/>
          <a:lstStyle/>
          <a:p>
            <a:pPr indent="0" marL="0">
              <a:buNone/>
            </a:pPr>
            <a:r>
              <a:rPr lang="en-US" sz="2000" dirty="0">
                <a:solidFill>
                  <a:srgbClr val="6B6560"/>
                </a:solidFill>
                <a:latin typeface="AT Aero" pitchFamily="34" charset="0"/>
                <a:ea typeface="AT Aero" pitchFamily="34" charset="-122"/>
                <a:cs typeface="AT Aero" pitchFamily="34" charset="-120"/>
              </a:rPr>
              <a:t>Mastery of the semiconductor ecosystem is mastery of the future.</a:t>
            </a:r>
            <a:endParaRPr lang="en-US" sz="2000" dirty="0"/>
          </a:p>
        </p:txBody>
      </p:sp>
      <p:sp>
        <p:nvSpPr>
          <p:cNvPr id="6" name="Shape 3"/>
          <p:cNvSpPr/>
          <p:nvPr/>
        </p:nvSpPr>
        <p:spPr>
          <a:xfrm>
            <a:off x="731520" y="3840480"/>
            <a:ext cx="4572000" cy="36576"/>
          </a:xfrm>
          <a:prstGeom prst="rect">
            <a:avLst/>
          </a:prstGeom>
          <a:solidFill>
            <a:srgbClr val="B84A2F"/>
          </a:solidFill>
          <a:ln/>
        </p:spPr>
      </p:sp>
      <p:sp>
        <p:nvSpPr>
          <p:cNvPr id="7" name="Text 4"/>
          <p:cNvSpPr/>
          <p:nvPr/>
        </p:nvSpPr>
        <p:spPr>
          <a:xfrm>
            <a:off x="731520" y="4206240"/>
            <a:ext cx="4572000" cy="731520"/>
          </a:xfrm>
          <a:prstGeom prst="rect">
            <a:avLst/>
          </a:prstGeom>
          <a:noFill/>
          <a:ln/>
        </p:spPr>
        <p:txBody>
          <a:bodyPr wrap="square" rtlCol="0" anchor="ctr"/>
          <a:lstStyle/>
          <a:p>
            <a:pPr indent="0" marL="0">
              <a:buNone/>
            </a:pPr>
            <a:r>
              <a:rPr lang="en-US" sz="1400" dirty="0">
                <a:solidFill>
                  <a:srgbClr val="6B6560"/>
                </a:solidFill>
                <a:latin typeface="AT Aero" pitchFamily="34" charset="0"/>
                <a:ea typeface="AT Aero" pitchFamily="34" charset="-122"/>
                <a:cs typeface="AT Aero" pitchFamily="34" charset="-120"/>
              </a:rPr>
              <a:t>Presenter: Phyoe Sat Paing</a:t>
            </a:r>
            <a:endParaRPr lang="en-US" sz="1400" dirty="0"/>
          </a:p>
          <a:p>
            <a:pPr indent="0" marL="0">
              <a:buNone/>
            </a:pPr>
            <a:r>
              <a:rPr lang="en-US" sz="1400" dirty="0">
                <a:solidFill>
                  <a:srgbClr val="6B6560"/>
                </a:solidFill>
                <a:latin typeface="AT Aero" pitchFamily="34" charset="0"/>
                <a:ea typeface="AT Aero" pitchFamily="34" charset="-122"/>
                <a:cs typeface="AT Aero" pitchFamily="34" charset="-120"/>
              </a:rPr>
              <a:t>Boardroom Strategic Briefing</a:t>
            </a:r>
            <a:endParaRPr lang="en-US" sz="1400" dirty="0"/>
          </a:p>
        </p:txBody>
      </p:sp>
      <p:sp>
        <p:nvSpPr>
          <p:cNvPr id="8" name="Text 5"/>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T Aero" pitchFamily="34" charset="0"/>
                <a:ea typeface="AT Aero" pitchFamily="34" charset="-122"/>
                <a:cs typeface="AT Aero" pitchFamily="34" charset="-120"/>
              </a:rPr>
              <a:t>The 2026 Semiconductor Ecosystem | Slide 18</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2026-06-10T09:47:31Z</dcterms:created>
  <dcterms:modified xsi:type="dcterms:W3CDTF">2026-06-10T09:47:31Z</dcterms:modified>
</cp:coreProperties>
</file>