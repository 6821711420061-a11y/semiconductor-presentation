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and welcome to this strategic briefing. Today, we are reviewing 'The 2026 Semiconductor Ecosystem' with a focus on procurement, global supply chains, and end-user verticals.
In 2026, semiconductor procurement has transitioned from a back-office utility into a core strategic capability for technological growth, commercial innovation, and national security. Over this session, we will analyze how organizations can navigate this crucial field to manage risk and secure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begin with our executive summary on the procurement paradox. The semiconductor industry has reached a massive $1.3 trillion market valuation. However, this record-breaking growth is accompanied by systemic fragility. Sourcing critical logic nodes and High Bandwidth Memory (HBM) remains highly constrained. To thrive, procurement executives must pivot from traditional transactional buying to deep, long-term strategic relationship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'Just-in-Time' inventory model is obsolete for critical semiconductor components. In 2026, the new standard is a hybrid inventory model. Organizations are maintaining 3 to 6 months of buffer stock for high-value, sole-sourced components, while keeping lean, JIT structures for commoditized parts. This balances operational resilience with capital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management is the key tool to combat supply chain opacity. We segment the procurement landscape into Leading-edge nodes (sub-7nm) and Legacy nodes (28nm and above). Sourcing leading-edge chips requires deep, multi-year R&amp;D partnerships, while legacy sourcing focuses on active multi-sourcing, life-cycle tracking, and securing long-term supply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in 2026 is data-driven. Leading procurement teams utilize AI-enabled 'Business Intelligence Cockpits' to map supplier networks and forecast shortages 6 to 12 months ahead. Furthermore, securing capacity requires proactive commercial structures, including capacity reservation fees and take-or-pay long-term agreements (LTAs).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begin Part 2: The Global Supply Chain. A single microchip can cross international borders over 70 times before completion, making it the most complex value chain in industrial history. This 'Silicon Journey' connects chip designers in the US, equipment manufacturers in Europe, silicon fabricators in East Asia, and packaging facilities in Southeast Asia. This creates unmatched efficiency but extreme vulnerability to regional disruptions.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Value Chain is characterized by extreme cluster concentration. The US controls research, design IP, and EDA software; Europe dominates specialized tooling, led by ASML's monopoly on EUV lithography scanners; and East Asia (specifically TSMC and Samsung) commands wafer fabrication. This high specialization means any single failure point halts the entire global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wafer fabrication nodes (like 3nm and the emerging 2nm node) capture public attention, the primary bottleneck in 2026 is back-end advanced packaging. Heterogeneous packaging techniques like Chip-on-Wafer-on-Substrate (CoWoS) and 3D stacking are highly constrained, making packaging the primary growth limiter for high-performance AI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Geopolitics has fragmented the silicon landscape into a multi-polar world. Government initiatives—such as the US CHIPS Act ($52B) and massive state funding in Europe and China—have triggered a reshoring race. Crucially, raw material chokepoints like Gallium and Germanium are now active levers of trade and foreign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build resilience, leading firms are mapping their supply networks down to Tier-4 and Tier-5 suppliers. Additionally, we are seeing the rise of circular supply chains, where firms recover rare earth metals and copper from e-waste to insulate themselves from mining volatility and supply disruptions.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now transition to Part 3: End-User Industries. Semiconductors have become the central nervous system of the global economy. 'Silicon Intensity'—the value of semiconductor content per product unit—is now the primary metric of industrial competitiveness. No modern industry can run or innovate without silicon.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in 2026 shows a major structural shift. AI infrastructure, automotive electronics, and factory robotics are capturing the majority of growth. While traditional smartphone and PC markets face saturation, specialized automotive and AI accelerator segments are driving industry revenues to new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accelerators have turned data centers into massive intelligence engines, with the market approaching $500 billion. This segment is the primary consumer of leading-edge 3nm and 2nm foundry nodes, consuming massive volumes of High Bandwidth Memory and advanced networking silicon.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Vehicles and Advanced Driver Assistance Systems (ADAS) are doubling the semiconductor value per vehicle, now exceeding $1,000 per unit. EVs depend heavily on Silicon Carbide (SiC) power electronics for battery efficiency, while autonomous drive systems require massive local compute power and LiDAR arrays.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 AI is transforming industrial automation and healthcare. Industry 4.0 uses real-time edge analytics for predictive maintenance. In healthcare, semiconductors enable smart implants, wearable biosensors, and personalized diagnostics, demanding highly rugged, long-lifecycle silicon.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traditional consumer volumes mature, manufacturers are integrating Neural Processing Units (NPUs) into laptops and phones to enable on-device AI. Looking forward, emerging frontiers like quantum computing, 6G telecom, and brain-inspired neuromorphic chips are defining the roadmap toward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we have reached a state of total silicon dependency. The path to a $2 global industry by the early 2030s is clear. The 'Chip Wars' are not just about manufacturing footprint; they are about who can best harness silicon to transform their businesses. Let's summarize the key takeaways: Procurement must shift to a hybrid model; packaging is the new supply chokepoint; and AI and Automotive remain the primary engines of value and volume. Thank you, and I am open to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9"/>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FFFFFF"/>
                </a:solidFill>
                <a:latin typeface="Helvetica" pitchFamily="34" charset="0"/>
                <a:ea typeface="Helvetica" pitchFamily="34" charset="-122"/>
                <a:cs typeface="Helvetica"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A0AEC0"/>
                </a:solidFill>
                <a:latin typeface="Helvetica" pitchFamily="34" charset="0"/>
                <a:ea typeface="Helvetica" pitchFamily="34" charset="-122"/>
                <a:cs typeface="Helvetica"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00F2FE"/>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Presenter: Phyoe Sat Paing</a:t>
            </a:r>
            <a:endParaRPr lang="en-US" sz="1400" dirty="0"/>
          </a:p>
          <a:p>
            <a:pPr indent="0" marL="0">
              <a:buNone/>
            </a:pPr>
            <a:r>
              <a:rPr lang="en-US" sz="1400" dirty="0">
                <a:solidFill>
                  <a:srgbClr val="A0AEC0"/>
                </a:solidFill>
                <a:latin typeface="Helvetica" pitchFamily="34" charset="0"/>
                <a:ea typeface="Helvetica" pitchFamily="34" charset="-122"/>
                <a:cs typeface="Helvetica"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2FE"/>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00F2FE"/>
                </a:solidFill>
                <a:latin typeface="Helvetica" pitchFamily="34" charset="0"/>
                <a:ea typeface="Helvetica" pitchFamily="34" charset="-122"/>
                <a:cs typeface="Helvetica"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FFFFFF"/>
                </a:solidFill>
                <a:latin typeface="Helvetica" pitchFamily="34" charset="0"/>
                <a:ea typeface="Helvetica" pitchFamily="34" charset="-122"/>
                <a:cs typeface="Helvetica"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A0AEC0"/>
                </a:solidFill>
                <a:latin typeface="Helvetica" pitchFamily="34" charset="0"/>
                <a:ea typeface="Helvetica" pitchFamily="34" charset="-122"/>
                <a:cs typeface="Helvetica" pitchFamily="34" charset="-120"/>
              </a:rPr>
              <a:t>Global Market Value</a:t>
            </a:r>
            <a:endParaRPr lang="en-US" sz="1400" dirty="0"/>
          </a:p>
          <a:p>
            <a:pPr algn="ctr" indent="0" marL="0">
              <a:buNone/>
            </a:pPr>
            <a:r>
              <a:rPr lang="en-US" sz="1400" dirty="0">
                <a:solidFill>
                  <a:srgbClr val="A0AEC0"/>
                </a:solidFill>
                <a:latin typeface="Helvetica" pitchFamily="34" charset="0"/>
                <a:ea typeface="Helvetica" pitchFamily="34" charset="-122"/>
                <a:cs typeface="Helvetica"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C084F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121826"/>
          </a:solidFill>
          <a:ln w="12700">
            <a:solidFill>
              <a:srgbClr val="505D6F"/>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121826"/>
          </a:solidFill>
          <a:ln w="12700">
            <a:solidFill>
              <a:srgbClr val="505D6F"/>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F87"/>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121826"/>
          </a:solidFill>
          <a:ln w="12700">
            <a:solidFill>
              <a:srgbClr val="00FF87"/>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Leading-Edge Nodes</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121826"/>
          </a:solidFill>
          <a:ln w="12700">
            <a:solidFill>
              <a:srgbClr val="FBBF2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Legacy Nodes</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121826"/>
          </a:solidFill>
          <a:ln w="12700">
            <a:solidFill>
              <a:srgbClr val="505D6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121826"/>
          </a:solidFill>
          <a:ln w="12700">
            <a:solidFill>
              <a:srgbClr val="505D6F"/>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121826"/>
          </a:solidFill>
          <a:ln w="12700">
            <a:solidFill>
              <a:srgbClr val="00F2FE"/>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A0AEC0"/>
                </a:solidFill>
                <a:latin typeface="Helvetica" pitchFamily="34" charset="0"/>
                <a:ea typeface="Helvetica" pitchFamily="34" charset="-122"/>
                <a:cs typeface="Helvetica"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00FF87"/>
                </a:solidFill>
                <a:latin typeface="Helvetica" pitchFamily="34" charset="0"/>
                <a:ea typeface="Helvetica" pitchFamily="34" charset="-122"/>
                <a:cs typeface="Helvetica"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121826"/>
          </a:solidFill>
          <a:ln w="12700">
            <a:solidFill>
              <a:srgbClr val="505D6F"/>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121826"/>
          </a:solidFill>
          <a:ln w="12700">
            <a:solidFill>
              <a:srgbClr val="505D6F"/>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121826"/>
          </a:solidFill>
          <a:ln w="12700">
            <a:solidFill>
              <a:srgbClr val="505D6F"/>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121826"/>
          </a:solidFill>
          <a:ln w="12700">
            <a:solidFill>
              <a:srgbClr val="505D6F"/>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121826"/>
          </a:solidFill>
          <a:ln w="12700">
            <a:solidFill>
              <a:srgbClr val="505D6F"/>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C084F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121826"/>
          </a:solidFill>
          <a:ln w="12700">
            <a:solidFill>
              <a:srgbClr val="00F2FE"/>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USA: Design IP</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121826"/>
          </a:solidFill>
          <a:ln w="12700">
            <a:solidFill>
              <a:srgbClr val="C084FC"/>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ASML (EU): Lithography</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F87"/>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121826"/>
          </a:solidFill>
          <a:ln w="12700">
            <a:solidFill>
              <a:srgbClr val="00F2FE"/>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121826"/>
          </a:solidFill>
          <a:ln w="12700">
            <a:solidFill>
              <a:srgbClr val="00FF87"/>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121826"/>
          </a:solidFill>
          <a:ln w="12700">
            <a:solidFill>
              <a:srgbClr val="00FF87"/>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A0AEC0"/>
                </a:solidFill>
                <a:latin typeface="Helvetica" pitchFamily="34" charset="0"/>
                <a:ea typeface="Helvetica" pitchFamily="34" charset="-122"/>
                <a:cs typeface="Helvetica"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F43F5E"/>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F43F5E"/>
                </a:solidFill>
                <a:latin typeface="Helvetica" pitchFamily="34" charset="0"/>
                <a:ea typeface="Helvetica" pitchFamily="34" charset="-122"/>
                <a:cs typeface="Helvetica"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F43F5E"/>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F43F5E"/>
                </a:solidFill>
                <a:latin typeface="Helvetica" pitchFamily="34" charset="0"/>
                <a:ea typeface="Helvetica" pitchFamily="34" charset="-122"/>
                <a:cs typeface="Helvetica"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FFFFFF"/>
                </a:solidFill>
                <a:latin typeface="Helvetica" pitchFamily="34" charset="0"/>
                <a:ea typeface="Helvetica" pitchFamily="34" charset="-122"/>
                <a:cs typeface="Helvetica" pitchFamily="34" charset="-120"/>
              </a:rPr>
              <a:t>Gallium &amp;</a:t>
            </a:r>
            <a:endParaRPr lang="en-US" sz="3600" dirty="0"/>
          </a:p>
          <a:p>
            <a:pPr algn="ctr" indent="0" marL="0">
              <a:buNone/>
            </a:pPr>
            <a:r>
              <a:rPr lang="en-US" sz="3600" b="1" dirty="0">
                <a:solidFill>
                  <a:srgbClr val="FFFFFF"/>
                </a:solidFill>
                <a:latin typeface="Helvetica" pitchFamily="34" charset="0"/>
                <a:ea typeface="Helvetica" pitchFamily="34" charset="-122"/>
                <a:cs typeface="Helvetica"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The future of the supply chain is "Circular and Autonomous," using AI to self-heal and recycling to secure raw materials.</a:t>
            </a:r>
            <a:endParaRPr lang="en-US" sz="1800" dirty="0"/>
          </a:p>
        </p:txBody>
      </p:sp>
      <p:sp>
        <p:nvSpPr>
          <p:cNvPr id="8" name="Shape 5"/>
          <p:cNvSpPr/>
          <p:nvPr/>
        </p:nvSpPr>
        <p:spPr>
          <a:xfrm>
            <a:off x="548640" y="2560320"/>
            <a:ext cx="5212080" cy="2377440"/>
          </a:xfrm>
          <a:prstGeom prst="rect">
            <a:avLst/>
          </a:prstGeom>
          <a:solidFill>
            <a:srgbClr val="121826"/>
          </a:solidFill>
          <a:ln w="12700">
            <a:solidFill>
              <a:srgbClr val="505D6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Deep Supply Mapping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Leading manufacturers utilize digital mapping tools to trace supply down to Tier-4 and Tier-5 chemical suppliers.</a:t>
            </a:r>
            <a:endParaRPr lang="en-US" sz="1800" dirty="0"/>
          </a:p>
        </p:txBody>
      </p:sp>
      <p:sp>
        <p:nvSpPr>
          <p:cNvPr id="11" name="Shape 8"/>
          <p:cNvSpPr/>
          <p:nvPr/>
        </p:nvSpPr>
        <p:spPr>
          <a:xfrm>
            <a:off x="6309360" y="2560320"/>
            <a:ext cx="5212080" cy="2377440"/>
          </a:xfrm>
          <a:prstGeom prst="rect">
            <a:avLst/>
          </a:prstGeom>
          <a:solidFill>
            <a:srgbClr val="121826"/>
          </a:solidFill>
          <a:ln w="12700">
            <a:solidFill>
              <a:srgbClr val="505D6F"/>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Circular Mineral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Firms actively recycle e-waste, reclaiming trace copper, silicon, and gold substrates to buffer raw mining volatility.</a:t>
            </a:r>
            <a:endParaRPr lang="en-US" sz="1800" dirty="0"/>
          </a:p>
        </p:txBody>
      </p:sp>
      <p:sp>
        <p:nvSpPr>
          <p:cNvPr id="14" name="Shape 11"/>
          <p:cNvSpPr/>
          <p:nvPr/>
        </p:nvSpPr>
        <p:spPr>
          <a:xfrm>
            <a:off x="548640" y="5212080"/>
            <a:ext cx="10972800" cy="822960"/>
          </a:xfrm>
          <a:prstGeom prst="rect">
            <a:avLst/>
          </a:prstGeom>
          <a:solidFill>
            <a:srgbClr val="121826"/>
          </a:solidFill>
          <a:ln w="12700">
            <a:solidFill>
              <a:srgbClr val="00F2FE"/>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A0AEC0"/>
                </a:solidFill>
                <a:latin typeface="Helvetica" pitchFamily="34" charset="0"/>
                <a:ea typeface="Helvetica" pitchFamily="34" charset="-122"/>
                <a:cs typeface="Helvetica" pitchFamily="34" charset="-120"/>
              </a:rPr>
              <a:t>Mapping and recycling shield operations from supply disruptions and support sustainable GVC mandates.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C084F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C084FC"/>
                </a:solidFill>
                <a:latin typeface="Helvetica" pitchFamily="34" charset="0"/>
                <a:ea typeface="Helvetica" pitchFamily="34" charset="-122"/>
                <a:cs typeface="Helvetica"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FFFFFF"/>
                </a:solidFill>
                <a:latin typeface="Helvetica" pitchFamily="34" charset="0"/>
                <a:ea typeface="Helvetica" pitchFamily="34" charset="-122"/>
                <a:cs typeface="Helvetica" pitchFamily="34" charset="-120"/>
              </a:rPr>
              <a:t>Silicon</a:t>
            </a:r>
            <a:endParaRPr lang="en-US" sz="3600" dirty="0"/>
          </a:p>
          <a:p>
            <a:pPr algn="ctr" indent="0" marL="0">
              <a:buNone/>
            </a:pPr>
            <a:r>
              <a:rPr lang="en-US" sz="3600" b="1" dirty="0">
                <a:solidFill>
                  <a:srgbClr val="FFFFFF"/>
                </a:solidFill>
                <a:latin typeface="Helvetica" pitchFamily="34" charset="0"/>
                <a:ea typeface="Helvetica" pitchFamily="34" charset="-122"/>
                <a:cs typeface="Helvetica"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121826"/>
          </a:solidFill>
          <a:ln w="12700">
            <a:solidFill>
              <a:srgbClr val="505D6F"/>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121826"/>
          </a:solidFill>
          <a:ln w="12700">
            <a:solidFill>
              <a:srgbClr val="505D6F"/>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121826"/>
          </a:solidFill>
          <a:ln w="12700">
            <a:solidFill>
              <a:srgbClr val="505D6F"/>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F87"/>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00FF87"/>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00FF87"/>
                </a:solidFill>
                <a:latin typeface="Helvetica" pitchFamily="34" charset="0"/>
                <a:ea typeface="Helvetica" pitchFamily="34" charset="-122"/>
                <a:cs typeface="Helvetica"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FFFFFF"/>
                </a:solidFill>
                <a:latin typeface="Helvetica" pitchFamily="34" charset="0"/>
                <a:ea typeface="Helvetica" pitchFamily="34" charset="-122"/>
                <a:cs typeface="Helvetica"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2FE"/>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00F2FE"/>
                </a:solidFill>
                <a:latin typeface="Helvetica" pitchFamily="34" charset="0"/>
                <a:ea typeface="Helvetica" pitchFamily="34" charset="-122"/>
                <a:cs typeface="Helvetica"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FFFFFF"/>
                </a:solidFill>
                <a:latin typeface="Helvetica" pitchFamily="34" charset="0"/>
                <a:ea typeface="Helvetica" pitchFamily="34" charset="-122"/>
                <a:cs typeface="Helvetica"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C084F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121826"/>
          </a:solidFill>
          <a:ln w="12700">
            <a:solidFill>
              <a:srgbClr val="C084FC"/>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121826"/>
          </a:solidFill>
          <a:ln w="12700">
            <a:solidFill>
              <a:srgbClr val="00FF87"/>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F87"/>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00FF87"/>
                </a:solidFill>
                <a:latin typeface="Helvetica" pitchFamily="34" charset="0"/>
                <a:ea typeface="Helvetica" pitchFamily="34" charset="-122"/>
                <a:cs typeface="Helvetica"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FFFFFF"/>
                </a:solidFill>
                <a:latin typeface="Helvetica" pitchFamily="34" charset="0"/>
                <a:ea typeface="Helvetica" pitchFamily="34" charset="-122"/>
                <a:cs typeface="Helvetica"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121826"/>
          </a:solidFill>
          <a:ln w="19050">
            <a:solidFill>
              <a:srgbClr val="00F2FE"/>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FFFFFF"/>
                </a:solidFill>
                <a:latin typeface="Helvetica" pitchFamily="34" charset="0"/>
                <a:ea typeface="Helvetica" pitchFamily="34" charset="-122"/>
                <a:cs typeface="Helvetica"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121826"/>
          </a:solidFill>
          <a:ln w="12700">
            <a:solidFill>
              <a:srgbClr val="505D6F"/>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121826"/>
          </a:solidFill>
          <a:ln w="12700">
            <a:solidFill>
              <a:srgbClr val="505D6F"/>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121826"/>
          </a:solidFill>
          <a:ln w="12700">
            <a:solidFill>
              <a:srgbClr val="505D6F"/>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AI is the Value King; Automotive is the Volume King.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2026-06-10T09:10:28Z</dcterms:created>
  <dcterms:modified xsi:type="dcterms:W3CDTF">2026-06-10T09:10:28Z</dcterms:modified>
</cp:coreProperties>
</file>