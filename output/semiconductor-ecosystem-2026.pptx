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Manus,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6B6560"/>
                </a:solidFill>
                <a:latin typeface="VVDS Fifties" pitchFamily="34" charset="0"/>
                <a:ea typeface="VVDS Fifties" pitchFamily="34" charset="-122"/>
                <a:cs typeface="VVDS Fifties"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B84A2F"/>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VVDS Fifties" pitchFamily="34" charset="0"/>
                <a:ea typeface="VVDS Fifties" pitchFamily="34" charset="-122"/>
                <a:cs typeface="VVDS Fifties" pitchFamily="34" charset="-120"/>
              </a:rPr>
              <a:t>Presenter: Manus</a:t>
            </a:r>
            <a:endParaRPr lang="en-US" sz="1400" dirty="0"/>
          </a:p>
          <a:p>
            <a:pPr indent="0" marL="0">
              <a:buNone/>
            </a:pPr>
            <a:r>
              <a:rPr lang="en-US" sz="1400" dirty="0">
                <a:solidFill>
                  <a:srgbClr val="6B6560"/>
                </a:solidFill>
                <a:latin typeface="VVDS Fifties" pitchFamily="34" charset="0"/>
                <a:ea typeface="VVDS Fifties" pitchFamily="34" charset="-122"/>
                <a:cs typeface="VVDS Fifties"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VVDS Fifties" pitchFamily="34" charset="0"/>
                <a:ea typeface="VVDS Fifties" pitchFamily="34" charset="-122"/>
                <a:cs typeface="VVDS Fifties" pitchFamily="34" charset="-120"/>
              </a:rPr>
              <a:t>Key Message: 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VVDS Fifties" pitchFamily="34" charset="0"/>
                <a:ea typeface="VVDS Fifties" pitchFamily="34" charset="-122"/>
                <a:cs typeface="VVDS Fifties"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VVDS Fifties" pitchFamily="34" charset="0"/>
                <a:ea typeface="VVDS Fifties" pitchFamily="34" charset="-122"/>
                <a:cs typeface="VVDS Fifties" pitchFamily="34" charset="-120"/>
              </a:rPr>
              <a:t>Global Market Value</a:t>
            </a:r>
            <a:endParaRPr lang="en-US" sz="1400" dirty="0"/>
          </a:p>
          <a:p>
            <a:pPr algn="ctr" indent="0" marL="0">
              <a:buNone/>
            </a:pPr>
            <a:r>
              <a:rPr lang="en-US" sz="1400" dirty="0">
                <a:solidFill>
                  <a:srgbClr val="6B6560"/>
                </a:solidFill>
                <a:latin typeface="VVDS Fifties" pitchFamily="34" charset="0"/>
                <a:ea typeface="VVDS Fifties" pitchFamily="34" charset="-122"/>
                <a:cs typeface="VVDS Fifties"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VVDS Fifties" pitchFamily="34" charset="0"/>
                <a:ea typeface="VVDS Fifties" pitchFamily="34" charset="-122"/>
                <a:cs typeface="VVDS Fifties" pitchFamily="34" charset="-120"/>
              </a:rPr>
              <a:t>Key Message: 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VVDS Fifties" pitchFamily="34" charset="0"/>
                <a:ea typeface="VVDS Fifties" pitchFamily="34" charset="-122"/>
                <a:cs typeface="VVDS Fifties" pitchFamily="34" charset="-120"/>
              </a:rPr>
              <a:t>Key Message: 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VVDS Fifties" pitchFamily="34" charset="0"/>
                <a:ea typeface="VVDS Fifties" pitchFamily="34" charset="-122"/>
                <a:cs typeface="VVDS Fifties" pitchFamily="34" charset="-120"/>
              </a:rPr>
              <a:t>Leading-Edge Nodes</a:t>
            </a:r>
            <a:endParaRPr lang="en-US" sz="1600" dirty="0"/>
          </a:p>
          <a:p>
            <a:pPr indent="0" marL="0">
              <a:buNone/>
            </a:pPr>
            <a:endParaRPr lang="en-US" sz="1600" dirty="0"/>
          </a:p>
          <a:p>
            <a:pPr indent="0" marL="0">
              <a:buNone/>
            </a:pPr>
            <a:r>
              <a:rPr lang="en-US" sz="1600" dirty="0">
                <a:solidFill>
                  <a:srgbClr val="6B6560"/>
                </a:solidFill>
                <a:latin typeface="VVDS Fifties" pitchFamily="34" charset="0"/>
                <a:ea typeface="VVDS Fifties" pitchFamily="34" charset="-122"/>
                <a:cs typeface="VVDS Fifties"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B08E66"/>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VVDS Fifties" pitchFamily="34" charset="0"/>
                <a:ea typeface="VVDS Fifties" pitchFamily="34" charset="-122"/>
                <a:cs typeface="VVDS Fifties" pitchFamily="34" charset="-120"/>
              </a:rPr>
              <a:t>Legacy Nodes</a:t>
            </a:r>
            <a:endParaRPr lang="en-US" sz="1600" dirty="0"/>
          </a:p>
          <a:p>
            <a:pPr indent="0" marL="0">
              <a:buNone/>
            </a:pPr>
            <a:endParaRPr lang="en-US" sz="1600" dirty="0"/>
          </a:p>
          <a:p>
            <a:pPr indent="0" marL="0">
              <a:buNone/>
            </a:pPr>
            <a:r>
              <a:rPr lang="en-US" sz="1600" dirty="0">
                <a:solidFill>
                  <a:srgbClr val="6B6560"/>
                </a:solidFill>
                <a:latin typeface="VVDS Fifties" pitchFamily="34" charset="0"/>
                <a:ea typeface="VVDS Fifties" pitchFamily="34" charset="-122"/>
                <a:cs typeface="VVDS Fifties"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pitchFamily="34" charset="0"/>
                <a:ea typeface="VVDS Fifties" pitchFamily="34" charset="-122"/>
                <a:cs typeface="VVDS Fifties" pitchFamily="34" charset="-120"/>
              </a:rPr>
              <a:t>Key Message: 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VVDS Fifties" pitchFamily="34" charset="0"/>
                <a:ea typeface="VVDS Fifties" pitchFamily="34" charset="-122"/>
                <a:cs typeface="VVDS Fifties"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pitchFamily="34" charset="0"/>
                <a:ea typeface="VVDS Fifties" pitchFamily="34" charset="-122"/>
                <a:cs typeface="VVDS Fifties" pitchFamily="34" charset="-120"/>
              </a:rPr>
              <a:t>Key Message: 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VVDS Fifties" pitchFamily="34" charset="0"/>
                <a:ea typeface="VVDS Fifties" pitchFamily="34" charset="-122"/>
                <a:cs typeface="VVDS Fifties"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pitchFamily="34" charset="0"/>
                <a:ea typeface="VVDS Fifties" pitchFamily="34" charset="-122"/>
                <a:cs typeface="VVDS Fifties"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pitchFamily="34" charset="0"/>
                <a:ea typeface="VVDS Fifties" pitchFamily="34" charset="-122"/>
                <a:cs typeface="VVDS Fifties"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pitchFamily="34" charset="0"/>
                <a:ea typeface="VVDS Fifties" pitchFamily="34" charset="-122"/>
                <a:cs typeface="VVDS Fifties"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pitchFamily="34" charset="0"/>
                <a:ea typeface="VVDS Fifties" pitchFamily="34" charset="-122"/>
                <a:cs typeface="VVDS Fifties"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pitchFamily="34" charset="0"/>
                <a:ea typeface="VVDS Fifties" pitchFamily="34" charset="-122"/>
                <a:cs typeface="VVDS Fifties"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pitchFamily="34" charset="0"/>
                <a:ea typeface="VVDS Fifties" pitchFamily="34" charset="-122"/>
                <a:cs typeface="VVDS Fifties"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pitchFamily="34" charset="0"/>
                <a:ea typeface="VVDS Fifties" pitchFamily="34" charset="-122"/>
                <a:cs typeface="VVDS Fifties"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pitchFamily="34" charset="0"/>
                <a:ea typeface="VVDS Fifties" pitchFamily="34" charset="-122"/>
                <a:cs typeface="VVDS Fifties"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pitchFamily="34" charset="0"/>
                <a:ea typeface="VVDS Fifties" pitchFamily="34" charset="-122"/>
                <a:cs typeface="VVDS Fifties"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pitchFamily="34" charset="0"/>
                <a:ea typeface="VVDS Fifties" pitchFamily="34" charset="-122"/>
                <a:cs typeface="VVDS Fifties"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VVDS Fifties" pitchFamily="34" charset="0"/>
                <a:ea typeface="VVDS Fifties" pitchFamily="34" charset="-122"/>
                <a:cs typeface="VVDS Fifties" pitchFamily="34" charset="-120"/>
              </a:rPr>
              <a:t>Key Message: 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VVDS Fifties" pitchFamily="34" charset="0"/>
                <a:ea typeface="VVDS Fifties" pitchFamily="34" charset="-122"/>
                <a:cs typeface="VVDS Fifties" pitchFamily="34" charset="-120"/>
              </a:rPr>
              <a:t>USA: Design IP</a:t>
            </a:r>
            <a:endParaRPr lang="en-US" sz="1600" dirty="0"/>
          </a:p>
          <a:p>
            <a:pPr indent="0" marL="0">
              <a:buNone/>
            </a:pPr>
            <a:endParaRPr lang="en-US" sz="1600" dirty="0"/>
          </a:p>
          <a:p>
            <a:pPr indent="0" marL="0">
              <a:buNone/>
            </a:pPr>
            <a:r>
              <a:rPr lang="en-US" sz="1600" dirty="0">
                <a:solidFill>
                  <a:srgbClr val="6B6560"/>
                </a:solidFill>
                <a:latin typeface="VVDS Fifties" pitchFamily="34" charset="0"/>
                <a:ea typeface="VVDS Fifties" pitchFamily="34" charset="-122"/>
                <a:cs typeface="VVDS Fifties"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9E7D8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VVDS Fifties" pitchFamily="34" charset="0"/>
                <a:ea typeface="VVDS Fifties" pitchFamily="34" charset="-122"/>
                <a:cs typeface="VVDS Fifties" pitchFamily="34" charset="-120"/>
              </a:rPr>
              <a:t>ASML (EU): Lithography</a:t>
            </a:r>
            <a:endParaRPr lang="en-US" sz="1600" dirty="0"/>
          </a:p>
          <a:p>
            <a:pPr indent="0" marL="0">
              <a:buNone/>
            </a:pPr>
            <a:endParaRPr lang="en-US" sz="1600" dirty="0"/>
          </a:p>
          <a:p>
            <a:pPr indent="0" marL="0">
              <a:buNone/>
            </a:pPr>
            <a:r>
              <a:rPr lang="en-US" sz="1600" dirty="0">
                <a:solidFill>
                  <a:srgbClr val="6B6560"/>
                </a:solidFill>
                <a:latin typeface="VVDS Fifties" pitchFamily="34" charset="0"/>
                <a:ea typeface="VVDS Fifties" pitchFamily="34" charset="-122"/>
                <a:cs typeface="VVDS Fifties"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VVDS Fifties" pitchFamily="34" charset="0"/>
                <a:ea typeface="VVDS Fifties" pitchFamily="34" charset="-122"/>
                <a:cs typeface="VVDS Fifties" pitchFamily="34" charset="-120"/>
              </a:rPr>
              <a:t>Key Message: 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VVDS Fifties" pitchFamily="34" charset="0"/>
                <a:ea typeface="VVDS Fifties" pitchFamily="34" charset="-122"/>
                <a:cs typeface="VVDS Fifties"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VVDS Fifties" pitchFamily="34" charset="0"/>
                <a:ea typeface="VVDS Fifties" pitchFamily="34" charset="-122"/>
                <a:cs typeface="VVDS Fifties" pitchFamily="34" charset="-120"/>
              </a:rPr>
              <a:t>Key Message: 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VVDS Fifties" pitchFamily="34" charset="0"/>
                <a:ea typeface="VVDS Fifties" pitchFamily="34" charset="-122"/>
                <a:cs typeface="VVDS Fifties"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Gallium &amp;</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pitchFamily="34" charset="0"/>
                <a:ea typeface="VVDS Fifties" pitchFamily="34" charset="-122"/>
                <a:cs typeface="VVDS Fifties"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pitchFamily="34" charset="0"/>
                <a:ea typeface="VVDS Fifties" pitchFamily="34" charset="-122"/>
                <a:cs typeface="VVDS Fifties" pitchFamily="34" charset="-120"/>
              </a:rPr>
              <a:t>Key Message: 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VVDS Fifties" pitchFamily="34" charset="0"/>
                <a:ea typeface="VVDS Fifties" pitchFamily="34" charset="-122"/>
                <a:cs typeface="VVDS Fifties"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VVDS Fifties" pitchFamily="34" charset="0"/>
                <a:ea typeface="VVDS Fifties" pitchFamily="34" charset="-122"/>
                <a:cs typeface="VVDS Fifties" pitchFamily="34" charset="-120"/>
              </a:rPr>
              <a:t>Key Message: 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9E7D84"/>
                </a:solidFill>
                <a:latin typeface="VVDS Fifties" pitchFamily="34" charset="0"/>
                <a:ea typeface="VVDS Fifties" pitchFamily="34" charset="-122"/>
                <a:cs typeface="VVDS Fifties"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Silicon</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pitchFamily="34" charset="0"/>
                <a:ea typeface="VVDS Fifties" pitchFamily="34" charset="-122"/>
                <a:cs typeface="VVDS Fifties"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pitchFamily="34" charset="0"/>
                <a:ea typeface="VVDS Fifties" pitchFamily="34" charset="-122"/>
                <a:cs typeface="VVDS Fifties" pitchFamily="34" charset="-120"/>
              </a:rPr>
              <a:t>Key Message: 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FFFDF8"/>
          </a:solidFill>
          <a:ln w="12700">
            <a:solidFill>
              <a:srgbClr val="E0D9D0"/>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FFFDF8"/>
          </a:solidFill>
          <a:ln w="12700">
            <a:solidFill>
              <a:srgbClr val="E0D9D0"/>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FFFDF8"/>
          </a:solidFill>
          <a:ln w="12700">
            <a:solidFill>
              <a:srgbClr val="E0D9D0"/>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VVDS Fifties" pitchFamily="34" charset="0"/>
                <a:ea typeface="VVDS Fifties" pitchFamily="34" charset="-122"/>
                <a:cs typeface="VVDS Fifties" pitchFamily="34" charset="-120"/>
              </a:rPr>
              <a:t>Key Message: 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VVDS Fifties" pitchFamily="34" charset="0"/>
                <a:ea typeface="VVDS Fifties" pitchFamily="34" charset="-122"/>
                <a:cs typeface="VVDS Fifties"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pitchFamily="34" charset="0"/>
                <a:ea typeface="VVDS Fifties" pitchFamily="34" charset="-122"/>
                <a:cs typeface="VVDS Fifties"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VVDS Fifties" pitchFamily="34" charset="0"/>
                <a:ea typeface="VVDS Fifties" pitchFamily="34" charset="-122"/>
                <a:cs typeface="VVDS Fifties" pitchFamily="34" charset="-120"/>
              </a:rPr>
              <a:t>Key Message: 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VVDS Fifties" pitchFamily="34" charset="0"/>
                <a:ea typeface="VVDS Fifties" pitchFamily="34" charset="-122"/>
                <a:cs typeface="VVDS Fifties"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pitchFamily="34" charset="0"/>
                <a:ea typeface="VVDS Fifties" pitchFamily="34" charset="-122"/>
                <a:cs typeface="VVDS Fifties"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VVDS Fifties" pitchFamily="34" charset="0"/>
                <a:ea typeface="VVDS Fifties" pitchFamily="34" charset="-122"/>
                <a:cs typeface="VVDS Fifties" pitchFamily="34" charset="-120"/>
              </a:rPr>
              <a:t>Key Message: 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VVDS Fifties" pitchFamily="34" charset="0"/>
                <a:ea typeface="VVDS Fifties" pitchFamily="34" charset="-122"/>
                <a:cs typeface="VVDS Fifties" pitchFamily="34" charset="-120"/>
              </a:rPr>
              <a:t>Key Message: 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pitchFamily="34" charset="0"/>
                <a:ea typeface="VVDS Fifties" pitchFamily="34" charset="-122"/>
                <a:cs typeface="VVDS Fifties"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VVDS Fifties" pitchFamily="34" charset="0"/>
                <a:ea typeface="VVDS Fifties" pitchFamily="34" charset="-122"/>
                <a:cs typeface="VVDS Fifties"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pitchFamily="34" charset="0"/>
                <a:ea typeface="VVDS Fifties" pitchFamily="34" charset="-122"/>
                <a:cs typeface="VVDS Fifties"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pitchFamily="34" charset="0"/>
                <a:ea typeface="VVDS Fifties" pitchFamily="34" charset="-122"/>
                <a:cs typeface="VVDS Fifties"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pitchFamily="34" charset="0"/>
                <a:ea typeface="VVDS Fifties" pitchFamily="34" charset="-122"/>
                <a:cs typeface="VVDS Fifties"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FFFDF8"/>
          </a:solidFill>
          <a:ln w="19050">
            <a:solidFill>
              <a:srgbClr val="B84A2F"/>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pitchFamily="34" charset="0"/>
                <a:ea typeface="VVDS Fifties" pitchFamily="34" charset="-122"/>
                <a:cs typeface="VVDS Fifties" pitchFamily="34" charset="-120"/>
              </a:rPr>
              <a:t>Key Message: 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1A1714"/>
                </a:solidFill>
                <a:latin typeface="VVDS Fifties" pitchFamily="34" charset="0"/>
                <a:ea typeface="VVDS Fifties" pitchFamily="34" charset="-122"/>
                <a:cs typeface="VVDS Fifties"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FFFDF8"/>
          </a:solidFill>
          <a:ln w="12700">
            <a:solidFill>
              <a:srgbClr val="E0D9D0"/>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FFFDF8"/>
          </a:solidFill>
          <a:ln w="12700">
            <a:solidFill>
              <a:srgbClr val="E0D9D0"/>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FFFDF8"/>
          </a:solidFill>
          <a:ln w="12700">
            <a:solidFill>
              <a:srgbClr val="E0D9D0"/>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6B6560"/>
                </a:solidFill>
                <a:latin typeface="VVDS Fifties" pitchFamily="34" charset="0"/>
                <a:ea typeface="VVDS Fifties" pitchFamily="34" charset="-122"/>
                <a:cs typeface="VVDS Fifties" pitchFamily="34" charset="-120"/>
              </a:rPr>
              <a:t>AI is the Value King; Automotive is the Volume King.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2026-06-10T09:40:47Z</dcterms:created>
  <dcterms:modified xsi:type="dcterms:W3CDTF">2026-06-10T09:40:47Z</dcterms:modified>
</cp:coreProperties>
</file>