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everyone. I’m Phyoe Sat Paing, and today we are conducting a deep-dive into the 'nerve system' of our modern civilization: the 2026 Semiconductor Ecosystem. Over the next 20 minutes, we are going to move beyond the headlines of 'chip shortages' and look at the actual structural mechanics of how silicon is procured, how it moves across the globe, and finally, how it is fundamentally rewriting the DNA of every major industry. Whether you are an investor, a procurement lead, or a strategic planner, this briefing is designed to give you the high-ground view of the $1.3 trillion silicon economy.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start with the 'Procurement Paradox.' In 2026, we are seeing record-breaking revenue, yet the supply chain has never felt more fragile. Why? Because the 'Just-in-Time' model we spent thirty years perfecting was built for a world of stability—not the world of 'Chip Wars' and AI super-cycles we live in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survive, elite firms have pivoted to a Strategic Hybrid Model. We aren't just stockpiling everything—that’s expensive and inefficient. Instead, we are using 'Just-in-Case' logic for the high-value nodes: the 3nm processors and the High Bandwidth Memory that power AI. For everything else, we keep it lean. It’s about being surgical with your inventory.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But you can't be surgical if you're blind. The biggest challenge in 2026 is Data Opacity. Most firms don't know who their Tier-3 or Tier-4 suppliers are. We are solving this through Category Management—segmenting our sourcing by technology node. We treat a 28nm legacy microcontroller for a car window very differently than a 2nm AI accelerator for a data center.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look at the digitalization of the 'Buy' side. We are now using Business Intelligence Cockpits that use AI to scan geopolitical signals and weather patterns to predict shortages six months out. We are also seeing a rise in 'Friend-Shoring' and Long-Term Agreements. In 2026, a handshake isn't enough; you need 'take-or-pay' contracts and reservation fees to ensure you aren't left behind in the next allocation 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'Silicon Journey.' A single chip might cross 70 borders before it ever reaches a consumer. This is the most complex logistical web ever built. It’s a masterpiece of efficiency, but it’s also a 'Chokepoint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incredibly concentrated. The U.S. owns the design; the Netherlands owns the lithography equipment; and East Asia—specifically Taiwan and South Korea—owns the fabrication. TSMC isn't just a company; it is a systemic pillar of the global economy. If that pillar shakes, the whole world feels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new bottleneck in 2026 isn't just the fab; it's the 'Back-End.' We’ve reached the limits of traditional chip design, so we are now 'stacking' chips using advanced packaging like CoWoS. This is where the AI war is being fought. If you can't get capacity in an advanced packaging facility, it doesn't matter how many wafers you can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we cannot ignore the 'Chip Wars.' Geopolitics is now a primary architect of the supply chain. Between the U.S. CHIPS Act and China’s massive 'In-Sourcing' push, we are moving toward a multi-polar silicon world. Critical materials like Gallium and Germanium are now being used as strategic levers in a global game of chess.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response? Circular and Autonomous Supply Chains. We are using AI to 'self-heal' the supply chain—automatically re-routing orders when a port closes or a factory goes down. And we are starting to recycle. We are mining the 'urban mine'—recovering rare earth elements from old electronics to reduce our dependency on volatile mining regions.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where does all this silicon end up? Everywhere. We have reached 'Total Silicon Dependency.' Every industry is now a 'tech industry' because every industry is built on chips.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demand landscape is shifting. While PCs and smartphones are maturing, AI Infrastructure and Automotive are exploding. AI and Data Centers now drive nearly half of the industry’s total value. We are in a 'multi-speed' market where the high-end is racing ahead while the low-end stabilizes.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at the Data Center. It’s no longer just a place to store files; it’s an 'Intelligence Engine.' We are spending $500 billion a year on AI accelerators. This is the segment that is pushing us to 2nm and beyond. It is the 'Value King' of the semiconductor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Then there is the car—the 'Smartphone on Wheels.' An EV in 2026 has over $1,000 worth of chips in it. We are talking about Silicon Carbide for power efficiency and massive SoCs for autonomous driving. The car has become a high-performance computer that just happens to have wheels.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Industrial and Healthcare sectors, we are seeing the rise of 'Edge AI.' We aren't sending data to the cloud anymore; we are processing it right there on the factory floor or inside a medical implant. This requires ultra-reliable, long-lifecycle silicon that can survive for fifteen years in harsh environments.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looking at the horizon—Quantum, 6G, and Neuromorphic computing. These aren't science fiction anymore. We are already building the 2030 roadmap. We are designing chips that work like the human brain and networks that make 5G look like dial-up. The innovation cycle is actually accelerating.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the 2026 ecosystem tells us one thing: Silicon Intensity is the new gold standard. The winners of the next decade won't just be the ones with the best software; they will be the ones who master the procurement, the supply chain, and the application of these chips.
Before we go, look at this infographic. These are the five materials that keep the lights on. From Gallium in your 5G phone to Neon in the lasers that print the chips, these are the true foundations. Most of these are concentrated in a few regions, which is why the 'Silicon Journey' is as much about geology as it is about geometry.
The 'Chip Wars' are far from over. In fact, they are just beginning. Mastery of this ecosystem is mastery of the future. Thank you for your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everyone for your time. I would now like to open the floor to any questions you may have.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5F0E8"/>
        </a:solidFill>
      </p:bgPr>
    </p:bg>
    <p:spTree>
      <p:nvGrpSpPr>
        <p:cNvPr id="1" name=""/>
        <p:cNvGrpSpPr/>
        <p:nvPr/>
      </p:nvGrpSpPr>
      <p:grpSpPr>
        <a:xfrm>
          <a:off x="0" y="0"/>
          <a:ext cx="0" cy="0"/>
          <a:chOff x="0" y="0"/>
          <a:chExt cx="0" cy="0"/>
        </a:xfrm>
      </p:grpSpPr>
      <p:sp>
        <p:nvSpPr>
          <p:cNvPr id="3" name="Shape 0"/>
          <p:cNvSpPr/>
          <p:nvPr/>
        </p:nvSpPr>
        <p:spPr>
          <a:xfrm>
            <a:off x="731520" y="1371600"/>
            <a:ext cx="3474720" cy="365760"/>
          </a:xfrm>
          <a:prstGeom prst="rect">
            <a:avLst/>
          </a:prstGeom>
          <a:solidFill>
            <a:srgbClr val="FFFDF8"/>
          </a:solidFill>
          <a:ln w="12700">
            <a:solidFill>
              <a:srgbClr val="B84A2F"/>
            </a:solidFill>
            <a:prstDash val="solid"/>
          </a:ln>
        </p:spPr>
      </p:sp>
      <p:sp>
        <p:nvSpPr>
          <p:cNvPr id="4" name="Text 1"/>
          <p:cNvSpPr/>
          <p:nvPr/>
        </p:nvSpPr>
        <p:spPr>
          <a:xfrm>
            <a:off x="822960" y="1417320"/>
            <a:ext cx="3291840" cy="274320"/>
          </a:xfrm>
          <a:prstGeom prst="rect">
            <a:avLst/>
          </a:prstGeom>
          <a:noFill/>
          <a:ln/>
        </p:spPr>
        <p:txBody>
          <a:bodyPr wrap="square" rtlCol="0" anchor="ctr"/>
          <a:lstStyle/>
          <a:p>
            <a:pPr indent="0" marL="0">
              <a:buNone/>
            </a:pPr>
            <a:r>
              <a:rPr lang="en-US" sz="1000" b="1" spc="150" kern="0" dirty="0">
                <a:solidFill>
                  <a:srgbClr val="B84A2F"/>
                </a:solidFill>
                <a:latin typeface="Aeonik" pitchFamily="34" charset="0"/>
                <a:ea typeface="Aeonik" pitchFamily="34" charset="-122"/>
                <a:cs typeface="Aeonik" pitchFamily="34" charset="-120"/>
              </a:rPr>
              <a:t>CONSOLIDATED REMEDIAL BRIEFING</a:t>
            </a:r>
            <a:endParaRPr lang="en-US" sz="1000" dirty="0"/>
          </a:p>
        </p:txBody>
      </p:sp>
      <p:sp>
        <p:nvSpPr>
          <p:cNvPr id="5" name="Text 2"/>
          <p:cNvSpPr/>
          <p:nvPr/>
        </p:nvSpPr>
        <p:spPr>
          <a:xfrm>
            <a:off x="731520" y="1920240"/>
            <a:ext cx="10515600" cy="1097280"/>
          </a:xfrm>
          <a:prstGeom prst="rect">
            <a:avLst/>
          </a:prstGeom>
          <a:noFill/>
          <a:ln/>
        </p:spPr>
        <p:txBody>
          <a:bodyPr wrap="square" rtlCol="0" anchor="ctr"/>
          <a:lstStyle/>
          <a:p>
            <a:pPr indent="0" marL="0">
              <a:buNone/>
            </a:pPr>
            <a:r>
              <a:rPr lang="en-US" sz="4800" b="1" dirty="0">
                <a:solidFill>
                  <a:srgbClr val="1A1714"/>
                </a:solidFill>
                <a:latin typeface="PP Mondwest" pitchFamily="34" charset="0"/>
                <a:ea typeface="PP Mondwest" pitchFamily="34" charset="-122"/>
                <a:cs typeface="PP Mondwest" pitchFamily="34" charset="-120"/>
              </a:rPr>
              <a:t>The 2026 Semiconductor Ecosystem</a:t>
            </a:r>
            <a:endParaRPr lang="en-US" sz="4800" dirty="0"/>
          </a:p>
        </p:txBody>
      </p:sp>
      <p:sp>
        <p:nvSpPr>
          <p:cNvPr id="6" name="Text 3"/>
          <p:cNvSpPr/>
          <p:nvPr/>
        </p:nvSpPr>
        <p:spPr>
          <a:xfrm>
            <a:off x="731520" y="3017520"/>
            <a:ext cx="105156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A Comprehensive Analysis of Sourcing Strategies, Supply Chain Architecture, and Global End-User Industries</a:t>
            </a:r>
            <a:endParaRPr lang="en-US" sz="2000" dirty="0"/>
          </a:p>
        </p:txBody>
      </p:sp>
      <p:sp>
        <p:nvSpPr>
          <p:cNvPr id="7" name="Shape 4"/>
          <p:cNvSpPr/>
          <p:nvPr/>
        </p:nvSpPr>
        <p:spPr>
          <a:xfrm>
            <a:off x="731520" y="3931920"/>
            <a:ext cx="4572000" cy="36576"/>
          </a:xfrm>
          <a:prstGeom prst="rect">
            <a:avLst/>
          </a:prstGeom>
          <a:solidFill>
            <a:srgbClr val="B84A2F"/>
          </a:solidFill>
          <a:ln/>
        </p:spPr>
      </p:sp>
      <p:sp>
        <p:nvSpPr>
          <p:cNvPr id="8" name="Text 5"/>
          <p:cNvSpPr/>
          <p:nvPr/>
        </p:nvSpPr>
        <p:spPr>
          <a:xfrm>
            <a:off x="731520" y="4297680"/>
            <a:ext cx="7315200" cy="1371600"/>
          </a:xfrm>
          <a:prstGeom prst="rect">
            <a:avLst/>
          </a:prstGeom>
          <a:noFill/>
          <a:ln/>
        </p:spPr>
        <p:txBody>
          <a:bodyPr wrap="square" rtlCol="0" anchor="ctr"/>
          <a:lstStyle/>
          <a:p>
            <a:pPr indent="0" marL="0">
              <a:buNone/>
            </a:pPr>
            <a:r>
              <a:rPr lang="en-US" sz="1200" dirty="0">
                <a:solidFill>
                  <a:srgbClr val="6B6560"/>
                </a:solidFill>
                <a:latin typeface="Aeonik" pitchFamily="34" charset="0"/>
                <a:ea typeface="Aeonik" pitchFamily="34" charset="-122"/>
                <a:cs typeface="Aeonik" pitchFamily="34" charset="-120"/>
              </a:rPr>
              <a:t>Presenter: </a:t>
            </a:r>
            <a:pPr indent="0" marL="0">
              <a:buNone/>
            </a:pPr>
            <a:r>
              <a:rPr lang="en-US" sz="1200" b="1" dirty="0">
                <a:solidFill>
                  <a:srgbClr val="1A1714"/>
                </a:solidFill>
                <a:latin typeface="Aeonik" pitchFamily="34" charset="0"/>
                <a:ea typeface="Aeonik" pitchFamily="34" charset="-122"/>
                <a:cs typeface="Aeonik" pitchFamily="34" charset="-120"/>
              </a:rPr>
              <a:t>Phyoe Sat Paing (ID: 6821711420061)
</a:t>
            </a:r>
            <a:pPr indent="0" marL="0">
              <a:buNone/>
            </a:pPr>
            <a:r>
              <a:rPr lang="en-US" sz="1200" dirty="0">
                <a:solidFill>
                  <a:srgbClr val="6B6560"/>
                </a:solidFill>
                <a:latin typeface="Aeonik" pitchFamily="34" charset="0"/>
                <a:ea typeface="Aeonik" pitchFamily="34" charset="-122"/>
                <a:cs typeface="Aeonik" pitchFamily="34" charset="-120"/>
              </a:rPr>
              <a:t>Course: </a:t>
            </a:r>
            <a:pPr indent="0" marL="0">
              <a:buNone/>
            </a:pPr>
            <a:r>
              <a:rPr lang="en-US" sz="1200" b="1" dirty="0">
                <a:solidFill>
                  <a:srgbClr val="1A1714"/>
                </a:solidFill>
                <a:latin typeface="Aeonik" pitchFamily="34" charset="0"/>
                <a:ea typeface="Aeonik" pitchFamily="34" charset="-122"/>
                <a:cs typeface="Aeonik" pitchFamily="34" charset="-120"/>
              </a:rPr>
              <a:t>501105, logistics and supply chain management
</a:t>
            </a:r>
            <a:pPr indent="0" marL="0">
              <a:buNone/>
            </a:pPr>
            <a:r>
              <a:rPr lang="en-US" sz="1200" dirty="0">
                <a:solidFill>
                  <a:srgbClr val="6B6560"/>
                </a:solidFill>
                <a:latin typeface="Aeonik" pitchFamily="34" charset="0"/>
                <a:ea typeface="Aeonik" pitchFamily="34" charset="-122"/>
                <a:cs typeface="Aeonik" pitchFamily="34" charset="-120"/>
              </a:rPr>
              <a:t>Date: </a:t>
            </a:r>
            <a:pPr indent="0" marL="0">
              <a:buNone/>
            </a:pPr>
            <a:r>
              <a:rPr lang="en-US" sz="1200" b="1" dirty="0">
                <a:solidFill>
                  <a:srgbClr val="1A1714"/>
                </a:solidFill>
                <a:latin typeface="Aeonik" pitchFamily="34" charset="0"/>
                <a:ea typeface="Aeonik" pitchFamily="34" charset="-122"/>
                <a:cs typeface="Aeonik" pitchFamily="34" charset="-120"/>
              </a:rPr>
              <a:t>June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Procurement Paradox</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02</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Navigating a $1.3 trillion market requires balancing unprecedented growth with systemic supply chain fragility.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Record-High Valuations: Growth is driven by explosive global demand for AI systems and electric vehicle power logic.</a:t>
            </a:r>
            <a:endParaRPr lang="en-US" sz="1600" dirty="0"/>
          </a:p>
          <a:p>
            <a:pPr marL="342900" indent="-342900">
              <a:buSzPct val="100000"/>
              <a:buChar char="•"/>
            </a:pPr>
            <a:endParaRPr lang="en-US" sz="1600" dirty="0"/>
          </a:p>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Systemic Fragility &amp; Node Allocation: Leading-edge fabrication is a massive chokepoint where global availability of advanced computing rests entirely on sub-3nm allocations. The concentration of Extreme Ultraviolet (EUV) lithography capacity leaves the industry vulnerable to minor material delays.</a:t>
            </a:r>
            <a:endParaRPr lang="en-US" sz="1600" dirty="0"/>
          </a:p>
          <a:p>
            <a:pPr marL="342900" indent="-342900">
              <a:buSzPct val="100000"/>
              <a:buChar char="•"/>
            </a:pPr>
            <a:endParaRPr lang="en-US" sz="1600" dirty="0"/>
          </a:p>
          <a:p>
            <a:pPr marL="342900" indent="-342900">
              <a:buSzPct val="100000"/>
              <a:buChar char="•"/>
            </a:pPr>
            <a:r>
              <a:rPr lang="en-US" sz="1600" dirty="0">
                <a:solidFill>
                  <a:srgbClr val="6B6560"/>
                </a:solidFill>
                <a:latin typeface="Aeonik" pitchFamily="34" charset="0"/>
                <a:ea typeface="Aeonik" pitchFamily="34" charset="-122"/>
                <a:cs typeface="Aeonik" pitchFamily="34" charset="-120"/>
              </a:rPr>
              <a:t>- Strategic Pivot: Sourcing HBM (High Bandwidth Memory) and advanced logic requires a shift from transactional purchasing to capacity reservation models.</a:t>
            </a:r>
            <a:endParaRPr lang="en-US" sz="16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182880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ESTIMATE</a:t>
            </a:r>
            <a:endParaRPr lang="en-US" sz="1200" dirty="0"/>
          </a:p>
        </p:txBody>
      </p:sp>
      <p:sp>
        <p:nvSpPr>
          <p:cNvPr id="11" name="Text 8"/>
          <p:cNvSpPr/>
          <p:nvPr/>
        </p:nvSpPr>
        <p:spPr>
          <a:xfrm>
            <a:off x="7680960" y="228600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$1.3T</a:t>
            </a:r>
            <a:endParaRPr lang="en-US" sz="5400" dirty="0"/>
          </a:p>
        </p:txBody>
      </p:sp>
      <p:sp>
        <p:nvSpPr>
          <p:cNvPr id="12" name="Text 9"/>
          <p:cNvSpPr/>
          <p:nvPr/>
        </p:nvSpPr>
        <p:spPr>
          <a:xfrm>
            <a:off x="7680960" y="3566160"/>
            <a:ext cx="3840480" cy="731520"/>
          </a:xfrm>
          <a:prstGeom prst="rect">
            <a:avLst/>
          </a:prstGeom>
          <a:noFill/>
          <a:ln/>
        </p:spPr>
        <p:txBody>
          <a:bodyPr wrap="square" rtlCol="0" anchor="ctr"/>
          <a:lstStyle/>
          <a:p>
            <a:pPr algn="ctr" indent="0" marL="0">
              <a:buNone/>
            </a:pPr>
            <a:r>
              <a:rPr lang="en-US" sz="1400" dirty="0">
                <a:solidFill>
                  <a:srgbClr val="6B6560"/>
                </a:solidFill>
                <a:latin typeface="Aeonik" pitchFamily="34" charset="0"/>
                <a:ea typeface="Aeonik" pitchFamily="34" charset="-122"/>
                <a:cs typeface="Aeonik" pitchFamily="34" charset="-120"/>
              </a:rPr>
              <a:t>Global Market Value</a:t>
            </a:r>
            <a:endParaRPr lang="en-US" sz="1400" dirty="0"/>
          </a:p>
          <a:p>
            <a:pPr algn="ctr" indent="0" marL="0">
              <a:buNone/>
            </a:pPr>
            <a:r>
              <a:rPr lang="en-US" sz="1400" dirty="0">
                <a:solidFill>
                  <a:srgbClr val="6B6560"/>
                </a:solidFill>
                <a:latin typeface="Aeonik" pitchFamily="34" charset="0"/>
                <a:ea typeface="Aeonik" pitchFamily="34" charset="-122"/>
                <a:cs typeface="Aeonik" pitchFamily="34" charset="-120"/>
              </a:rPr>
              <a:t>Analyst consensus 2026</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Evolution of Procurement: The Strategic Hybrid Model</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03</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Pure JIT is obsolete; the new standard is a hybrid approach that prioritizes resilience for high-value nodes.</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E0D9D0"/>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Lean JIT (Commoditized Nodes)</a:t>
            </a:r>
            <a:endParaRPr lang="en-US" sz="2000" dirty="0"/>
          </a:p>
        </p:txBody>
      </p:sp>
      <p:sp>
        <p:nvSpPr>
          <p:cNvPr id="10" name="Text 7"/>
          <p:cNvSpPr/>
          <p:nvPr/>
        </p:nvSpPr>
        <p:spPr>
          <a:xfrm>
            <a:off x="822960" y="3383280"/>
            <a:ext cx="4663440" cy="237744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Used for standardized legacy passive elements and commoditized logic chips. Minimizes capital lock-up and inventory holding costs. However, global supply shocks exposed severe operational risks in pure JIT models, including zero safety buffers, sudden factory halts, supplier insolvency, and shipping delays.</a:t>
            </a:r>
            <a:endParaRPr lang="en-US" sz="1500" dirty="0"/>
          </a:p>
        </p:txBody>
      </p:sp>
      <p:sp>
        <p:nvSpPr>
          <p:cNvPr id="11" name="Shape 8"/>
          <p:cNvSpPr/>
          <p:nvPr/>
        </p:nvSpPr>
        <p:spPr>
          <a:xfrm>
            <a:off x="6309360" y="2560320"/>
            <a:ext cx="5212080" cy="3474720"/>
          </a:xfrm>
          <a:prstGeom prst="rect">
            <a:avLst/>
          </a:prstGeom>
          <a:solidFill>
            <a:srgbClr val="FFFDF8"/>
          </a:solidFill>
          <a:ln w="12700">
            <a:solidFill>
              <a:srgbClr val="E0D9D0"/>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Strategic Buffers (Critical Nodes)</a:t>
            </a:r>
            <a:endParaRPr lang="en-US" sz="2000" dirty="0"/>
          </a:p>
        </p:txBody>
      </p:sp>
      <p:sp>
        <p:nvSpPr>
          <p:cNvPr id="13" name="Text 10"/>
          <p:cNvSpPr/>
          <p:nvPr/>
        </p:nvSpPr>
        <p:spPr>
          <a:xfrm>
            <a:off x="6583680" y="3383280"/>
            <a:ext cx="4663440" cy="237744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Maintaining 3 to 6 months of safety stock for sole-sourced, high-margin microcomponents (HBM, custom GPUs) to guarantee manufacturing continuity.</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Key Procurement Challenges &amp; Strategic Sourcing</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opacity and reactive risk management are the primary enemies of a resilient procurement strategy.</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Category Management Sourcing: Slicing procurement into precise technology nodes (Leading-edge sub-7nm vs Legacy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Leading-edge Sourcing: Focuses on deep co-development partnerships, engineering collaboration, and long-term volume commitments.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Legacy Sourcing: Emphasizes multi-sourcing, second-sourcing qualification, and legacy lifecycle management to offset obsolescence.</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768C7C"/>
            </a:solidFill>
            <a:prstDash val="solid"/>
          </a:ln>
        </p:spPr>
      </p:sp>
      <p:sp>
        <p:nvSpPr>
          <p:cNvPr id="10" name="Text 7"/>
          <p:cNvSpPr/>
          <p:nvPr/>
        </p:nvSpPr>
        <p:spPr>
          <a:xfrm>
            <a:off x="7863840" y="1463040"/>
            <a:ext cx="3474720" cy="274320"/>
          </a:xfrm>
          <a:prstGeom prst="rect">
            <a:avLst/>
          </a:prstGeom>
          <a:noFill/>
          <a:ln/>
        </p:spPr>
        <p:txBody>
          <a:bodyPr wrap="square" rtlCol="0" anchor="ctr"/>
          <a:lstStyle/>
          <a:p>
            <a:pPr indent="0" marL="0">
              <a:buNone/>
            </a:pPr>
            <a:r>
              <a:rPr lang="en-US" sz="1200" b="1" dirty="0">
                <a:solidFill>
                  <a:srgbClr val="768C7C"/>
                </a:solidFill>
                <a:latin typeface="Aeonik" pitchFamily="34" charset="0"/>
                <a:ea typeface="Aeonik" pitchFamily="34" charset="-122"/>
                <a:cs typeface="Aeonik" pitchFamily="34" charset="-120"/>
              </a:rPr>
              <a:t>LEADING-EDGE NODES (SUB-7NM)</a:t>
            </a:r>
            <a:endParaRPr lang="en-US" sz="1200" dirty="0"/>
          </a:p>
        </p:txBody>
      </p:sp>
      <p:sp>
        <p:nvSpPr>
          <p:cNvPr id="11" name="Text 8"/>
          <p:cNvSpPr/>
          <p:nvPr/>
        </p:nvSpPr>
        <p:spPr>
          <a:xfrm>
            <a:off x="7863840" y="178308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Focus: Secure allocation in sub-7nm alliances, multi-billion capacity reservation fees (LTAs), and joint R&amp;D partnerships.</a:t>
            </a:r>
            <a:endParaRPr lang="en-US" sz="1300" dirty="0"/>
          </a:p>
        </p:txBody>
      </p:sp>
      <p:sp>
        <p:nvSpPr>
          <p:cNvPr id="12" name="Shape 9"/>
          <p:cNvSpPr/>
          <p:nvPr/>
        </p:nvSpPr>
        <p:spPr>
          <a:xfrm>
            <a:off x="7680960" y="3840480"/>
            <a:ext cx="3840480" cy="2103120"/>
          </a:xfrm>
          <a:prstGeom prst="rect">
            <a:avLst/>
          </a:prstGeom>
          <a:solidFill>
            <a:srgbClr val="FFFDF8"/>
          </a:solidFill>
          <a:ln w="12700">
            <a:solidFill>
              <a:srgbClr val="B08E66"/>
            </a:solidFill>
            <a:prstDash val="solid"/>
          </a:ln>
        </p:spPr>
      </p:sp>
      <p:sp>
        <p:nvSpPr>
          <p:cNvPr id="13" name="Text 10"/>
          <p:cNvSpPr/>
          <p:nvPr/>
        </p:nvSpPr>
        <p:spPr>
          <a:xfrm>
            <a:off x="7863840" y="3931920"/>
            <a:ext cx="3474720" cy="274320"/>
          </a:xfrm>
          <a:prstGeom prst="rect">
            <a:avLst/>
          </a:prstGeom>
          <a:noFill/>
          <a:ln/>
        </p:spPr>
        <p:txBody>
          <a:bodyPr wrap="square" rtlCol="0" anchor="ctr"/>
          <a:lstStyle/>
          <a:p>
            <a:pPr indent="0" marL="0">
              <a:buNone/>
            </a:pPr>
            <a:r>
              <a:rPr lang="en-US" sz="1200" b="1" dirty="0">
                <a:solidFill>
                  <a:srgbClr val="B08E66"/>
                </a:solidFill>
                <a:latin typeface="Aeonik" pitchFamily="34" charset="0"/>
                <a:ea typeface="Aeonik" pitchFamily="34" charset="-122"/>
                <a:cs typeface="Aeonik" pitchFamily="34" charset="-120"/>
              </a:rPr>
              <a:t>LEGACY NODES (28NM+)</a:t>
            </a:r>
            <a:endParaRPr lang="en-US" sz="1200" dirty="0"/>
          </a:p>
        </p:txBody>
      </p:sp>
      <p:sp>
        <p:nvSpPr>
          <p:cNvPr id="14" name="Text 11"/>
          <p:cNvSpPr/>
          <p:nvPr/>
        </p:nvSpPr>
        <p:spPr>
          <a:xfrm>
            <a:off x="7863840" y="425196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Focus: Broad multi-sourcing, alternate distributor qualification, spot buy strategies, and lifecycle obsolescence tracking.</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1: PROCUREMENT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Digitalization &amp; Resilience in Procurement</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AI-driven "Business Intelligence Cockpits" are essential for predicting shortages 6-12 months in advance.</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LTA &amp; Reservation Fees</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Securing fab slots requires upfront reservation fees and take-or-pay clauses in Long-Term Agreements (LTAs) to lock down volume.</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Friend-Shoring Sourcing</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Decoupling supply links from high-risk locations, redirecting procurement to allied geopolitical nodes with guaranteed supply lines.</a:t>
            </a:r>
            <a:endParaRPr lang="en-US" sz="18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257800"/>
            <a:ext cx="10607040" cy="73152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AI Business Intelligence Cockpits: </a:t>
            </a:r>
            <a:pPr indent="0" marL="0">
              <a:buNone/>
            </a:pPr>
            <a:r>
              <a:rPr lang="en-US" sz="1300" dirty="0">
                <a:solidFill>
                  <a:srgbClr val="6B6560"/>
                </a:solidFill>
                <a:latin typeface="Aeonik" pitchFamily="34" charset="0"/>
                <a:ea typeface="Aeonik" pitchFamily="34" charset="-122"/>
                <a:cs typeface="Aeonik" pitchFamily="34" charset="-120"/>
              </a:rPr>
              <a:t>Advanced analytics systems parse unstructured global feeds—including weather logs, border congestion, and raw chemical shortages—to build a multi-tier dependency map, tracking Tier-2/3 volatility and supplier insolvency risks before they disrupt Tier-1 deliveries.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Global Supply Chain: A Web of Complexity</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06</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A single chip may cross international borders over 70 times, making it the most geographically dispersed value chain in history.</a:t>
            </a:r>
            <a:endParaRPr lang="en-US" sz="1800" dirty="0"/>
          </a:p>
        </p:txBody>
      </p:sp>
      <p:sp>
        <p:nvSpPr>
          <p:cNvPr id="8" name="Text 5"/>
          <p:cNvSpPr/>
          <p:nvPr/>
        </p:nvSpPr>
        <p:spPr>
          <a:xfrm>
            <a:off x="548640" y="2560320"/>
            <a:ext cx="10972800" cy="365760"/>
          </a:xfrm>
          <a:prstGeom prst="rect">
            <a:avLst/>
          </a:prstGeom>
          <a:noFill/>
          <a:ln/>
        </p:spPr>
        <p:txBody>
          <a:bodyPr wrap="square" rtlCol="0" anchor="ctr"/>
          <a:lstStyle/>
          <a:p>
            <a:pPr indent="0" marL="0">
              <a:buNone/>
            </a:pPr>
            <a:r>
              <a:rPr lang="en-US" sz="1600" b="1" dirty="0">
                <a:solidFill>
                  <a:srgbClr val="768C7C"/>
                </a:solidFill>
                <a:latin typeface="Aeonik" pitchFamily="34" charset="0"/>
                <a:ea typeface="Aeonik" pitchFamily="34" charset="-122"/>
                <a:cs typeface="Aeonik" pitchFamily="34" charset="-120"/>
              </a:rPr>
              <a:t>THE SILICON JOURNEY</a:t>
            </a:r>
            <a:endParaRPr lang="en-US" sz="1600" dirty="0"/>
          </a:p>
        </p:txBody>
      </p:sp>
      <p:sp>
        <p:nvSpPr>
          <p:cNvPr id="9" name="Shape 6"/>
          <p:cNvSpPr/>
          <p:nvPr/>
        </p:nvSpPr>
        <p:spPr>
          <a:xfrm>
            <a:off x="548640" y="3108960"/>
            <a:ext cx="1828800" cy="2377440"/>
          </a:xfrm>
          <a:prstGeom prst="rect">
            <a:avLst/>
          </a:prstGeom>
          <a:solidFill>
            <a:srgbClr val="FFFDF8"/>
          </a:solidFill>
          <a:ln w="12700">
            <a:solidFill>
              <a:srgbClr val="E0D9D0"/>
            </a:solidFill>
            <a:prstDash val="solid"/>
          </a:ln>
        </p:spPr>
      </p:sp>
      <p:sp>
        <p:nvSpPr>
          <p:cNvPr id="10" name="Text 7"/>
          <p:cNvSpPr/>
          <p:nvPr/>
        </p:nvSpPr>
        <p:spPr>
          <a:xfrm>
            <a:off x="731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1</a:t>
            </a:r>
            <a:endParaRPr lang="en-US" sz="2400" dirty="0"/>
          </a:p>
        </p:txBody>
      </p:sp>
      <p:sp>
        <p:nvSpPr>
          <p:cNvPr id="11" name="Text 8"/>
          <p:cNvSpPr/>
          <p:nvPr/>
        </p:nvSpPr>
        <p:spPr>
          <a:xfrm>
            <a:off x="731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US Design</a:t>
            </a:r>
            <a:endParaRPr lang="en-US" sz="1800" dirty="0"/>
          </a:p>
        </p:txBody>
      </p:sp>
      <p:sp>
        <p:nvSpPr>
          <p:cNvPr id="12" name="Text 9"/>
          <p:cNvSpPr/>
          <p:nvPr/>
        </p:nvSpPr>
        <p:spPr>
          <a:xfrm>
            <a:off x="731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Design &amp; EDA Tools</a:t>
            </a:r>
            <a:endParaRPr lang="en-US" sz="1400" dirty="0"/>
          </a:p>
        </p:txBody>
      </p:sp>
      <p:sp>
        <p:nvSpPr>
          <p:cNvPr id="13" name="Shape 10"/>
          <p:cNvSpPr/>
          <p:nvPr/>
        </p:nvSpPr>
        <p:spPr>
          <a:xfrm>
            <a:off x="2834640" y="3108960"/>
            <a:ext cx="1828800" cy="2377440"/>
          </a:xfrm>
          <a:prstGeom prst="rect">
            <a:avLst/>
          </a:prstGeom>
          <a:solidFill>
            <a:srgbClr val="FFFDF8"/>
          </a:solidFill>
          <a:ln w="12700">
            <a:solidFill>
              <a:srgbClr val="E0D9D0"/>
            </a:solidFill>
            <a:prstDash val="solid"/>
          </a:ln>
        </p:spPr>
      </p:sp>
      <p:sp>
        <p:nvSpPr>
          <p:cNvPr id="14" name="Text 11"/>
          <p:cNvSpPr/>
          <p:nvPr/>
        </p:nvSpPr>
        <p:spPr>
          <a:xfrm>
            <a:off x="3017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2</a:t>
            </a:r>
            <a:endParaRPr lang="en-US" sz="2400" dirty="0"/>
          </a:p>
        </p:txBody>
      </p:sp>
      <p:sp>
        <p:nvSpPr>
          <p:cNvPr id="15" name="Text 12"/>
          <p:cNvSpPr/>
          <p:nvPr/>
        </p:nvSpPr>
        <p:spPr>
          <a:xfrm>
            <a:off x="3017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Dutch SME</a:t>
            </a:r>
            <a:endParaRPr lang="en-US" sz="1800" dirty="0"/>
          </a:p>
        </p:txBody>
      </p:sp>
      <p:sp>
        <p:nvSpPr>
          <p:cNvPr id="16" name="Text 13"/>
          <p:cNvSpPr/>
          <p:nvPr/>
        </p:nvSpPr>
        <p:spPr>
          <a:xfrm>
            <a:off x="3017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ASML EUV Optics</a:t>
            </a:r>
            <a:endParaRPr lang="en-US" sz="1400" dirty="0"/>
          </a:p>
        </p:txBody>
      </p:sp>
      <p:sp>
        <p:nvSpPr>
          <p:cNvPr id="17" name="Shape 14"/>
          <p:cNvSpPr/>
          <p:nvPr/>
        </p:nvSpPr>
        <p:spPr>
          <a:xfrm>
            <a:off x="5120640" y="3108960"/>
            <a:ext cx="1828800" cy="2377440"/>
          </a:xfrm>
          <a:prstGeom prst="rect">
            <a:avLst/>
          </a:prstGeom>
          <a:solidFill>
            <a:srgbClr val="FFFDF8"/>
          </a:solidFill>
          <a:ln w="12700">
            <a:solidFill>
              <a:srgbClr val="E0D9D0"/>
            </a:solidFill>
            <a:prstDash val="solid"/>
          </a:ln>
        </p:spPr>
      </p:sp>
      <p:sp>
        <p:nvSpPr>
          <p:cNvPr id="18" name="Text 15"/>
          <p:cNvSpPr/>
          <p:nvPr/>
        </p:nvSpPr>
        <p:spPr>
          <a:xfrm>
            <a:off x="5303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3</a:t>
            </a:r>
            <a:endParaRPr lang="en-US" sz="2400" dirty="0"/>
          </a:p>
        </p:txBody>
      </p:sp>
      <p:sp>
        <p:nvSpPr>
          <p:cNvPr id="19" name="Text 16"/>
          <p:cNvSpPr/>
          <p:nvPr/>
        </p:nvSpPr>
        <p:spPr>
          <a:xfrm>
            <a:off x="5303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Taiwan Fab</a:t>
            </a:r>
            <a:endParaRPr lang="en-US" sz="1800" dirty="0"/>
          </a:p>
        </p:txBody>
      </p:sp>
      <p:sp>
        <p:nvSpPr>
          <p:cNvPr id="20" name="Text 17"/>
          <p:cNvSpPr/>
          <p:nvPr/>
        </p:nvSpPr>
        <p:spPr>
          <a:xfrm>
            <a:off x="5303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TSMC Printing</a:t>
            </a:r>
            <a:endParaRPr lang="en-US" sz="1400" dirty="0"/>
          </a:p>
        </p:txBody>
      </p:sp>
      <p:sp>
        <p:nvSpPr>
          <p:cNvPr id="21" name="Shape 18"/>
          <p:cNvSpPr/>
          <p:nvPr/>
        </p:nvSpPr>
        <p:spPr>
          <a:xfrm>
            <a:off x="7406640" y="3108960"/>
            <a:ext cx="1828800" cy="2377440"/>
          </a:xfrm>
          <a:prstGeom prst="rect">
            <a:avLst/>
          </a:prstGeom>
          <a:solidFill>
            <a:srgbClr val="FFFDF8"/>
          </a:solidFill>
          <a:ln w="12700">
            <a:solidFill>
              <a:srgbClr val="E0D9D0"/>
            </a:solidFill>
            <a:prstDash val="solid"/>
          </a:ln>
        </p:spPr>
      </p:sp>
      <p:sp>
        <p:nvSpPr>
          <p:cNvPr id="22" name="Text 19"/>
          <p:cNvSpPr/>
          <p:nvPr/>
        </p:nvSpPr>
        <p:spPr>
          <a:xfrm>
            <a:off x="7589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4</a:t>
            </a:r>
            <a:endParaRPr lang="en-US" sz="2400" dirty="0"/>
          </a:p>
        </p:txBody>
      </p:sp>
      <p:sp>
        <p:nvSpPr>
          <p:cNvPr id="23" name="Text 20"/>
          <p:cNvSpPr/>
          <p:nvPr/>
        </p:nvSpPr>
        <p:spPr>
          <a:xfrm>
            <a:off x="7589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Japan Material</a:t>
            </a:r>
            <a:endParaRPr lang="en-US" sz="1800" dirty="0"/>
          </a:p>
        </p:txBody>
      </p:sp>
      <p:sp>
        <p:nvSpPr>
          <p:cNvPr id="24" name="Text 21"/>
          <p:cNvSpPr/>
          <p:nvPr/>
        </p:nvSpPr>
        <p:spPr>
          <a:xfrm>
            <a:off x="7589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Wafers &amp; Photoresist</a:t>
            </a:r>
            <a:endParaRPr lang="en-US" sz="1400" dirty="0"/>
          </a:p>
        </p:txBody>
      </p:sp>
      <p:sp>
        <p:nvSpPr>
          <p:cNvPr id="25" name="Shape 22"/>
          <p:cNvSpPr/>
          <p:nvPr/>
        </p:nvSpPr>
        <p:spPr>
          <a:xfrm>
            <a:off x="9692640" y="3108960"/>
            <a:ext cx="1828800" cy="2377440"/>
          </a:xfrm>
          <a:prstGeom prst="rect">
            <a:avLst/>
          </a:prstGeom>
          <a:solidFill>
            <a:srgbClr val="FFFDF8"/>
          </a:solidFill>
          <a:ln w="12700">
            <a:solidFill>
              <a:srgbClr val="E0D9D0"/>
            </a:solidFill>
            <a:prstDash val="solid"/>
          </a:ln>
        </p:spPr>
      </p:sp>
      <p:sp>
        <p:nvSpPr>
          <p:cNvPr id="26" name="Text 23"/>
          <p:cNvSpPr/>
          <p:nvPr/>
        </p:nvSpPr>
        <p:spPr>
          <a:xfrm>
            <a:off x="9875520" y="3291840"/>
            <a:ext cx="1463040" cy="365760"/>
          </a:xfrm>
          <a:prstGeom prst="rect">
            <a:avLst/>
          </a:prstGeom>
          <a:noFill/>
          <a:ln/>
        </p:spPr>
        <p:txBody>
          <a:bodyPr wrap="square" rtlCol="0" anchor="ctr"/>
          <a:lstStyle/>
          <a:p>
            <a:pPr indent="0" marL="0">
              <a:buNone/>
            </a:pPr>
            <a:r>
              <a:rPr lang="en-US" sz="2400" b="1" dirty="0">
                <a:solidFill>
                  <a:srgbClr val="B84A2F"/>
                </a:solidFill>
                <a:latin typeface="PP Mondwest" pitchFamily="34" charset="0"/>
                <a:ea typeface="PP Mondwest" pitchFamily="34" charset="-122"/>
                <a:cs typeface="PP Mondwest" pitchFamily="34" charset="-120"/>
              </a:rPr>
              <a:t>5</a:t>
            </a:r>
            <a:endParaRPr lang="en-US" sz="2400" dirty="0"/>
          </a:p>
        </p:txBody>
      </p:sp>
      <p:sp>
        <p:nvSpPr>
          <p:cNvPr id="27" name="Text 24"/>
          <p:cNvSpPr/>
          <p:nvPr/>
        </p:nvSpPr>
        <p:spPr>
          <a:xfrm>
            <a:off x="9875520" y="3749040"/>
            <a:ext cx="1463040" cy="365760"/>
          </a:xfrm>
          <a:prstGeom prst="rect">
            <a:avLst/>
          </a:prstGeom>
          <a:noFill/>
          <a:ln/>
        </p:spPr>
        <p:txBody>
          <a:bodyPr wrap="square" rtlCol="0" anchor="ctr"/>
          <a:lstStyle/>
          <a:p>
            <a:pPr indent="0" marL="0">
              <a:buNone/>
            </a:pPr>
            <a:r>
              <a:rPr lang="en-US" sz="1800" b="1" dirty="0">
                <a:solidFill>
                  <a:srgbClr val="1A1714"/>
                </a:solidFill>
                <a:latin typeface="Aeonik" pitchFamily="34" charset="0"/>
                <a:ea typeface="Aeonik" pitchFamily="34" charset="-122"/>
                <a:cs typeface="Aeonik" pitchFamily="34" charset="-120"/>
              </a:rPr>
              <a:t>SE Asia Pack</a:t>
            </a:r>
            <a:endParaRPr lang="en-US" sz="1800" dirty="0"/>
          </a:p>
        </p:txBody>
      </p:sp>
      <p:sp>
        <p:nvSpPr>
          <p:cNvPr id="28" name="Text 25"/>
          <p:cNvSpPr/>
          <p:nvPr/>
        </p:nvSpPr>
        <p:spPr>
          <a:xfrm>
            <a:off x="9875520" y="4206240"/>
            <a:ext cx="1463040" cy="109728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OSAT Assembly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Architecture of the Global Value Chain (GVC)</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07</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Value is highly concentrated in specialized clusters: U.S. (Design), Europe (Equipment), and East Asia (Manufacturing).</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Design &amp; EDA (United States): Dominance in core processor blueprints and layout compiler systems (NVIDIA, Apple, Qualcomm).</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SME Equipment (Europe): Monopoly on Extreme Ultraviolet tools (ASML) required to etch sub-7nm circuit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Wafer Fabrication (East Asia): TSMC (Taiwan) and Samsung (Korea) form the production base for global advanced nodes.</a:t>
            </a:r>
            <a:endParaRPr lang="en-US" sz="1800" dirty="0"/>
          </a:p>
        </p:txBody>
      </p:sp>
      <p:sp>
        <p:nvSpPr>
          <p:cNvPr id="9" name="Shape 6"/>
          <p:cNvSpPr/>
          <p:nvPr/>
        </p:nvSpPr>
        <p:spPr>
          <a:xfrm>
            <a:off x="7680960" y="1371600"/>
            <a:ext cx="3840480" cy="2103120"/>
          </a:xfrm>
          <a:prstGeom prst="rect">
            <a:avLst/>
          </a:prstGeom>
          <a:solidFill>
            <a:srgbClr val="FFFDF8"/>
          </a:solidFill>
          <a:ln w="12700">
            <a:solidFill>
              <a:srgbClr val="B84A2F"/>
            </a:solidFill>
            <a:prstDash val="solid"/>
          </a:ln>
        </p:spPr>
      </p:sp>
      <p:sp>
        <p:nvSpPr>
          <p:cNvPr id="10" name="Text 7"/>
          <p:cNvSpPr/>
          <p:nvPr/>
        </p:nvSpPr>
        <p:spPr>
          <a:xfrm>
            <a:off x="7863840" y="1463040"/>
            <a:ext cx="3474720" cy="274320"/>
          </a:xfrm>
          <a:prstGeom prst="rect">
            <a:avLst/>
          </a:prstGeom>
          <a:noFill/>
          <a:ln/>
        </p:spPr>
        <p:txBody>
          <a:bodyPr wrap="square" rtlCol="0" anchor="ctr"/>
          <a:lstStyle/>
          <a:p>
            <a:pPr indent="0" marL="0">
              <a:buNone/>
            </a:pPr>
            <a:r>
              <a:rPr lang="en-US" sz="1200" b="1" dirty="0">
                <a:solidFill>
                  <a:srgbClr val="B84A2F"/>
                </a:solidFill>
                <a:latin typeface="Aeonik" pitchFamily="34" charset="0"/>
                <a:ea typeface="Aeonik" pitchFamily="34" charset="-122"/>
                <a:cs typeface="Aeonik" pitchFamily="34" charset="-120"/>
              </a:rPr>
              <a:t>USA: DESIGN IP</a:t>
            </a:r>
            <a:endParaRPr lang="en-US" sz="1200" dirty="0"/>
          </a:p>
        </p:txBody>
      </p:sp>
      <p:sp>
        <p:nvSpPr>
          <p:cNvPr id="11" name="Text 8"/>
          <p:cNvSpPr/>
          <p:nvPr/>
        </p:nvSpPr>
        <p:spPr>
          <a:xfrm>
            <a:off x="7863840" y="178308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Market Leader: U.S. design firms capture the majority of global chip value, controlling </a:t>
            </a:r>
            <a:pPr indent="0" marL="0">
              <a:buNone/>
            </a:pPr>
            <a:r>
              <a:rPr lang="en-US" sz="1300" b="1" dirty="0">
                <a:solidFill>
                  <a:srgbClr val="1A1714"/>
                </a:solidFill>
                <a:latin typeface="Aeonik" pitchFamily="34" charset="0"/>
                <a:ea typeface="Aeonik" pitchFamily="34" charset="-122"/>
                <a:cs typeface="Aeonik" pitchFamily="34" charset="-120"/>
              </a:rPr>
              <a:t>80%+ of the Electronic Design Automation (EDA)</a:t>
            </a:r>
            <a:pPr indent="0" marL="0">
              <a:buNone/>
            </a:pPr>
            <a:r>
              <a:rPr lang="en-US" sz="1300" dirty="0">
                <a:solidFill>
                  <a:srgbClr val="6B6560"/>
                </a:solidFill>
                <a:latin typeface="Aeonik" pitchFamily="34" charset="0"/>
                <a:ea typeface="Aeonik" pitchFamily="34" charset="-122"/>
                <a:cs typeface="Aeonik" pitchFamily="34" charset="-120"/>
              </a:rPr>
              <a:t> software market and holding core IP for high-end CPU/GPU microarchitectures.</a:t>
            </a:r>
            <a:endParaRPr lang="en-US" sz="1300" dirty="0"/>
          </a:p>
        </p:txBody>
      </p:sp>
      <p:sp>
        <p:nvSpPr>
          <p:cNvPr id="12" name="Shape 9"/>
          <p:cNvSpPr/>
          <p:nvPr/>
        </p:nvSpPr>
        <p:spPr>
          <a:xfrm>
            <a:off x="7680960" y="3840480"/>
            <a:ext cx="3840480" cy="2103120"/>
          </a:xfrm>
          <a:prstGeom prst="rect">
            <a:avLst/>
          </a:prstGeom>
          <a:solidFill>
            <a:srgbClr val="FFFDF8"/>
          </a:solidFill>
          <a:ln w="12700">
            <a:solidFill>
              <a:srgbClr val="9E7D84"/>
            </a:solidFill>
            <a:prstDash val="solid"/>
          </a:ln>
        </p:spPr>
      </p:sp>
      <p:sp>
        <p:nvSpPr>
          <p:cNvPr id="13" name="Text 10"/>
          <p:cNvSpPr/>
          <p:nvPr/>
        </p:nvSpPr>
        <p:spPr>
          <a:xfrm>
            <a:off x="7863840" y="3931920"/>
            <a:ext cx="3474720" cy="274320"/>
          </a:xfrm>
          <a:prstGeom prst="rect">
            <a:avLst/>
          </a:prstGeom>
          <a:noFill/>
          <a:ln/>
        </p:spPr>
        <p:txBody>
          <a:bodyPr wrap="square" rtlCol="0" anchor="ctr"/>
          <a:lstStyle/>
          <a:p>
            <a:pPr indent="0" marL="0">
              <a:buNone/>
            </a:pPr>
            <a:r>
              <a:rPr lang="en-US" sz="1200" b="1" dirty="0">
                <a:solidFill>
                  <a:srgbClr val="9E7D84"/>
                </a:solidFill>
                <a:latin typeface="Aeonik" pitchFamily="34" charset="0"/>
                <a:ea typeface="Aeonik" pitchFamily="34" charset="-122"/>
                <a:cs typeface="Aeonik" pitchFamily="34" charset="-120"/>
              </a:rPr>
              <a:t>ASML (EU): LITHOGRAPHY</a:t>
            </a:r>
            <a:endParaRPr lang="en-US" sz="1200" dirty="0"/>
          </a:p>
        </p:txBody>
      </p:sp>
      <p:sp>
        <p:nvSpPr>
          <p:cNvPr id="14" name="Text 11"/>
          <p:cNvSpPr/>
          <p:nvPr/>
        </p:nvSpPr>
        <p:spPr>
          <a:xfrm>
            <a:off x="7863840" y="4251960"/>
            <a:ext cx="3474720" cy="160020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Critical Enabler: European-based ASML holds a </a:t>
            </a:r>
            <a:pPr indent="0" marL="0">
              <a:buNone/>
            </a:pPr>
            <a:r>
              <a:rPr lang="en-US" sz="1300" b="1" dirty="0">
                <a:solidFill>
                  <a:srgbClr val="1A1714"/>
                </a:solidFill>
                <a:latin typeface="Aeonik" pitchFamily="34" charset="0"/>
                <a:ea typeface="Aeonik" pitchFamily="34" charset="-122"/>
                <a:cs typeface="Aeonik" pitchFamily="34" charset="-120"/>
              </a:rPr>
              <a:t>100% EUV (Extreme Ultraviolet) Monopsony</a:t>
            </a:r>
            <a:pPr indent="0" marL="0">
              <a:buNone/>
            </a:pPr>
            <a:r>
              <a:rPr lang="en-US" sz="1300" dirty="0">
                <a:solidFill>
                  <a:srgbClr val="6B6560"/>
                </a:solidFill>
                <a:latin typeface="Aeonik" pitchFamily="34" charset="0"/>
                <a:ea typeface="Aeonik" pitchFamily="34" charset="-122"/>
                <a:cs typeface="Aeonik" pitchFamily="34" charset="-120"/>
              </a:rPr>
              <a:t> for high-end printing scanners, making it the sole hardware gatekeeper for sub-7nm node fabrication.</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Front-End &amp; Back-End Bottlenecks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08</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768C7C"/>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Advanced packaging (CoWoS, 3D Stacking) is the new primary growth limiter for the AI industry.</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B84A2F"/>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Front-End: Node Scaling</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The race for the 2nm and 1.4nm nodes continues to demand immense capital investments for wafer fabrication lines.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768C7C"/>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Back-End: CoWoS &amp; HBM Integration</a:t>
            </a:r>
            <a:endParaRPr lang="en-US" sz="2000" dirty="0"/>
          </a:p>
        </p:txBody>
      </p:sp>
      <p:sp>
        <p:nvSpPr>
          <p:cNvPr id="13" name="Text 10"/>
          <p:cNvSpPr/>
          <p:nvPr/>
        </p:nvSpPr>
        <p:spPr>
          <a:xfrm>
            <a:off x="6583680" y="3291840"/>
            <a:ext cx="4663440" cy="1371600"/>
          </a:xfrm>
          <a:prstGeom prst="rect">
            <a:avLst/>
          </a:prstGeom>
          <a:noFill/>
          <a:ln/>
        </p:spPr>
        <p:txBody>
          <a:bodyPr wrap="square" rtlCol="0" anchor="ctr"/>
          <a:lstStyle/>
          <a:p>
            <a:pPr indent="0" marL="0">
              <a:buNone/>
            </a:pPr>
            <a:r>
              <a:rPr lang="en-US" sz="1600" dirty="0">
                <a:solidFill>
                  <a:srgbClr val="6B6560"/>
                </a:solidFill>
                <a:latin typeface="Aeonik" pitchFamily="34" charset="0"/>
                <a:ea typeface="Aeonik" pitchFamily="34" charset="-122"/>
                <a:cs typeface="Aeonik" pitchFamily="34" charset="-120"/>
              </a:rPr>
              <a:t>Stacking logic dies and High Bandwidth Memory (HBM) via Chip-on-Wafer-on-Substrate (CoWoS) formats has surpassed wafer printing as the primary supply chain bottleneck.</a:t>
            </a:r>
            <a:endParaRPr lang="en-US" sz="1600" dirty="0"/>
          </a:p>
        </p:txBody>
      </p:sp>
      <p:sp>
        <p:nvSpPr>
          <p:cNvPr id="14" name="Shape 11"/>
          <p:cNvSpPr/>
          <p:nvPr/>
        </p:nvSpPr>
        <p:spPr>
          <a:xfrm>
            <a:off x="548640" y="5212080"/>
            <a:ext cx="10972800" cy="822960"/>
          </a:xfrm>
          <a:prstGeom prst="rect">
            <a:avLst/>
          </a:prstGeom>
          <a:solidFill>
            <a:srgbClr val="FFFDF8"/>
          </a:solidFill>
          <a:ln w="12700">
            <a:solidFill>
              <a:srgbClr val="768C7C"/>
            </a:solidFill>
            <a:prstDash val="solid"/>
          </a:ln>
        </p:spPr>
      </p:sp>
      <p:sp>
        <p:nvSpPr>
          <p:cNvPr id="15" name="Text 12"/>
          <p:cNvSpPr/>
          <p:nvPr/>
        </p:nvSpPr>
        <p:spPr>
          <a:xfrm>
            <a:off x="731520" y="5257800"/>
            <a:ext cx="10607040" cy="73152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Logistics bottleneck: </a:t>
            </a:r>
            <a:pPr indent="0" marL="0">
              <a:buNone/>
            </a:pPr>
            <a:r>
              <a:rPr lang="en-US" sz="1300" dirty="0">
                <a:solidFill>
                  <a:srgbClr val="6B6560"/>
                </a:solidFill>
                <a:latin typeface="Aeonik" pitchFamily="34" charset="0"/>
                <a:ea typeface="Aeonik" pitchFamily="34" charset="-122"/>
                <a:cs typeface="Aeonik" pitchFamily="34" charset="-120"/>
              </a:rPr>
              <a:t>Yield limitations are no longer dominated by front-end node lithography, but by the capacity limits of advanced back-end CoWoS and 3D stacking processes.</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SME, Materials &amp; Geopolitical Fragmentation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09</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Geopolitics has created a "Multi-Polar" silicon world, where export controls and subsidies drive regionalization.</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The US CHIPS Act ($52B): Funding the domestic establishment of advanced logic fabs to balance East Asian concentration.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Europe &amp; China Reshoring: Multi-billion dollar state-supported programs targeting semiconductor in-sourcing.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Material Chokepoints: Strict export controls placed on critical trace materials like Gallium and Germanium.</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B84A2F"/>
            </a:solidFill>
            <a:prstDash val="solid"/>
          </a:ln>
        </p:spPr>
      </p:sp>
      <p:sp>
        <p:nvSpPr>
          <p:cNvPr id="10" name="Text 7"/>
          <p:cNvSpPr/>
          <p:nvPr/>
        </p:nvSpPr>
        <p:spPr>
          <a:xfrm>
            <a:off x="7863840" y="1645920"/>
            <a:ext cx="3474720" cy="548640"/>
          </a:xfrm>
          <a:prstGeom prst="rect">
            <a:avLst/>
          </a:prstGeom>
          <a:noFill/>
          <a:ln/>
        </p:spPr>
        <p:txBody>
          <a:bodyPr wrap="square" rtlCol="0" anchor="ctr"/>
          <a:lstStyle/>
          <a:p>
            <a:pPr algn="ctr" indent="0" marL="0">
              <a:buNone/>
            </a:pPr>
            <a:r>
              <a:rPr lang="en-US" sz="1400" b="1" dirty="0">
                <a:solidFill>
                  <a:srgbClr val="B84A2F"/>
                </a:solidFill>
                <a:latin typeface="Aeonik" pitchFamily="34" charset="0"/>
                <a:ea typeface="Aeonik" pitchFamily="34" charset="-122"/>
                <a:cs typeface="Aeonik" pitchFamily="34" charset="-120"/>
              </a:rPr>
              <a:t>GALLIUM &amp; GERMANIUM EXPORT RESTRICTIONS</a:t>
            </a:r>
            <a:endParaRPr lang="en-US" sz="1400" dirty="0"/>
          </a:p>
        </p:txBody>
      </p:sp>
      <p:sp>
        <p:nvSpPr>
          <p:cNvPr id="11" name="Text 8"/>
          <p:cNvSpPr/>
          <p:nvPr/>
        </p:nvSpPr>
        <p:spPr>
          <a:xfrm>
            <a:off x="7863840" y="2377440"/>
            <a:ext cx="3474720" cy="3291840"/>
          </a:xfrm>
          <a:prstGeom prst="rect">
            <a:avLst/>
          </a:prstGeom>
          <a:noFill/>
          <a:ln/>
        </p:spPr>
        <p:txBody>
          <a:bodyPr wrap="square" rtlCol="0" anchor="ctr"/>
          <a:lstStyle/>
          <a:p>
            <a:pPr algn="l" indent="0" marL="0">
              <a:buNone/>
            </a:pPr>
            <a:r>
              <a:rPr lang="en-US" sz="1300" dirty="0">
                <a:solidFill>
                  <a:srgbClr val="6B6560"/>
                </a:solidFill>
                <a:latin typeface="Aeonik" pitchFamily="34" charset="0"/>
                <a:ea typeface="Aeonik" pitchFamily="34" charset="-122"/>
                <a:cs typeface="Aeonik" pitchFamily="34" charset="-120"/>
              </a:rPr>
              <a:t>China controls </a:t>
            </a:r>
            <a:pPr algn="l" indent="0" marL="0">
              <a:buNone/>
            </a:pPr>
            <a:r>
              <a:rPr lang="en-US" sz="1300" b="1" dirty="0">
                <a:solidFill>
                  <a:srgbClr val="1A1714"/>
                </a:solidFill>
                <a:latin typeface="Aeonik" pitchFamily="34" charset="0"/>
                <a:ea typeface="Aeonik" pitchFamily="34" charset="-122"/>
                <a:cs typeface="Aeonik" pitchFamily="34" charset="-120"/>
              </a:rPr>
              <a:t>90%+ of Gallium</a:t>
            </a:r>
            <a:pPr algn="l" indent="0" marL="0">
              <a:buNone/>
            </a:pPr>
            <a:r>
              <a:rPr lang="en-US" sz="1300" dirty="0">
                <a:solidFill>
                  <a:srgbClr val="6B6560"/>
                </a:solidFill>
                <a:latin typeface="Aeonik" pitchFamily="34" charset="0"/>
                <a:ea typeface="Aeonik" pitchFamily="34" charset="-122"/>
                <a:cs typeface="Aeonik" pitchFamily="34" charset="-120"/>
              </a:rPr>
              <a:t> and </a:t>
            </a:r>
            <a:pPr algn="l" indent="0" marL="0">
              <a:buNone/>
            </a:pPr>
            <a:r>
              <a:rPr lang="en-US" sz="1300" b="1" dirty="0">
                <a:solidFill>
                  <a:srgbClr val="1A1714"/>
                </a:solidFill>
                <a:latin typeface="Aeonik" pitchFamily="34" charset="0"/>
                <a:ea typeface="Aeonik" pitchFamily="34" charset="-122"/>
                <a:cs typeface="Aeonik" pitchFamily="34" charset="-120"/>
              </a:rPr>
              <a:t>60%+ of Germanium</a:t>
            </a:r>
            <a:pPr algn="l" indent="0" marL="0">
              <a:buNone/>
            </a:pPr>
            <a:r>
              <a:rPr lang="en-US" sz="1300" dirty="0">
                <a:solidFill>
                  <a:srgbClr val="6B6560"/>
                </a:solidFill>
                <a:latin typeface="Aeonik" pitchFamily="34" charset="0"/>
                <a:ea typeface="Aeonik" pitchFamily="34" charset="-122"/>
                <a:cs typeface="Aeonik" pitchFamily="34" charset="-120"/>
              </a:rPr>
              <a:t> sourcing. Recent export restrictions require explicit licenses, causing price volatility and sourcing delays for next-generation power electronics and optical systems.
</a:t>
            </a:r>
            <a:pPr algn="l" indent="0" marL="0">
              <a:buNone/>
            </a:pPr>
            <a:r>
              <a:rPr lang="en-US" sz="1100" b="1" dirty="0">
                <a:solidFill>
                  <a:srgbClr val="1A1714"/>
                </a:solidFill>
                <a:latin typeface="Aeonik" pitchFamily="34" charset="0"/>
                <a:ea typeface="Aeonik" pitchFamily="34" charset="-122"/>
                <a:cs typeface="Aeonik" pitchFamily="34" charset="-120"/>
              </a:rPr>
              <a:t>Strategic Risk: </a:t>
            </a:r>
            <a:pPr algn="l" indent="0" marL="0">
              <a:buNone/>
            </a:pPr>
            <a:r>
              <a:rPr lang="en-US" sz="1100" i="1" dirty="0">
                <a:solidFill>
                  <a:srgbClr val="6B6560"/>
                </a:solidFill>
                <a:latin typeface="Aeonik" pitchFamily="34" charset="0"/>
                <a:ea typeface="Aeonik" pitchFamily="34" charset="-122"/>
                <a:cs typeface="Aeonik" pitchFamily="34" charset="-120"/>
              </a:rPr>
              <a:t>Material bottlenecks can disrupt entire optoelectronic supply chains.</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2: THE GLOBAL SUPPLY CHAIN OF SEMICONDUCTORS</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Supply Chain Resilience: Digital &amp; Circular</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10</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response? Circular and Autonomous Supply Chains. We are using AI to 'self-heal' the supply chain.</a:t>
            </a:r>
            <a:endParaRPr lang="en-US" sz="1800" dirty="0"/>
          </a:p>
        </p:txBody>
      </p:sp>
      <p:sp>
        <p:nvSpPr>
          <p:cNvPr id="8" name="Shape 5"/>
          <p:cNvSpPr/>
          <p:nvPr/>
        </p:nvSpPr>
        <p:spPr>
          <a:xfrm>
            <a:off x="548640" y="2560320"/>
            <a:ext cx="5212080" cy="2377440"/>
          </a:xfrm>
          <a:prstGeom prst="rect">
            <a:avLst/>
          </a:prstGeom>
          <a:solidFill>
            <a:srgbClr val="FFFDF8"/>
          </a:solidFill>
          <a:ln w="12700">
            <a:solidFill>
              <a:srgbClr val="E0D9D0"/>
            </a:solidFill>
            <a:prstDash val="solid"/>
          </a:ln>
        </p:spPr>
      </p:sp>
      <p:sp>
        <p:nvSpPr>
          <p:cNvPr id="9" name="Text 6"/>
          <p:cNvSpPr/>
          <p:nvPr/>
        </p:nvSpPr>
        <p:spPr>
          <a:xfrm>
            <a:off x="822960" y="2743200"/>
            <a:ext cx="466344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Deep Supply Mapping &amp; AI</a:t>
            </a:r>
            <a:endParaRPr lang="en-US" sz="2000" dirty="0"/>
          </a:p>
        </p:txBody>
      </p:sp>
      <p:sp>
        <p:nvSpPr>
          <p:cNvPr id="10" name="Text 7"/>
          <p:cNvSpPr/>
          <p:nvPr/>
        </p:nvSpPr>
        <p:spPr>
          <a:xfrm>
            <a:off x="822960" y="3291840"/>
            <a:ext cx="4663440" cy="137160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Automatically re-routing orders when a port closes or a factory goes down. Mapping up to Tier-4 and Tier-5 suppliers.</a:t>
            </a:r>
            <a:endParaRPr lang="en-US" sz="1800" dirty="0"/>
          </a:p>
        </p:txBody>
      </p:sp>
      <p:sp>
        <p:nvSpPr>
          <p:cNvPr id="11" name="Shape 8"/>
          <p:cNvSpPr/>
          <p:nvPr/>
        </p:nvSpPr>
        <p:spPr>
          <a:xfrm>
            <a:off x="6309360" y="2560320"/>
            <a:ext cx="5212080" cy="2377440"/>
          </a:xfrm>
          <a:prstGeom prst="rect">
            <a:avLst/>
          </a:prstGeom>
          <a:solidFill>
            <a:srgbClr val="FFFDF8"/>
          </a:solidFill>
          <a:ln w="12700">
            <a:solidFill>
              <a:srgbClr val="E0D9D0"/>
            </a:solidFill>
            <a:prstDash val="solid"/>
          </a:ln>
        </p:spPr>
      </p:sp>
      <p:sp>
        <p:nvSpPr>
          <p:cNvPr id="12" name="Text 9"/>
          <p:cNvSpPr/>
          <p:nvPr/>
        </p:nvSpPr>
        <p:spPr>
          <a:xfrm>
            <a:off x="6583680" y="2743200"/>
            <a:ext cx="4663440" cy="36576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Circular Reclamation</a:t>
            </a:r>
            <a:endParaRPr lang="en-US" sz="2000" dirty="0"/>
          </a:p>
        </p:txBody>
      </p:sp>
      <p:sp>
        <p:nvSpPr>
          <p:cNvPr id="13" name="Text 10"/>
          <p:cNvSpPr/>
          <p:nvPr/>
        </p:nvSpPr>
        <p:spPr>
          <a:xfrm>
            <a:off x="6583680" y="3291840"/>
            <a:ext cx="4663440" cy="15544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Transitioning to industrial e-waste harvesting to extract high-purity minerals. Recovering up to 99% of Copper, 98% of Gold, and 95% of Silicon substrates from decommissioned hardware to buffer raw mining volatility.</a:t>
            </a:r>
            <a:endParaRPr lang="en-US" sz="1500" dirty="0"/>
          </a:p>
        </p:txBody>
      </p:sp>
      <p:sp>
        <p:nvSpPr>
          <p:cNvPr id="14" name="Shape 11"/>
          <p:cNvSpPr/>
          <p:nvPr/>
        </p:nvSpPr>
        <p:spPr>
          <a:xfrm>
            <a:off x="548640" y="5212080"/>
            <a:ext cx="10972800" cy="822960"/>
          </a:xfrm>
          <a:prstGeom prst="rect">
            <a:avLst/>
          </a:prstGeom>
          <a:solidFill>
            <a:srgbClr val="FFFDF8"/>
          </a:solidFill>
          <a:ln w="12700">
            <a:solidFill>
              <a:srgbClr val="B84A2F"/>
            </a:solidFill>
            <a:prstDash val="solid"/>
          </a:ln>
        </p:spPr>
      </p:sp>
      <p:sp>
        <p:nvSpPr>
          <p:cNvPr id="15" name="Text 12"/>
          <p:cNvSpPr/>
          <p:nvPr/>
        </p:nvSpPr>
        <p:spPr>
          <a:xfrm>
            <a:off x="731520" y="5303520"/>
            <a:ext cx="10607040" cy="640080"/>
          </a:xfrm>
          <a:prstGeom prst="rect">
            <a:avLst/>
          </a:prstGeom>
          <a:noFill/>
          <a:ln/>
        </p:spPr>
        <p:txBody>
          <a:bodyPr wrap="square" rtlCol="0" anchor="ctr"/>
          <a:lstStyle/>
          <a:p>
            <a:pPr indent="0" marL="0">
              <a:buNone/>
            </a:pPr>
            <a:r>
              <a:rPr lang="en-US" sz="1500" dirty="0">
                <a:solidFill>
                  <a:srgbClr val="6B6560"/>
                </a:solidFill>
                <a:latin typeface="Aeonik" pitchFamily="34" charset="0"/>
                <a:ea typeface="Aeonik" pitchFamily="34" charset="-122"/>
                <a:cs typeface="Aeonik" pitchFamily="34" charset="-120"/>
              </a:rPr>
              <a:t>Autonomous logistics systems automatically scan trade flows to reroute containers before bottleneck events cause line shutdowns.</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The Ubiquity of Silicon: Powering the Modern World</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11</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9E7D84"/>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Semiconductors are the "nerve system" of the global economy; no modern industry can function without them.</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Central Nerve System: Microchips control the storage, routing, and processing of every piece of data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Intensity Metric: The total value of silicon content per product is the primary metric of industrial scaling.</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Ubiquitous Integration: Foundational logic layers power smart municipal grids, medical machinery, and neural processors.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863840" y="1645920"/>
            <a:ext cx="3474720" cy="548640"/>
          </a:xfrm>
          <a:prstGeom prst="rect">
            <a:avLst/>
          </a:prstGeom>
          <a:noFill/>
          <a:ln/>
        </p:spPr>
        <p:txBody>
          <a:bodyPr wrap="square" rtlCol="0" anchor="ctr"/>
          <a:lstStyle/>
          <a:p>
            <a:pPr algn="ctr" indent="0" marL="0">
              <a:buNone/>
            </a:pPr>
            <a:r>
              <a:rPr lang="en-US" sz="1500" b="1" dirty="0">
                <a:solidFill>
                  <a:srgbClr val="9E7D84"/>
                </a:solidFill>
                <a:latin typeface="Aeonik" pitchFamily="34" charset="0"/>
                <a:ea typeface="Aeonik" pitchFamily="34" charset="-122"/>
                <a:cs typeface="Aeonik" pitchFamily="34" charset="-120"/>
              </a:rPr>
              <a:t>SILICON INTENSITY INDEX</a:t>
            </a:r>
            <a:endParaRPr lang="en-US" sz="1500" dirty="0"/>
          </a:p>
        </p:txBody>
      </p:sp>
      <p:sp>
        <p:nvSpPr>
          <p:cNvPr id="11" name="Text 8"/>
          <p:cNvSpPr/>
          <p:nvPr/>
        </p:nvSpPr>
        <p:spPr>
          <a:xfrm>
            <a:off x="7863840" y="2377440"/>
            <a:ext cx="3474720" cy="3291840"/>
          </a:xfrm>
          <a:prstGeom prst="rect">
            <a:avLst/>
          </a:prstGeom>
          <a:noFill/>
          <a:ln/>
        </p:spPr>
        <p:txBody>
          <a:bodyPr wrap="square" rtlCol="0" anchor="ctr"/>
          <a:lstStyle/>
          <a:p>
            <a:pPr algn="l" indent="0" marL="0">
              <a:buNone/>
            </a:pPr>
            <a:r>
              <a:rPr lang="en-US" sz="1300" dirty="0">
                <a:solidFill>
                  <a:srgbClr val="6B6560"/>
                </a:solidFill>
                <a:latin typeface="Aeonik" pitchFamily="34" charset="0"/>
                <a:ea typeface="Aeonik" pitchFamily="34" charset="-122"/>
                <a:cs typeface="Aeonik" pitchFamily="34" charset="-120"/>
              </a:rPr>
              <a:t>Defined as </a:t>
            </a:r>
            <a:pPr algn="l" indent="0" marL="0">
              <a:buNone/>
            </a:pPr>
            <a:r>
              <a:rPr lang="en-US" sz="1300" b="1" dirty="0">
                <a:solidFill>
                  <a:srgbClr val="1A1714"/>
                </a:solidFill>
                <a:latin typeface="Aeonik" pitchFamily="34" charset="0"/>
                <a:ea typeface="Aeonik" pitchFamily="34" charset="-122"/>
                <a:cs typeface="Aeonik" pitchFamily="34" charset="-120"/>
              </a:rPr>
              <a:t>the total monetary value of silicon content embedded per finished product unit</a:t>
            </a:r>
            <a:pPr algn="l" indent="0" marL="0">
              <a:buNone/>
            </a:pPr>
            <a:r>
              <a:rPr lang="en-US" sz="1300" dirty="0">
                <a:solidFill>
                  <a:srgbClr val="6B6560"/>
                </a:solidFill>
                <a:latin typeface="Aeonik" pitchFamily="34" charset="0"/>
                <a:ea typeface="Aeonik" pitchFamily="34" charset="-122"/>
                <a:cs typeface="Aeonik" pitchFamily="34" charset="-120"/>
              </a:rPr>
              <a:t>. This index is the primary metric tracking how deeply semiconductors add value to downstream hardware.
</a:t>
            </a:r>
            <a:pPr algn="l" indent="0" marL="0">
              <a:buNone/>
            </a:pPr>
            <a:r>
              <a:rPr lang="en-US" sz="1100" b="1" dirty="0">
                <a:solidFill>
                  <a:srgbClr val="1A1714"/>
                </a:solidFill>
                <a:latin typeface="Aeonik" pitchFamily="34" charset="0"/>
                <a:ea typeface="Aeonik" pitchFamily="34" charset="-122"/>
                <a:cs typeface="Aeonik" pitchFamily="34" charset="-120"/>
              </a:rPr>
              <a:t>Value Metric: </a:t>
            </a:r>
            <a:pPr algn="l" indent="0" marL="0">
              <a:buNone/>
            </a:pPr>
            <a:r>
              <a:rPr lang="en-US" sz="1100" i="1" dirty="0">
                <a:solidFill>
                  <a:srgbClr val="6B6560"/>
                </a:solidFill>
                <a:latin typeface="Aeonik" pitchFamily="34" charset="0"/>
                <a:ea typeface="Aeonik" pitchFamily="34" charset="-122"/>
                <a:cs typeface="Aeonik" pitchFamily="34" charset="-120"/>
              </a:rPr>
              <a:t>Measures semiconductor reliance across all downstream products.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Executive Summary: The Demand Landscape in 2026</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12</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B84A2F"/>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Demand is shifting from traditional computing toward AI infrastructure, Automotive, and Industrial Automation.</a:t>
            </a:r>
            <a:endParaRPr lang="en-US" sz="1800" dirty="0"/>
          </a:p>
        </p:txBody>
      </p:sp>
      <p:sp>
        <p:nvSpPr>
          <p:cNvPr id="8" name="Text 5"/>
          <p:cNvSpPr/>
          <p:nvPr/>
        </p:nvSpPr>
        <p:spPr>
          <a:xfrm>
            <a:off x="731520" y="2194560"/>
            <a:ext cx="228600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INDUSTRY SEGMENT</a:t>
            </a:r>
            <a:endParaRPr lang="en-US" sz="1000" dirty="0"/>
          </a:p>
        </p:txBody>
      </p:sp>
      <p:sp>
        <p:nvSpPr>
          <p:cNvPr id="9" name="Text 6"/>
          <p:cNvSpPr/>
          <p:nvPr/>
        </p:nvSpPr>
        <p:spPr>
          <a:xfrm>
            <a:off x="3200400" y="2194560"/>
            <a:ext cx="320040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GROWTH SPEED &amp; STATUS</a:t>
            </a:r>
            <a:endParaRPr lang="en-US" sz="1000" dirty="0"/>
          </a:p>
        </p:txBody>
      </p:sp>
      <p:sp>
        <p:nvSpPr>
          <p:cNvPr id="10" name="Text 7"/>
          <p:cNvSpPr/>
          <p:nvPr/>
        </p:nvSpPr>
        <p:spPr>
          <a:xfrm>
            <a:off x="6583680" y="2194560"/>
            <a:ext cx="4754880" cy="274320"/>
          </a:xfrm>
          <a:prstGeom prst="rect">
            <a:avLst/>
          </a:prstGeom>
          <a:noFill/>
          <a:ln/>
        </p:spPr>
        <p:txBody>
          <a:bodyPr wrap="square" rtlCol="0" anchor="ctr"/>
          <a:lstStyle/>
          <a:p>
            <a:pPr indent="0" marL="0">
              <a:buNone/>
            </a:pPr>
            <a:r>
              <a:rPr lang="en-US" sz="1000" b="1" dirty="0">
                <a:solidFill>
                  <a:srgbClr val="6B6560"/>
                </a:solidFill>
                <a:latin typeface="Aeonik" pitchFamily="34" charset="0"/>
                <a:ea typeface="Aeonik" pitchFamily="34" charset="-122"/>
                <a:cs typeface="Aeonik" pitchFamily="34" charset="-120"/>
              </a:rPr>
              <a:t>SOURCING &amp; TECHNOLOGY FOCUS</a:t>
            </a:r>
            <a:endParaRPr lang="en-US" sz="1000" dirty="0"/>
          </a:p>
        </p:txBody>
      </p:sp>
      <p:sp>
        <p:nvSpPr>
          <p:cNvPr id="11" name="Shape 8"/>
          <p:cNvSpPr/>
          <p:nvPr/>
        </p:nvSpPr>
        <p:spPr>
          <a:xfrm>
            <a:off x="548640" y="2560320"/>
            <a:ext cx="10972800" cy="1005840"/>
          </a:xfrm>
          <a:prstGeom prst="rect">
            <a:avLst/>
          </a:prstGeom>
          <a:solidFill>
            <a:srgbClr val="FFFDF8"/>
          </a:solidFill>
          <a:ln w="12700">
            <a:solidFill>
              <a:srgbClr val="E0D9D0"/>
            </a:solidFill>
            <a:prstDash val="solid"/>
          </a:ln>
        </p:spPr>
      </p:sp>
      <p:sp>
        <p:nvSpPr>
          <p:cNvPr id="12" name="Text 9"/>
          <p:cNvSpPr/>
          <p:nvPr/>
        </p:nvSpPr>
        <p:spPr>
          <a:xfrm>
            <a:off x="731520" y="2834640"/>
            <a:ext cx="2286000" cy="457200"/>
          </a:xfrm>
          <a:prstGeom prst="rect">
            <a:avLst/>
          </a:prstGeom>
          <a:noFill/>
          <a:ln/>
        </p:spPr>
        <p:txBody>
          <a:bodyPr wrap="square" rtlCol="0" anchor="ctr"/>
          <a:lstStyle/>
          <a:p>
            <a:pPr indent="0" marL="0">
              <a:buNone/>
            </a:pPr>
            <a:r>
              <a:rPr lang="en-US" sz="1600" b="1" dirty="0">
                <a:solidFill>
                  <a:srgbClr val="B84A2F"/>
                </a:solidFill>
                <a:latin typeface="Aeonik" pitchFamily="34" charset="0"/>
                <a:ea typeface="Aeonik" pitchFamily="34" charset="-122"/>
                <a:cs typeface="Aeonik" pitchFamily="34" charset="-120"/>
              </a:rPr>
              <a:t>AI Datacenters</a:t>
            </a:r>
            <a:endParaRPr lang="en-US" sz="1600" dirty="0"/>
          </a:p>
        </p:txBody>
      </p:sp>
      <p:sp>
        <p:nvSpPr>
          <p:cNvPr id="13" name="Text 10"/>
          <p:cNvSpPr/>
          <p:nvPr/>
        </p:nvSpPr>
        <p:spPr>
          <a:xfrm>
            <a:off x="3200400" y="283464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50% CAGR</a:t>
            </a:r>
            <a:pPr indent="0" marL="0">
              <a:buNone/>
            </a:pPr>
            <a:r>
              <a:rPr lang="en-US" sz="1300" dirty="0">
                <a:solidFill>
                  <a:srgbClr val="6B6560"/>
                </a:solidFill>
                <a:latin typeface="Aeonik" pitchFamily="34" charset="0"/>
                <a:ea typeface="Aeonik" pitchFamily="34" charset="-122"/>
                <a:cs typeface="Aeonik" pitchFamily="34" charset="-120"/>
              </a:rPr>
              <a:t> (Exponential Value Growth)</a:t>
            </a:r>
            <a:endParaRPr lang="en-US" sz="1300" dirty="0"/>
          </a:p>
        </p:txBody>
      </p:sp>
      <p:sp>
        <p:nvSpPr>
          <p:cNvPr id="14" name="Text 11"/>
          <p:cNvSpPr/>
          <p:nvPr/>
        </p:nvSpPr>
        <p:spPr>
          <a:xfrm>
            <a:off x="6583680" y="274320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GPUs, HBM (High Bandwidth Memory), advanced optical links, sub-3nm allocations.</a:t>
            </a:r>
            <a:endParaRPr lang="en-US" sz="1300" dirty="0"/>
          </a:p>
        </p:txBody>
      </p:sp>
      <p:sp>
        <p:nvSpPr>
          <p:cNvPr id="15" name="Shape 12"/>
          <p:cNvSpPr/>
          <p:nvPr/>
        </p:nvSpPr>
        <p:spPr>
          <a:xfrm>
            <a:off x="548640" y="3749040"/>
            <a:ext cx="10972800" cy="1005840"/>
          </a:xfrm>
          <a:prstGeom prst="rect">
            <a:avLst/>
          </a:prstGeom>
          <a:solidFill>
            <a:srgbClr val="FFFDF8"/>
          </a:solidFill>
          <a:ln w="12700">
            <a:solidFill>
              <a:srgbClr val="E0D9D0"/>
            </a:solidFill>
            <a:prstDash val="solid"/>
          </a:ln>
        </p:spPr>
      </p:sp>
      <p:sp>
        <p:nvSpPr>
          <p:cNvPr id="16" name="Text 13"/>
          <p:cNvSpPr/>
          <p:nvPr/>
        </p:nvSpPr>
        <p:spPr>
          <a:xfrm>
            <a:off x="731520" y="4023360"/>
            <a:ext cx="2286000" cy="457200"/>
          </a:xfrm>
          <a:prstGeom prst="rect">
            <a:avLst/>
          </a:prstGeom>
          <a:noFill/>
          <a:ln/>
        </p:spPr>
        <p:txBody>
          <a:bodyPr wrap="square" rtlCol="0" anchor="ctr"/>
          <a:lstStyle/>
          <a:p>
            <a:pPr indent="0" marL="0">
              <a:buNone/>
            </a:pPr>
            <a:r>
              <a:rPr lang="en-US" sz="1600" b="1" dirty="0">
                <a:solidFill>
                  <a:srgbClr val="9E7D84"/>
                </a:solidFill>
                <a:latin typeface="Aeonik" pitchFamily="34" charset="0"/>
                <a:ea typeface="Aeonik" pitchFamily="34" charset="-122"/>
                <a:cs typeface="Aeonik" pitchFamily="34" charset="-120"/>
              </a:rPr>
              <a:t>Automotive</a:t>
            </a:r>
            <a:endParaRPr lang="en-US" sz="1600" dirty="0"/>
          </a:p>
        </p:txBody>
      </p:sp>
      <p:sp>
        <p:nvSpPr>
          <p:cNvPr id="17" name="Text 14"/>
          <p:cNvSpPr/>
          <p:nvPr/>
        </p:nvSpPr>
        <p:spPr>
          <a:xfrm>
            <a:off x="3200400" y="402336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Fastest Volume Growth</a:t>
            </a:r>
            <a:pPr indent="0" marL="0">
              <a:buNone/>
            </a:pPr>
            <a:r>
              <a:rPr lang="en-US" sz="1300" dirty="0">
                <a:solidFill>
                  <a:srgbClr val="6B6560"/>
                </a:solidFill>
                <a:latin typeface="Aeonik" pitchFamily="34" charset="0"/>
                <a:ea typeface="Aeonik" pitchFamily="34" charset="-122"/>
                <a:cs typeface="Aeonik" pitchFamily="34" charset="-120"/>
              </a:rPr>
              <a:t> (High Intensity scaling)</a:t>
            </a:r>
            <a:endParaRPr lang="en-US" sz="1300" dirty="0"/>
          </a:p>
        </p:txBody>
      </p:sp>
      <p:sp>
        <p:nvSpPr>
          <p:cNvPr id="18" name="Text 15"/>
          <p:cNvSpPr/>
          <p:nvPr/>
        </p:nvSpPr>
        <p:spPr>
          <a:xfrm>
            <a:off x="6583680" y="393192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ADAS logic, Lidar, Silicon Carbide (SiC) power logic, 28nm+ legacy microcontrollers.</a:t>
            </a:r>
            <a:endParaRPr lang="en-US" sz="1300" dirty="0"/>
          </a:p>
        </p:txBody>
      </p:sp>
      <p:sp>
        <p:nvSpPr>
          <p:cNvPr id="19" name="Shape 16"/>
          <p:cNvSpPr/>
          <p:nvPr/>
        </p:nvSpPr>
        <p:spPr>
          <a:xfrm>
            <a:off x="548640" y="4937760"/>
            <a:ext cx="10972800" cy="1005840"/>
          </a:xfrm>
          <a:prstGeom prst="rect">
            <a:avLst/>
          </a:prstGeom>
          <a:solidFill>
            <a:srgbClr val="FFFDF8"/>
          </a:solidFill>
          <a:ln w="12700">
            <a:solidFill>
              <a:srgbClr val="E0D9D0"/>
            </a:solidFill>
            <a:prstDash val="solid"/>
          </a:ln>
        </p:spPr>
      </p:sp>
      <p:sp>
        <p:nvSpPr>
          <p:cNvPr id="20" name="Text 17"/>
          <p:cNvSpPr/>
          <p:nvPr/>
        </p:nvSpPr>
        <p:spPr>
          <a:xfrm>
            <a:off x="731520" y="5212080"/>
            <a:ext cx="2286000" cy="457200"/>
          </a:xfrm>
          <a:prstGeom prst="rect">
            <a:avLst/>
          </a:prstGeom>
          <a:noFill/>
          <a:ln/>
        </p:spPr>
        <p:txBody>
          <a:bodyPr wrap="square" rtlCol="0" anchor="ctr"/>
          <a:lstStyle/>
          <a:p>
            <a:pPr indent="0" marL="0">
              <a:buNone/>
            </a:pPr>
            <a:r>
              <a:rPr lang="en-US" sz="1600" b="1" dirty="0">
                <a:solidFill>
                  <a:srgbClr val="768C7C"/>
                </a:solidFill>
                <a:latin typeface="Aeonik" pitchFamily="34" charset="0"/>
                <a:ea typeface="Aeonik" pitchFamily="34" charset="-122"/>
                <a:cs typeface="Aeonik" pitchFamily="34" charset="-120"/>
              </a:rPr>
              <a:t>Smartphones &amp; PCs</a:t>
            </a:r>
            <a:endParaRPr lang="en-US" sz="1600" dirty="0"/>
          </a:p>
        </p:txBody>
      </p:sp>
      <p:sp>
        <p:nvSpPr>
          <p:cNvPr id="21" name="Text 18"/>
          <p:cNvSpPr/>
          <p:nvPr/>
        </p:nvSpPr>
        <p:spPr>
          <a:xfrm>
            <a:off x="3200400" y="5212080"/>
            <a:ext cx="3017520" cy="457200"/>
          </a:xfrm>
          <a:prstGeom prst="rect">
            <a:avLst/>
          </a:prstGeom>
          <a:noFill/>
          <a:ln/>
        </p:spPr>
        <p:txBody>
          <a:bodyPr wrap="square" rtlCol="0" anchor="ctr"/>
          <a:lstStyle/>
          <a:p>
            <a:pPr indent="0" marL="0">
              <a:buNone/>
            </a:pPr>
            <a:r>
              <a:rPr lang="en-US" sz="1300" b="1" dirty="0">
                <a:solidFill>
                  <a:srgbClr val="1A1714"/>
                </a:solidFill>
                <a:latin typeface="Aeonik" pitchFamily="34" charset="0"/>
                <a:ea typeface="Aeonik" pitchFamily="34" charset="-122"/>
                <a:cs typeface="Aeonik" pitchFamily="34" charset="-120"/>
              </a:rPr>
              <a:t>Volume Saturation</a:t>
            </a:r>
            <a:pPr indent="0" marL="0">
              <a:buNone/>
            </a:pPr>
            <a:r>
              <a:rPr lang="en-US" sz="1300" dirty="0">
                <a:solidFill>
                  <a:srgbClr val="6B6560"/>
                </a:solidFill>
                <a:latin typeface="Aeonik" pitchFamily="34" charset="0"/>
                <a:ea typeface="Aeonik" pitchFamily="34" charset="-122"/>
                <a:cs typeface="Aeonik" pitchFamily="34" charset="-120"/>
              </a:rPr>
              <a:t> (Flat/Steady volume growth)</a:t>
            </a:r>
            <a:endParaRPr lang="en-US" sz="1300" dirty="0"/>
          </a:p>
        </p:txBody>
      </p:sp>
      <p:sp>
        <p:nvSpPr>
          <p:cNvPr id="22" name="Text 19"/>
          <p:cNvSpPr/>
          <p:nvPr/>
        </p:nvSpPr>
        <p:spPr>
          <a:xfrm>
            <a:off x="6583680" y="5120640"/>
            <a:ext cx="4754880" cy="640080"/>
          </a:xfrm>
          <a:prstGeom prst="rect">
            <a:avLst/>
          </a:prstGeom>
          <a:noFill/>
          <a:ln/>
        </p:spPr>
        <p:txBody>
          <a:bodyPr wrap="square" rtlCol="0" anchor="ctr"/>
          <a:lstStyle/>
          <a:p>
            <a:pPr indent="0" marL="0">
              <a:buNone/>
            </a:pPr>
            <a:r>
              <a:rPr lang="en-US" sz="1300" dirty="0">
                <a:solidFill>
                  <a:srgbClr val="6B6560"/>
                </a:solidFill>
                <a:latin typeface="Aeonik" pitchFamily="34" charset="0"/>
                <a:ea typeface="Aeonik" pitchFamily="34" charset="-122"/>
                <a:cs typeface="Aeonik" pitchFamily="34" charset="-120"/>
              </a:rPr>
              <a:t>Edge-AI acceleration NPUs, standard application processors, memory, sensor logic.</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AI &amp; Data Centers: The Generative Revolution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13</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Data centers have evolved into "Intelligence Engines," consuming the highest-value silicon ever produced.</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Accelerator Market ($500B+): Generative models and neural computing demand massive scaling of TPU and GPU nodes.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Sub-3nm Node Sourcing: The primary consumers of the most advanced wafer print architectures globally.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Memory &amp; Interconnect: Demands extreme density of High Bandwidth Memory (HBM) and customized routing interconnect silicon.</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768C7C"/>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CONSENSUS FORECAST</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400" b="1" dirty="0">
                <a:solidFill>
                  <a:srgbClr val="1A1714"/>
                </a:solidFill>
                <a:latin typeface="PP Mondwest" pitchFamily="34" charset="0"/>
                <a:ea typeface="PP Mondwest" pitchFamily="34" charset="-122"/>
                <a:cs typeface="PP Mondwest" pitchFamily="34" charset="-120"/>
              </a:rPr>
              <a:t>$500B+</a:t>
            </a:r>
            <a:endParaRPr lang="en-US" sz="5400" dirty="0"/>
          </a:p>
        </p:txBody>
      </p:sp>
      <p:sp>
        <p:nvSpPr>
          <p:cNvPr id="12" name="Text 9"/>
          <p:cNvSpPr/>
          <p:nvPr/>
        </p:nvSpPr>
        <p:spPr>
          <a:xfrm>
            <a:off x="7772400" y="3840480"/>
            <a:ext cx="3657600" cy="731520"/>
          </a:xfrm>
          <a:prstGeom prst="rect">
            <a:avLst/>
          </a:prstGeom>
          <a:noFill/>
          <a:ln/>
        </p:spPr>
        <p:txBody>
          <a:bodyPr wrap="square" rtlCol="0" anchor="ctr"/>
          <a:lstStyle/>
          <a:p>
            <a:pPr algn="ctr" indent="0" marL="0">
              <a:buNone/>
            </a:pPr>
            <a:r>
              <a:rPr lang="en-US" sz="1400" b="1" dirty="0">
                <a:solidFill>
                  <a:srgbClr val="6B6560"/>
                </a:solidFill>
                <a:latin typeface="Aeonik" pitchFamily="34" charset="0"/>
                <a:ea typeface="Aeonik" pitchFamily="34" charset="-122"/>
                <a:cs typeface="Aeonik" pitchFamily="34" charset="-120"/>
              </a:rPr>
              <a:t>AI Accelerator Market Projected Size by 2026</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Automotive: The "Smartphone on Wheels"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14</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B84A2F"/>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B84A2F"/>
                </a:solidFill>
                <a:latin typeface="Bookman ITC Std" pitchFamily="34" charset="0"/>
                <a:ea typeface="Bookman ITC Std" pitchFamily="34" charset="-122"/>
                <a:cs typeface="Bookman ITC Std" pitchFamily="34" charset="-120"/>
              </a:rPr>
              <a:t>The transition to EVs and ADAS is doubling semiconductor content per vehicle, reaching over $1,000 per unit.</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Silicon Carbide (SiC) Power: Drives high-efficiency power switches in high-voltage EV battery platforms.</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ADAS Autonomous Compute: Self-driving capabilities demand heavy on-board computational units for sensor fusion.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Sensor Arrays Sourcing: Vehicles integrate multiple LiDAR, radar, and camera chip sets for 360-degree coverage.</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B84A2F"/>
                </a:solidFill>
                <a:latin typeface="Aeonik" pitchFamily="34" charset="0"/>
                <a:ea typeface="Aeonik" pitchFamily="34" charset="-122"/>
                <a:cs typeface="Aeonik" pitchFamily="34" charset="-120"/>
              </a:rPr>
              <a:t>EV CONTENT GROWTH</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5000" b="1" dirty="0">
                <a:solidFill>
                  <a:srgbClr val="1A1714"/>
                </a:solidFill>
                <a:latin typeface="PP Mondwest" pitchFamily="34" charset="0"/>
                <a:ea typeface="PP Mondwest" pitchFamily="34" charset="-122"/>
                <a:cs typeface="PP Mondwest" pitchFamily="34" charset="-120"/>
              </a:rPr>
              <a:t>$1,000+</a:t>
            </a:r>
            <a:endParaRPr lang="en-US" sz="5000" dirty="0"/>
          </a:p>
        </p:txBody>
      </p:sp>
      <p:sp>
        <p:nvSpPr>
          <p:cNvPr id="12" name="Text 9"/>
          <p:cNvSpPr/>
          <p:nvPr/>
        </p:nvSpPr>
        <p:spPr>
          <a:xfrm>
            <a:off x="7772400" y="3840480"/>
            <a:ext cx="3657600" cy="731520"/>
          </a:xfrm>
          <a:prstGeom prst="rect">
            <a:avLst/>
          </a:prstGeom>
          <a:noFill/>
          <a:ln/>
        </p:spPr>
        <p:txBody>
          <a:bodyPr wrap="square" rtlCol="0" anchor="ctr"/>
          <a:lstStyle/>
          <a:p>
            <a:pPr algn="ctr" indent="0" marL="0">
              <a:buNone/>
            </a:pPr>
            <a:r>
              <a:rPr lang="en-US" sz="1400" b="1" dirty="0">
                <a:solidFill>
                  <a:srgbClr val="6B6560"/>
                </a:solidFill>
                <a:latin typeface="Aeonik" pitchFamily="34" charset="0"/>
                <a:ea typeface="Aeonik" pitchFamily="34" charset="-122"/>
                <a:cs typeface="Aeonik" pitchFamily="34" charset="-120"/>
              </a:rPr>
              <a:t>$1,000+ semiconductor content per EV unit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Industrial, IoT &amp; Healthcare: Intelligence at the Edge</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15</a:t>
            </a:r>
            <a:endParaRPr lang="en-US" sz="1000" dirty="0"/>
          </a:p>
        </p:txBody>
      </p:sp>
      <p:sp>
        <p:nvSpPr>
          <p:cNvPr id="6" name="Shape 3"/>
          <p:cNvSpPr/>
          <p:nvPr/>
        </p:nvSpPr>
        <p:spPr>
          <a:xfrm>
            <a:off x="548640" y="1371600"/>
            <a:ext cx="10972800" cy="914400"/>
          </a:xfrm>
          <a:prstGeom prst="rect">
            <a:avLst/>
          </a:prstGeom>
          <a:solidFill>
            <a:srgbClr val="FFFDF8"/>
          </a:solidFill>
          <a:ln w="19050">
            <a:solidFill>
              <a:srgbClr val="9E7D84"/>
            </a:solidFill>
            <a:prstDash val="solid"/>
          </a:ln>
        </p:spPr>
      </p:sp>
      <p:sp>
        <p:nvSpPr>
          <p:cNvPr id="7" name="Text 4"/>
          <p:cNvSpPr/>
          <p:nvPr/>
        </p:nvSpPr>
        <p:spPr>
          <a:xfrm>
            <a:off x="731520" y="1463040"/>
            <a:ext cx="10607040" cy="731520"/>
          </a:xfrm>
          <a:prstGeom prst="rect">
            <a:avLst/>
          </a:prstGeom>
          <a:noFill/>
          <a:ln/>
        </p:spPr>
        <p:txBody>
          <a:bodyPr wrap="square" rtlCol="0" anchor="ctr"/>
          <a:lstStyle/>
          <a:p>
            <a:pPr indent="0" marL="0">
              <a:buNone/>
            </a:pPr>
            <a:r>
              <a:rPr lang="en-US" sz="1800" b="1" i="1" dirty="0">
                <a:solidFill>
                  <a:srgbClr val="9E7D84"/>
                </a:solidFill>
                <a:latin typeface="Bookman ITC Std" pitchFamily="34" charset="0"/>
                <a:ea typeface="Bookman ITC Std" pitchFamily="34" charset="-122"/>
                <a:cs typeface="Bookman ITC Std" pitchFamily="34" charset="-120"/>
              </a:rPr>
              <a:t>Edge AI is transforming manufacturing and healthcare, prioritizing long-lifecycle, high-reliability silicon.</a:t>
            </a:r>
            <a:endParaRPr lang="en-US" sz="1800" dirty="0"/>
          </a:p>
        </p:txBody>
      </p:sp>
      <p:sp>
        <p:nvSpPr>
          <p:cNvPr id="8" name="Shape 5"/>
          <p:cNvSpPr/>
          <p:nvPr/>
        </p:nvSpPr>
        <p:spPr>
          <a:xfrm>
            <a:off x="548640" y="2560320"/>
            <a:ext cx="5212080" cy="3474720"/>
          </a:xfrm>
          <a:prstGeom prst="rect">
            <a:avLst/>
          </a:prstGeom>
          <a:solidFill>
            <a:srgbClr val="FFFDF8"/>
          </a:solidFill>
          <a:ln w="12700">
            <a:solidFill>
              <a:srgbClr val="9E7D84"/>
            </a:solidFill>
            <a:prstDash val="solid"/>
          </a:ln>
        </p:spPr>
      </p:sp>
      <p:sp>
        <p:nvSpPr>
          <p:cNvPr id="9" name="Text 6"/>
          <p:cNvSpPr/>
          <p:nvPr/>
        </p:nvSpPr>
        <p:spPr>
          <a:xfrm>
            <a:off x="822960" y="2834640"/>
            <a:ext cx="4663440" cy="457200"/>
          </a:xfrm>
          <a:prstGeom prst="rect">
            <a:avLst/>
          </a:prstGeom>
          <a:noFill/>
          <a:ln/>
        </p:spPr>
        <p:txBody>
          <a:bodyPr wrap="square" rtlCol="0" anchor="ctr"/>
          <a:lstStyle/>
          <a:p>
            <a:pPr indent="0" marL="0">
              <a:buNone/>
            </a:pPr>
            <a:r>
              <a:rPr lang="en-US" sz="2000" b="1" dirty="0">
                <a:solidFill>
                  <a:srgbClr val="9E7D84"/>
                </a:solidFill>
                <a:latin typeface="PP Mondwest" pitchFamily="34" charset="0"/>
                <a:ea typeface="PP Mondwest" pitchFamily="34" charset="-122"/>
                <a:cs typeface="PP Mondwest" pitchFamily="34" charset="-120"/>
              </a:rPr>
              <a:t>Industry 4.0 Edge Analytics</a:t>
            </a:r>
            <a:endParaRPr lang="en-US" sz="2000" dirty="0"/>
          </a:p>
        </p:txBody>
      </p:sp>
      <p:sp>
        <p:nvSpPr>
          <p:cNvPr id="10" name="Text 7"/>
          <p:cNvSpPr/>
          <p:nvPr/>
        </p:nvSpPr>
        <p:spPr>
          <a:xfrm>
            <a:off x="82296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Factory floor nodes execute real-time local algorithms for predictive maintenance and machine vision controls, utilizing highly rugged legacy processes.</a:t>
            </a:r>
            <a:endParaRPr lang="en-US" sz="1800" dirty="0"/>
          </a:p>
        </p:txBody>
      </p:sp>
      <p:sp>
        <p:nvSpPr>
          <p:cNvPr id="11" name="Shape 8"/>
          <p:cNvSpPr/>
          <p:nvPr/>
        </p:nvSpPr>
        <p:spPr>
          <a:xfrm>
            <a:off x="6309360" y="2560320"/>
            <a:ext cx="5212080" cy="3474720"/>
          </a:xfrm>
          <a:prstGeom prst="rect">
            <a:avLst/>
          </a:prstGeom>
          <a:solidFill>
            <a:srgbClr val="FFFDF8"/>
          </a:solidFill>
          <a:ln w="12700">
            <a:solidFill>
              <a:srgbClr val="768C7C"/>
            </a:solidFill>
            <a:prstDash val="solid"/>
          </a:ln>
        </p:spPr>
      </p:sp>
      <p:sp>
        <p:nvSpPr>
          <p:cNvPr id="12" name="Text 9"/>
          <p:cNvSpPr/>
          <p:nvPr/>
        </p:nvSpPr>
        <p:spPr>
          <a:xfrm>
            <a:off x="6583680" y="2834640"/>
            <a:ext cx="4663440" cy="457200"/>
          </a:xfrm>
          <a:prstGeom prst="rect">
            <a:avLst/>
          </a:prstGeom>
          <a:noFill/>
          <a:ln/>
        </p:spPr>
        <p:txBody>
          <a:bodyPr wrap="square" rtlCol="0" anchor="ctr"/>
          <a:lstStyle/>
          <a:p>
            <a:pPr indent="0" marL="0">
              <a:buNone/>
            </a:pPr>
            <a:r>
              <a:rPr lang="en-US" sz="2000" b="1" dirty="0">
                <a:solidFill>
                  <a:srgbClr val="768C7C"/>
                </a:solidFill>
                <a:latin typeface="PP Mondwest" pitchFamily="34" charset="0"/>
                <a:ea typeface="PP Mondwest" pitchFamily="34" charset="-122"/>
                <a:cs typeface="PP Mondwest" pitchFamily="34" charset="-120"/>
              </a:rPr>
              <a:t>Healthcare Personalized Sourcing</a:t>
            </a:r>
            <a:endParaRPr lang="en-US" sz="2000" dirty="0"/>
          </a:p>
        </p:txBody>
      </p:sp>
      <p:sp>
        <p:nvSpPr>
          <p:cNvPr id="13" name="Text 10"/>
          <p:cNvSpPr/>
          <p:nvPr/>
        </p:nvSpPr>
        <p:spPr>
          <a:xfrm>
            <a:off x="6583680" y="3474720"/>
            <a:ext cx="4663440" cy="2194560"/>
          </a:xfrm>
          <a:prstGeom prst="rect">
            <a:avLst/>
          </a:prstGeom>
          <a:noFill/>
          <a:ln/>
        </p:spPr>
        <p:txBody>
          <a:bodyPr wrap="square" rtlCol="0" anchor="ctr"/>
          <a:lstStyle/>
          <a:p>
            <a:pPr indent="0" marL="0">
              <a:buNone/>
            </a:pPr>
            <a:r>
              <a:rPr lang="en-US" sz="1800" dirty="0">
                <a:solidFill>
                  <a:srgbClr val="6B6560"/>
                </a:solidFill>
                <a:latin typeface="Aeonik" pitchFamily="34" charset="0"/>
                <a:ea typeface="Aeonik" pitchFamily="34" charset="-122"/>
                <a:cs typeface="Aeonik" pitchFamily="34" charset="-120"/>
              </a:rPr>
              <a:t>Semiconductors enable smart wearable diagnostics, active health implants, and personalized diagnostics. Requires extreme reliability certifications.</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PART 3: DOWNSTREAM END-USER INDUSTRIES &amp; APPLICATION ECOSYSTEM</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Consumer Electronics &amp; Emerging Frontiers</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16</a:t>
            </a:r>
            <a:endParaRPr lang="en-US" sz="1000" dirty="0"/>
          </a:p>
        </p:txBody>
      </p:sp>
      <p:sp>
        <p:nvSpPr>
          <p:cNvPr id="6" name="Shape 3"/>
          <p:cNvSpPr/>
          <p:nvPr/>
        </p:nvSpPr>
        <p:spPr>
          <a:xfrm>
            <a:off x="548640" y="1371600"/>
            <a:ext cx="6583680" cy="914400"/>
          </a:xfrm>
          <a:prstGeom prst="rect">
            <a:avLst/>
          </a:prstGeom>
          <a:solidFill>
            <a:srgbClr val="FFFDF8"/>
          </a:solidFill>
          <a:ln w="19050">
            <a:solidFill>
              <a:srgbClr val="768C7C"/>
            </a:solidFill>
            <a:prstDash val="solid"/>
          </a:ln>
        </p:spPr>
      </p:sp>
      <p:sp>
        <p:nvSpPr>
          <p:cNvPr id="7" name="Text 4"/>
          <p:cNvSpPr/>
          <p:nvPr/>
        </p:nvSpPr>
        <p:spPr>
          <a:xfrm>
            <a:off x="731520" y="1463040"/>
            <a:ext cx="6217920" cy="731520"/>
          </a:xfrm>
          <a:prstGeom prst="rect">
            <a:avLst/>
          </a:prstGeom>
          <a:noFill/>
          <a:ln/>
        </p:spPr>
        <p:txBody>
          <a:bodyPr wrap="square" rtlCol="0" anchor="ctr"/>
          <a:lstStyle/>
          <a:p>
            <a:pPr indent="0" marL="0">
              <a:buNone/>
            </a:pPr>
            <a:r>
              <a:rPr lang="en-US" sz="1800" b="1" i="1" dirty="0">
                <a:solidFill>
                  <a:srgbClr val="768C7C"/>
                </a:solidFill>
                <a:latin typeface="Bookman ITC Std" pitchFamily="34" charset="0"/>
                <a:ea typeface="Bookman ITC Std" pitchFamily="34" charset="-122"/>
                <a:cs typeface="Bookman ITC Std" pitchFamily="34" charset="-120"/>
              </a:rPr>
              <a:t>While traditional consumer tech matures, frontiers like Quantum, 6G, and Neuromorphic computing define the 2030 roadmap.</a:t>
            </a:r>
            <a:endParaRPr lang="en-US" sz="1800" dirty="0"/>
          </a:p>
        </p:txBody>
      </p:sp>
      <p:sp>
        <p:nvSpPr>
          <p:cNvPr id="8" name="Text 5"/>
          <p:cNvSpPr/>
          <p:nvPr/>
        </p:nvSpPr>
        <p:spPr>
          <a:xfrm>
            <a:off x="548640" y="2560320"/>
            <a:ext cx="6583680" cy="3474720"/>
          </a:xfrm>
          <a:prstGeom prst="rect">
            <a:avLst/>
          </a:prstGeom>
          <a:noFill/>
          <a:ln/>
        </p:spPr>
        <p:txBody>
          <a:bodyPr wrap="square" rtlCol="0" anchor="ctr"/>
          <a:lstStyle/>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On-Device NPU Logic: Integrating Neural Processing Units (NPUs) into laptops and mobile phones to enable local AI execution.</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Neuromorphic Computing: Researching brain-inspired architectures targeting extreme computing power efficiency.</a:t>
            </a:r>
            <a:endParaRPr lang="en-US" sz="1800" dirty="0"/>
          </a:p>
          <a:p>
            <a:pPr marL="342900" indent="-342900">
              <a:buSzPct val="100000"/>
              <a:buChar char="•"/>
            </a:pPr>
            <a:endParaRPr lang="en-US" sz="1800" dirty="0"/>
          </a:p>
          <a:p>
            <a:pPr marL="342900" indent="-342900">
              <a:buSzPct val="100000"/>
              <a:buChar char="•"/>
            </a:pPr>
            <a:r>
              <a:rPr lang="en-US" sz="1800" dirty="0">
                <a:solidFill>
                  <a:srgbClr val="6B6560"/>
                </a:solidFill>
                <a:latin typeface="Aeonik" pitchFamily="34" charset="0"/>
                <a:ea typeface="Aeonik" pitchFamily="34" charset="-122"/>
                <a:cs typeface="Aeonik" pitchFamily="34" charset="-120"/>
              </a:rPr>
              <a:t>- Next-Gen Frontiers: Developing quantum structures and 6G communications hardware blocks.</a:t>
            </a:r>
            <a:endParaRPr lang="en-US" sz="1800" dirty="0"/>
          </a:p>
        </p:txBody>
      </p:sp>
      <p:sp>
        <p:nvSpPr>
          <p:cNvPr id="9" name="Shape 6"/>
          <p:cNvSpPr/>
          <p:nvPr/>
        </p:nvSpPr>
        <p:spPr>
          <a:xfrm>
            <a:off x="7680960" y="1371600"/>
            <a:ext cx="3840480" cy="4572000"/>
          </a:xfrm>
          <a:prstGeom prst="rect">
            <a:avLst/>
          </a:prstGeom>
          <a:solidFill>
            <a:srgbClr val="FFFDF8"/>
          </a:solidFill>
          <a:ln w="12700">
            <a:solidFill>
              <a:srgbClr val="E0D9D0"/>
            </a:solidFill>
            <a:prstDash val="solid"/>
          </a:ln>
        </p:spPr>
      </p:sp>
      <p:sp>
        <p:nvSpPr>
          <p:cNvPr id="10" name="Text 7"/>
          <p:cNvSpPr/>
          <p:nvPr/>
        </p:nvSpPr>
        <p:spPr>
          <a:xfrm>
            <a:off x="7680960" y="2011680"/>
            <a:ext cx="3840480" cy="365760"/>
          </a:xfrm>
          <a:prstGeom prst="rect">
            <a:avLst/>
          </a:prstGeom>
          <a:noFill/>
          <a:ln/>
        </p:spPr>
        <p:txBody>
          <a:bodyPr wrap="square" rtlCol="0" anchor="ctr"/>
          <a:lstStyle/>
          <a:p>
            <a:pPr algn="ctr" indent="0" marL="0">
              <a:buNone/>
            </a:pPr>
            <a:r>
              <a:rPr lang="en-US" sz="1200" b="1" dirty="0">
                <a:solidFill>
                  <a:srgbClr val="768C7C"/>
                </a:solidFill>
                <a:latin typeface="Aeonik" pitchFamily="34" charset="0"/>
                <a:ea typeface="Aeonik" pitchFamily="34" charset="-122"/>
                <a:cs typeface="Aeonik" pitchFamily="34" charset="-120"/>
              </a:rPr>
              <a:t>NPU CORES</a:t>
            </a:r>
            <a:endParaRPr lang="en-US" sz="1200" dirty="0"/>
          </a:p>
        </p:txBody>
      </p:sp>
      <p:sp>
        <p:nvSpPr>
          <p:cNvPr id="11" name="Text 8"/>
          <p:cNvSpPr/>
          <p:nvPr/>
        </p:nvSpPr>
        <p:spPr>
          <a:xfrm>
            <a:off x="7680960" y="2560320"/>
            <a:ext cx="3840480" cy="1097280"/>
          </a:xfrm>
          <a:prstGeom prst="rect">
            <a:avLst/>
          </a:prstGeom>
          <a:noFill/>
          <a:ln/>
        </p:spPr>
        <p:txBody>
          <a:bodyPr wrap="square" rtlCol="0" anchor="ctr"/>
          <a:lstStyle/>
          <a:p>
            <a:pPr algn="ctr" indent="0" marL="0">
              <a:buNone/>
            </a:pPr>
            <a:r>
              <a:rPr lang="en-US" sz="3600" b="1" dirty="0">
                <a:solidFill>
                  <a:srgbClr val="1A1714"/>
                </a:solidFill>
                <a:latin typeface="PP Mondwest" pitchFamily="34" charset="0"/>
                <a:ea typeface="PP Mondwest" pitchFamily="34" charset="-122"/>
                <a:cs typeface="PP Mondwest" pitchFamily="34" charset="-120"/>
              </a:rPr>
              <a:t>Client AI</a:t>
            </a:r>
            <a:endParaRPr lang="en-US" sz="3600" dirty="0"/>
          </a:p>
        </p:txBody>
      </p:sp>
      <p:sp>
        <p:nvSpPr>
          <p:cNvPr id="12" name="Text 9"/>
          <p:cNvSpPr/>
          <p:nvPr/>
        </p:nvSpPr>
        <p:spPr>
          <a:xfrm>
            <a:off x="7680960" y="3840480"/>
            <a:ext cx="3840480" cy="731520"/>
          </a:xfrm>
          <a:prstGeom prst="rect">
            <a:avLst/>
          </a:prstGeom>
          <a:noFill/>
          <a:ln/>
        </p:spPr>
        <p:txBody>
          <a:bodyPr wrap="square" rtlCol="0" anchor="ctr"/>
          <a:lstStyle/>
          <a:p>
            <a:pPr algn="ctr" indent="0" marL="0">
              <a:buNone/>
            </a:pPr>
            <a:r>
              <a:rPr lang="en-US" sz="1500" dirty="0">
                <a:solidFill>
                  <a:srgbClr val="6B6560"/>
                </a:solidFill>
                <a:latin typeface="Aeonik" pitchFamily="34" charset="0"/>
                <a:ea typeface="Aeonik" pitchFamily="34" charset="-122"/>
                <a:cs typeface="Aeonik" pitchFamily="34" charset="-120"/>
              </a:rPr>
              <a:t>Standard hardware in 2026 client electronics (laptops, phones)</a:t>
            </a:r>
            <a:endParaRPr lang="en-US" sz="15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0E8"/>
        </a:solidFill>
      </p:bgPr>
    </p:bg>
    <p:spTree>
      <p:nvGrpSpPr>
        <p:cNvPr id="1" name=""/>
        <p:cNvGrpSpPr/>
        <p:nvPr/>
      </p:nvGrpSpPr>
      <p:grpSpPr>
        <a:xfrm>
          <a:off x="0" y="0"/>
          <a:ext cx="0" cy="0"/>
          <a:chOff x="0" y="0"/>
          <a:chExt cx="0" cy="0"/>
        </a:xfrm>
      </p:grpSpPr>
      <p:sp>
        <p:nvSpPr>
          <p:cNvPr id="2" name="Text 0"/>
          <p:cNvSpPr/>
          <p:nvPr/>
        </p:nvSpPr>
        <p:spPr>
          <a:xfrm>
            <a:off x="548640" y="365760"/>
            <a:ext cx="10972800" cy="274320"/>
          </a:xfrm>
          <a:prstGeom prst="rect">
            <a:avLst/>
          </a:prstGeom>
          <a:noFill/>
          <a:ln/>
        </p:spPr>
        <p:txBody>
          <a:bodyPr wrap="square" rtlCol="0" anchor="ctr"/>
          <a:lstStyle/>
          <a:p>
            <a:pPr indent="0" marL="0">
              <a:buNone/>
            </a:pPr>
            <a:r>
              <a:rPr lang="en-US" sz="1200" b="1" spc="150" kern="0" dirty="0">
                <a:solidFill>
                  <a:srgbClr val="B84A2F"/>
                </a:solidFill>
                <a:latin typeface="Aeonik" pitchFamily="34" charset="0"/>
                <a:ea typeface="Aeonik" pitchFamily="34" charset="-122"/>
                <a:cs typeface="Aeonik" pitchFamily="34" charset="-120"/>
              </a:rPr>
              <a:t>SUMMARY &amp; ROADMAP</a:t>
            </a:r>
            <a:endParaRPr lang="en-US" sz="1200" dirty="0"/>
          </a:p>
        </p:txBody>
      </p:sp>
      <p:sp>
        <p:nvSpPr>
          <p:cNvPr id="3" name="Text 1"/>
          <p:cNvSpPr/>
          <p:nvPr/>
        </p:nvSpPr>
        <p:spPr>
          <a:xfrm>
            <a:off x="548640" y="640080"/>
            <a:ext cx="10972800" cy="548640"/>
          </a:xfrm>
          <a:prstGeom prst="rect">
            <a:avLst/>
          </a:prstGeom>
          <a:noFill/>
          <a:ln/>
        </p:spPr>
        <p:txBody>
          <a:bodyPr wrap="square" rtlCol="0" anchor="ctr"/>
          <a:lstStyle/>
          <a:p>
            <a:pPr indent="0" marL="0">
              <a:buNone/>
            </a:pPr>
            <a:r>
              <a:rPr lang="en-US" sz="3200" b="1" dirty="0">
                <a:solidFill>
                  <a:srgbClr val="1A1714"/>
                </a:solidFill>
                <a:latin typeface="PP Mondwest" pitchFamily="34" charset="0"/>
                <a:ea typeface="PP Mondwest" pitchFamily="34" charset="-122"/>
                <a:cs typeface="PP Mondwest" pitchFamily="34" charset="-120"/>
              </a:rPr>
              <a:t>Conclusion: A Silicon-Dependent Civilization</a:t>
            </a:r>
            <a:endParaRPr lang="en-US" sz="3200" dirty="0"/>
          </a:p>
        </p:txBody>
      </p:sp>
      <p:sp>
        <p:nvSpPr>
          <p:cNvPr id="4" name="Text 2"/>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17</a:t>
            </a:r>
            <a:endParaRPr lang="en-US" sz="1000" dirty="0"/>
          </a:p>
        </p:txBody>
      </p:sp>
      <p:sp>
        <p:nvSpPr>
          <p:cNvPr id="6" name="Shape 3"/>
          <p:cNvSpPr/>
          <p:nvPr/>
        </p:nvSpPr>
        <p:spPr>
          <a:xfrm>
            <a:off x="548640" y="1188720"/>
            <a:ext cx="5486400" cy="822960"/>
          </a:xfrm>
          <a:prstGeom prst="rect">
            <a:avLst/>
          </a:prstGeom>
          <a:solidFill>
            <a:srgbClr val="FFFDF8"/>
          </a:solidFill>
          <a:ln w="19050">
            <a:solidFill>
              <a:srgbClr val="B84A2F"/>
            </a:solidFill>
            <a:prstDash val="solid"/>
          </a:ln>
        </p:spPr>
      </p:sp>
      <p:sp>
        <p:nvSpPr>
          <p:cNvPr id="7" name="Text 4"/>
          <p:cNvSpPr/>
          <p:nvPr/>
        </p:nvSpPr>
        <p:spPr>
          <a:xfrm>
            <a:off x="731520" y="1234440"/>
            <a:ext cx="5120640" cy="731520"/>
          </a:xfrm>
          <a:prstGeom prst="rect">
            <a:avLst/>
          </a:prstGeom>
          <a:noFill/>
          <a:ln/>
        </p:spPr>
        <p:txBody>
          <a:bodyPr wrap="square" rtlCol="0" anchor="ctr"/>
          <a:lstStyle/>
          <a:p>
            <a:pPr indent="0" marL="0">
              <a:buNone/>
            </a:pPr>
            <a:r>
              <a:rPr lang="en-US" sz="1400" b="1" i="1" dirty="0">
                <a:solidFill>
                  <a:srgbClr val="B84A2F"/>
                </a:solidFill>
                <a:latin typeface="Bookman ITC Std" pitchFamily="34" charset="0"/>
                <a:ea typeface="Bookman ITC Std" pitchFamily="34" charset="-122"/>
                <a:cs typeface="Bookman ITC Std" pitchFamily="34" charset="-120"/>
              </a:rPr>
              <a:t>We have reached a point of "Total Silicon Dependency." The path to a $2 trillion industry is certain.</a:t>
            </a:r>
            <a:endParaRPr lang="en-US" sz="1400" dirty="0"/>
          </a:p>
        </p:txBody>
      </p:sp>
      <p:sp>
        <p:nvSpPr>
          <p:cNvPr id="8" name="Text 5"/>
          <p:cNvSpPr/>
          <p:nvPr/>
        </p:nvSpPr>
        <p:spPr>
          <a:xfrm>
            <a:off x="548640" y="2103120"/>
            <a:ext cx="5486400" cy="914400"/>
          </a:xfrm>
          <a:prstGeom prst="rect">
            <a:avLst/>
          </a:prstGeom>
          <a:noFill/>
          <a:ln/>
        </p:spPr>
        <p:txBody>
          <a:bodyPr wrap="square" rtlCol="0" anchor="ctr"/>
          <a:lstStyle/>
          <a:p>
            <a:pPr indent="0" marL="0">
              <a:buNone/>
            </a:pPr>
            <a:r>
              <a:rPr lang="en-US" sz="1400" dirty="0">
                <a:solidFill>
                  <a:srgbClr val="6B6560"/>
                </a:solidFill>
                <a:latin typeface="Aeonik" pitchFamily="34" charset="0"/>
                <a:ea typeface="Aeonik" pitchFamily="34" charset="-122"/>
                <a:cs typeface="Aeonik" pitchFamily="34" charset="-120"/>
              </a:rPr>
              <a:t>Mastery of the semiconductor ecosystem is mastery of the future. The "Chip Wars" aren't just about manufacturing; they are about who can best harness silicon to transform their industries.</a:t>
            </a:r>
            <a:endParaRPr lang="en-US" sz="1400" dirty="0"/>
          </a:p>
        </p:txBody>
      </p:sp>
      <p:sp>
        <p:nvSpPr>
          <p:cNvPr id="9" name="Text 6"/>
          <p:cNvSpPr/>
          <p:nvPr/>
        </p:nvSpPr>
        <p:spPr>
          <a:xfrm>
            <a:off x="548640" y="3108960"/>
            <a:ext cx="5486400" cy="274320"/>
          </a:xfrm>
          <a:prstGeom prst="rect">
            <a:avLst/>
          </a:prstGeom>
          <a:noFill/>
          <a:ln/>
        </p:spPr>
        <p:txBody>
          <a:bodyPr wrap="square" rtlCol="0" anchor="ctr"/>
          <a:lstStyle/>
          <a:p>
            <a:pPr indent="0" marL="0">
              <a:buNone/>
            </a:pPr>
            <a:r>
              <a:rPr lang="en-US" sz="1000" b="1" spc="100" kern="0" dirty="0">
                <a:solidFill>
                  <a:srgbClr val="1A1714"/>
                </a:solidFill>
                <a:latin typeface="Aeonik" pitchFamily="34" charset="0"/>
                <a:ea typeface="Aeonik" pitchFamily="34" charset="-122"/>
                <a:cs typeface="Aeonik" pitchFamily="34" charset="-120"/>
              </a:rPr>
              <a:t>KEY TAKEAWAYS SUMMARY</a:t>
            </a:r>
            <a:endParaRPr lang="en-US" sz="1000" dirty="0"/>
          </a:p>
        </p:txBody>
      </p:sp>
      <p:sp>
        <p:nvSpPr>
          <p:cNvPr id="10" name="Shape 7"/>
          <p:cNvSpPr/>
          <p:nvPr/>
        </p:nvSpPr>
        <p:spPr>
          <a:xfrm>
            <a:off x="548640" y="3474720"/>
            <a:ext cx="5486400" cy="731520"/>
          </a:xfrm>
          <a:prstGeom prst="rect">
            <a:avLst/>
          </a:prstGeom>
          <a:solidFill>
            <a:srgbClr val="FFFDF8"/>
          </a:solidFill>
          <a:ln w="12700">
            <a:solidFill>
              <a:srgbClr val="E0D9D0"/>
            </a:solidFill>
            <a:prstDash val="solid"/>
          </a:ln>
        </p:spPr>
      </p:sp>
      <p:sp>
        <p:nvSpPr>
          <p:cNvPr id="11" name="Text 8"/>
          <p:cNvSpPr/>
          <p:nvPr/>
        </p:nvSpPr>
        <p:spPr>
          <a:xfrm>
            <a:off x="731520" y="3566160"/>
            <a:ext cx="5120640" cy="228600"/>
          </a:xfrm>
          <a:prstGeom prst="rect">
            <a:avLst/>
          </a:prstGeom>
          <a:noFill/>
          <a:ln/>
        </p:spPr>
        <p:txBody>
          <a:bodyPr wrap="square" rtlCol="0" anchor="ctr"/>
          <a:lstStyle/>
          <a:p>
            <a:pPr indent="0" marL="0">
              <a:buNone/>
            </a:pPr>
            <a:r>
              <a:rPr lang="en-US" sz="1300" b="1" dirty="0">
                <a:solidFill>
                  <a:srgbClr val="B84A2F"/>
                </a:solidFill>
                <a:latin typeface="Aeonik" pitchFamily="34" charset="0"/>
                <a:ea typeface="Aeonik" pitchFamily="34" charset="-122"/>
                <a:cs typeface="Aeonik" pitchFamily="34" charset="-120"/>
              </a:rPr>
              <a:t>Procurement</a:t>
            </a:r>
            <a:endParaRPr lang="en-US" sz="1300" dirty="0"/>
          </a:p>
        </p:txBody>
      </p:sp>
      <p:sp>
        <p:nvSpPr>
          <p:cNvPr id="12" name="Text 9"/>
          <p:cNvSpPr/>
          <p:nvPr/>
        </p:nvSpPr>
        <p:spPr>
          <a:xfrm>
            <a:off x="731520" y="379476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Shift from JIT to Strategic Hybrid; resilience is the new ROI.</a:t>
            </a:r>
            <a:endParaRPr lang="en-US" sz="1100" dirty="0"/>
          </a:p>
        </p:txBody>
      </p:sp>
      <p:sp>
        <p:nvSpPr>
          <p:cNvPr id="13" name="Shape 10"/>
          <p:cNvSpPr/>
          <p:nvPr/>
        </p:nvSpPr>
        <p:spPr>
          <a:xfrm>
            <a:off x="548640" y="4343400"/>
            <a:ext cx="5486400" cy="731520"/>
          </a:xfrm>
          <a:prstGeom prst="rect">
            <a:avLst/>
          </a:prstGeom>
          <a:solidFill>
            <a:srgbClr val="FFFDF8"/>
          </a:solidFill>
          <a:ln w="12700">
            <a:solidFill>
              <a:srgbClr val="E0D9D0"/>
            </a:solidFill>
            <a:prstDash val="solid"/>
          </a:ln>
        </p:spPr>
      </p:sp>
      <p:sp>
        <p:nvSpPr>
          <p:cNvPr id="14" name="Text 11"/>
          <p:cNvSpPr/>
          <p:nvPr/>
        </p:nvSpPr>
        <p:spPr>
          <a:xfrm>
            <a:off x="731520" y="4434840"/>
            <a:ext cx="5120640" cy="228600"/>
          </a:xfrm>
          <a:prstGeom prst="rect">
            <a:avLst/>
          </a:prstGeom>
          <a:noFill/>
          <a:ln/>
        </p:spPr>
        <p:txBody>
          <a:bodyPr wrap="square" rtlCol="0" anchor="ctr"/>
          <a:lstStyle/>
          <a:p>
            <a:pPr indent="0" marL="0">
              <a:buNone/>
            </a:pPr>
            <a:r>
              <a:rPr lang="en-US" sz="1300" b="1" dirty="0">
                <a:solidFill>
                  <a:srgbClr val="9E7D84"/>
                </a:solidFill>
                <a:latin typeface="Aeonik" pitchFamily="34" charset="0"/>
                <a:ea typeface="Aeonik" pitchFamily="34" charset="-122"/>
                <a:cs typeface="Aeonik" pitchFamily="34" charset="-120"/>
              </a:rPr>
              <a:t>Supply Chain</a:t>
            </a:r>
            <a:endParaRPr lang="en-US" sz="1300" dirty="0"/>
          </a:p>
        </p:txBody>
      </p:sp>
      <p:sp>
        <p:nvSpPr>
          <p:cNvPr id="15" name="Text 12"/>
          <p:cNvSpPr/>
          <p:nvPr/>
        </p:nvSpPr>
        <p:spPr>
          <a:xfrm>
            <a:off x="731520" y="466344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Chokepoints in Advanced Packaging and SME are the new strategic risks.</a:t>
            </a:r>
            <a:endParaRPr lang="en-US" sz="1100" dirty="0"/>
          </a:p>
        </p:txBody>
      </p:sp>
      <p:sp>
        <p:nvSpPr>
          <p:cNvPr id="16" name="Shape 13"/>
          <p:cNvSpPr/>
          <p:nvPr/>
        </p:nvSpPr>
        <p:spPr>
          <a:xfrm>
            <a:off x="548640" y="5212080"/>
            <a:ext cx="5486400" cy="731520"/>
          </a:xfrm>
          <a:prstGeom prst="rect">
            <a:avLst/>
          </a:prstGeom>
          <a:solidFill>
            <a:srgbClr val="FFFDF8"/>
          </a:solidFill>
          <a:ln w="12700">
            <a:solidFill>
              <a:srgbClr val="E0D9D0"/>
            </a:solidFill>
            <a:prstDash val="solid"/>
          </a:ln>
        </p:spPr>
      </p:sp>
      <p:sp>
        <p:nvSpPr>
          <p:cNvPr id="17" name="Text 14"/>
          <p:cNvSpPr/>
          <p:nvPr/>
        </p:nvSpPr>
        <p:spPr>
          <a:xfrm>
            <a:off x="731520" y="5303520"/>
            <a:ext cx="5120640" cy="228600"/>
          </a:xfrm>
          <a:prstGeom prst="rect">
            <a:avLst/>
          </a:prstGeom>
          <a:noFill/>
          <a:ln/>
        </p:spPr>
        <p:txBody>
          <a:bodyPr wrap="square" rtlCol="0" anchor="ctr"/>
          <a:lstStyle/>
          <a:p>
            <a:pPr indent="0" marL="0">
              <a:buNone/>
            </a:pPr>
            <a:r>
              <a:rPr lang="en-US" sz="1300" b="1" dirty="0">
                <a:solidFill>
                  <a:srgbClr val="768C7C"/>
                </a:solidFill>
                <a:latin typeface="Aeonik" pitchFamily="34" charset="0"/>
                <a:ea typeface="Aeonik" pitchFamily="34" charset="-122"/>
                <a:cs typeface="Aeonik" pitchFamily="34" charset="-120"/>
              </a:rPr>
              <a:t>Downstream End-User Industries</a:t>
            </a:r>
            <a:endParaRPr lang="en-US" sz="1300" dirty="0"/>
          </a:p>
        </p:txBody>
      </p:sp>
      <p:sp>
        <p:nvSpPr>
          <p:cNvPr id="18" name="Text 15"/>
          <p:cNvSpPr/>
          <p:nvPr/>
        </p:nvSpPr>
        <p:spPr>
          <a:xfrm>
            <a:off x="731520" y="5532120"/>
            <a:ext cx="5120640" cy="365760"/>
          </a:xfrm>
          <a:prstGeom prst="rect">
            <a:avLst/>
          </a:prstGeom>
          <a:noFill/>
          <a:ln/>
        </p:spPr>
        <p:txBody>
          <a:bodyPr wrap="square" rtlCol="0" anchor="ctr"/>
          <a:lstStyle/>
          <a:p>
            <a:pPr indent="0" marL="0">
              <a:buNone/>
            </a:pPr>
            <a:r>
              <a:rPr lang="en-US" sz="1100" dirty="0">
                <a:solidFill>
                  <a:srgbClr val="6B6560"/>
                </a:solidFill>
                <a:latin typeface="Aeonik" pitchFamily="34" charset="0"/>
                <a:ea typeface="Aeonik" pitchFamily="34" charset="-122"/>
                <a:cs typeface="Aeonik" pitchFamily="34" charset="-120"/>
              </a:rPr>
              <a:t>AI is the Value King; Automotive is the Volume King.</a:t>
            </a:r>
            <a:endParaRPr lang="en-US" sz="1100" dirty="0"/>
          </a:p>
        </p:txBody>
      </p:sp>
      <p:sp>
        <p:nvSpPr>
          <p:cNvPr id="19" name="Shape 16"/>
          <p:cNvSpPr/>
          <p:nvPr/>
        </p:nvSpPr>
        <p:spPr>
          <a:xfrm>
            <a:off x="6309360" y="1188720"/>
            <a:ext cx="5394960" cy="4937760"/>
          </a:xfrm>
          <a:prstGeom prst="rect">
            <a:avLst/>
          </a:prstGeom>
          <a:solidFill>
            <a:srgbClr val="FFFDF8"/>
          </a:solidFill>
          <a:ln w="12700">
            <a:solidFill>
              <a:srgbClr val="E0D9D0"/>
            </a:solidFill>
            <a:prstDash val="solid"/>
          </a:ln>
        </p:spPr>
      </p:sp>
      <p:pic>
        <p:nvPicPr>
          <p:cNvPr id="20" name="Image 0" descr="critical_materials.png">    </p:cNvPr>
          <p:cNvPicPr>
            <a:picLocks noChangeAspect="1"/>
          </p:cNvPicPr>
          <p:nvPr/>
        </p:nvPicPr>
        <p:blipFill>
          <a:blip r:embed="rId1"/>
          <a:stretch>
            <a:fillRect/>
          </a:stretch>
        </p:blipFill>
        <p:spPr>
          <a:xfrm>
            <a:off x="6400800" y="1280160"/>
            <a:ext cx="5212080" cy="475488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0E8"/>
        </a:solidFill>
      </p:bgPr>
    </p:bg>
    <p:spTree>
      <p:nvGrpSpPr>
        <p:cNvPr id="1" name=""/>
        <p:cNvGrpSpPr/>
        <p:nvPr/>
      </p:nvGrpSpPr>
      <p:grpSpPr>
        <a:xfrm>
          <a:off x="0" y="0"/>
          <a:ext cx="0" cy="0"/>
          <a:chOff x="0" y="0"/>
          <a:chExt cx="0" cy="0"/>
        </a:xfrm>
      </p:grpSpPr>
      <p:sp>
        <p:nvSpPr>
          <p:cNvPr id="3" name="Text 0"/>
          <p:cNvSpPr/>
          <p:nvPr/>
        </p:nvSpPr>
        <p:spPr>
          <a:xfrm>
            <a:off x="731520" y="1645920"/>
            <a:ext cx="4572000" cy="365760"/>
          </a:xfrm>
          <a:prstGeom prst="rect">
            <a:avLst/>
          </a:prstGeom>
          <a:noFill/>
          <a:ln/>
        </p:spPr>
        <p:txBody>
          <a:bodyPr wrap="square" rtlCol="0" anchor="ctr"/>
          <a:lstStyle/>
          <a:p>
            <a:pPr indent="0" marL="0">
              <a:buNone/>
            </a:pPr>
            <a:r>
              <a:rPr lang="en-US" sz="1400" b="1" spc="150" kern="0" dirty="0">
                <a:solidFill>
                  <a:srgbClr val="B84A2F"/>
                </a:solidFill>
                <a:latin typeface="Aeonik" pitchFamily="34" charset="0"/>
                <a:ea typeface="Aeonik" pitchFamily="34" charset="-122"/>
                <a:cs typeface="Aeonik" pitchFamily="34" charset="-120"/>
              </a:rPr>
              <a:t>THE END</a:t>
            </a:r>
            <a:endParaRPr lang="en-US" sz="1400" dirty="0"/>
          </a:p>
        </p:txBody>
      </p:sp>
      <p:sp>
        <p:nvSpPr>
          <p:cNvPr id="4" name="Text 1"/>
          <p:cNvSpPr/>
          <p:nvPr/>
        </p:nvSpPr>
        <p:spPr>
          <a:xfrm>
            <a:off x="731520" y="2103120"/>
            <a:ext cx="4572000" cy="1097280"/>
          </a:xfrm>
          <a:prstGeom prst="rect">
            <a:avLst/>
          </a:prstGeom>
          <a:noFill/>
          <a:ln/>
        </p:spPr>
        <p:txBody>
          <a:bodyPr wrap="square" rtlCol="0" anchor="ctr"/>
          <a:lstStyle/>
          <a:p>
            <a:pPr indent="0" marL="0">
              <a:buNone/>
            </a:pPr>
            <a:r>
              <a:rPr lang="en-US" sz="5600" b="1" dirty="0">
                <a:solidFill>
                  <a:srgbClr val="1A1714"/>
                </a:solidFill>
                <a:latin typeface="PP Mondwest" pitchFamily="34" charset="0"/>
                <a:ea typeface="PP Mondwest" pitchFamily="34" charset="-122"/>
                <a:cs typeface="PP Mondwest" pitchFamily="34" charset="-120"/>
              </a:rPr>
              <a:t>Thank You</a:t>
            </a:r>
            <a:endParaRPr lang="en-US" sz="5600" dirty="0"/>
          </a:p>
        </p:txBody>
      </p:sp>
      <p:sp>
        <p:nvSpPr>
          <p:cNvPr id="5" name="Text 2"/>
          <p:cNvSpPr/>
          <p:nvPr/>
        </p:nvSpPr>
        <p:spPr>
          <a:xfrm>
            <a:off x="731520" y="3291840"/>
            <a:ext cx="4572000" cy="731520"/>
          </a:xfrm>
          <a:prstGeom prst="rect">
            <a:avLst/>
          </a:prstGeom>
          <a:noFill/>
          <a:ln/>
        </p:spPr>
        <p:txBody>
          <a:bodyPr wrap="square" rtlCol="0" anchor="ctr"/>
          <a:lstStyle/>
          <a:p>
            <a:pPr indent="0" marL="0">
              <a:buNone/>
            </a:pPr>
            <a:r>
              <a:rPr lang="en-US" sz="2000" dirty="0">
                <a:solidFill>
                  <a:srgbClr val="6B6560"/>
                </a:solidFill>
                <a:latin typeface="Aeonik" pitchFamily="34" charset="0"/>
                <a:ea typeface="Aeonik" pitchFamily="34" charset="-122"/>
                <a:cs typeface="Aeonik" pitchFamily="34" charset="-120"/>
              </a:rPr>
              <a:t>Mastery of the semiconductor ecosystem is mastery of the future.</a:t>
            </a:r>
            <a:endParaRPr lang="en-US" sz="2000" dirty="0"/>
          </a:p>
        </p:txBody>
      </p:sp>
      <p:sp>
        <p:nvSpPr>
          <p:cNvPr id="6" name="Shape 3"/>
          <p:cNvSpPr/>
          <p:nvPr/>
        </p:nvSpPr>
        <p:spPr>
          <a:xfrm>
            <a:off x="731520" y="4114800"/>
            <a:ext cx="3657600" cy="36576"/>
          </a:xfrm>
          <a:prstGeom prst="rect">
            <a:avLst/>
          </a:prstGeom>
          <a:solidFill>
            <a:srgbClr val="B84A2F"/>
          </a:solidFill>
          <a:ln/>
        </p:spPr>
      </p:sp>
      <p:sp>
        <p:nvSpPr>
          <p:cNvPr id="7" name="Text 4"/>
          <p:cNvSpPr/>
          <p:nvPr/>
        </p:nvSpPr>
        <p:spPr>
          <a:xfrm>
            <a:off x="731520" y="4389120"/>
            <a:ext cx="4572000" cy="1097280"/>
          </a:xfrm>
          <a:prstGeom prst="rect">
            <a:avLst/>
          </a:prstGeom>
          <a:noFill/>
          <a:ln/>
        </p:spPr>
        <p:txBody>
          <a:bodyPr wrap="square" rtlCol="0" anchor="ctr"/>
          <a:lstStyle/>
          <a:p>
            <a:pPr indent="0" marL="0">
              <a:buNone/>
            </a:pPr>
            <a:r>
              <a:rPr lang="en-US" sz="1200" dirty="0">
                <a:solidFill>
                  <a:srgbClr val="6B6560"/>
                </a:solidFill>
                <a:latin typeface="Aeonik" pitchFamily="34" charset="0"/>
                <a:ea typeface="Aeonik" pitchFamily="34" charset="-122"/>
                <a:cs typeface="Aeonik" pitchFamily="34" charset="-120"/>
              </a:rPr>
              <a:t>Presenter: Phyoe Sat Paing (ID: 6821711420061)</a:t>
            </a:r>
            <a:endParaRPr lang="en-US" sz="1200" dirty="0"/>
          </a:p>
          <a:p>
            <a:pPr indent="0" marL="0">
              <a:buNone/>
            </a:pPr>
            <a:r>
              <a:rPr lang="en-US" sz="1200" dirty="0">
                <a:solidFill>
                  <a:srgbClr val="6B6560"/>
                </a:solidFill>
                <a:latin typeface="Aeonik" pitchFamily="34" charset="0"/>
                <a:ea typeface="Aeonik" pitchFamily="34" charset="-122"/>
                <a:cs typeface="Aeonik" pitchFamily="34" charset="-120"/>
              </a:rPr>
              <a:t>Course: 501105, logistics and supply chain management</a:t>
            </a:r>
            <a:endParaRPr lang="en-US" sz="1200" dirty="0"/>
          </a:p>
          <a:p>
            <a:pPr indent="0" marL="0">
              <a:buNone/>
            </a:pPr>
            <a:r>
              <a:rPr lang="en-US" sz="1200" dirty="0">
                <a:solidFill>
                  <a:srgbClr val="6B6560"/>
                </a:solidFill>
                <a:latin typeface="Aeonik" pitchFamily="34" charset="0"/>
                <a:ea typeface="Aeonik" pitchFamily="34" charset="-122"/>
                <a:cs typeface="Aeonik" pitchFamily="34" charset="-120"/>
              </a:rPr>
              <a:t>Date: June 2026</a:t>
            </a:r>
            <a:endParaRPr lang="en-US" sz="1200" dirty="0"/>
          </a:p>
        </p:txBody>
      </p:sp>
      <p:sp>
        <p:nvSpPr>
          <p:cNvPr id="8" name="Shape 5"/>
          <p:cNvSpPr/>
          <p:nvPr/>
        </p:nvSpPr>
        <p:spPr>
          <a:xfrm>
            <a:off x="5852160" y="1188720"/>
            <a:ext cx="5760720" cy="4937760"/>
          </a:xfrm>
          <a:prstGeom prst="rect">
            <a:avLst/>
          </a:prstGeom>
          <a:solidFill>
            <a:srgbClr val="FFFDF8"/>
          </a:solidFill>
          <a:ln w="12700">
            <a:solidFill>
              <a:srgbClr val="E0D9D0"/>
            </a:solidFill>
            <a:prstDash val="solid"/>
          </a:ln>
        </p:spPr>
      </p:sp>
      <p:sp>
        <p:nvSpPr>
          <p:cNvPr id="9" name="Text 6"/>
          <p:cNvSpPr/>
          <p:nvPr/>
        </p:nvSpPr>
        <p:spPr>
          <a:xfrm>
            <a:off x="6035040" y="1371600"/>
            <a:ext cx="5394960" cy="365760"/>
          </a:xfrm>
          <a:prstGeom prst="rect">
            <a:avLst/>
          </a:prstGeom>
          <a:noFill/>
          <a:ln/>
        </p:spPr>
        <p:txBody>
          <a:bodyPr wrap="square" rtlCol="0" anchor="ctr"/>
          <a:lstStyle/>
          <a:p>
            <a:pPr indent="0" marL="0">
              <a:buNone/>
            </a:pPr>
            <a:r>
              <a:rPr lang="en-US" sz="2000" b="1" dirty="0">
                <a:solidFill>
                  <a:srgbClr val="B84A2F"/>
                </a:solidFill>
                <a:latin typeface="PP Mondwest" pitchFamily="34" charset="0"/>
                <a:ea typeface="PP Mondwest" pitchFamily="34" charset="-122"/>
                <a:cs typeface="PP Mondwest" pitchFamily="34" charset="-120"/>
              </a:rPr>
              <a:t>References</a:t>
            </a:r>
            <a:endParaRPr lang="en-US" sz="2000" dirty="0"/>
          </a:p>
        </p:txBody>
      </p:sp>
      <p:sp>
        <p:nvSpPr>
          <p:cNvPr id="10" name="Text 7"/>
          <p:cNvSpPr/>
          <p:nvPr/>
        </p:nvSpPr>
        <p:spPr>
          <a:xfrm>
            <a:off x="6035040" y="1828800"/>
            <a:ext cx="2651760" cy="4023360"/>
          </a:xfrm>
          <a:prstGeom prst="rect">
            <a:avLst/>
          </a:prstGeom>
          <a:noFill/>
          <a:ln/>
        </p:spPr>
        <p:txBody>
          <a:bodyPr wrap="square" rtlCol="0" anchor="ctr"/>
          <a:lstStyle/>
          <a:p>
            <a:pPr indent="0" marL="0">
              <a:buNone/>
            </a:pPr>
            <a:r>
              <a:rPr lang="en-US" sz="850" b="1" dirty="0">
                <a:solidFill>
                  <a:srgbClr val="1A1714"/>
                </a:solidFill>
                <a:latin typeface="Aeonik" pitchFamily="34" charset="0"/>
                <a:ea typeface="Aeonik" pitchFamily="34" charset="-122"/>
                <a:cs typeface="Aeonik" pitchFamily="34" charset="-120"/>
              </a:rPr>
              <a:t>1. Gartner: Revenue Forecast
</a:t>
            </a:r>
            <a:pPr indent="0" marL="0">
              <a:buNone/>
            </a:pPr>
            <a:r>
              <a:rPr lang="en-US" sz="800" dirty="0">
                <a:solidFill>
                  <a:srgbClr val="B84A2F"/>
                </a:solidFill>
                <a:latin typeface="Aeonik" pitchFamily="34" charset="0"/>
                <a:ea typeface="Aeonik" pitchFamily="34" charset="-122"/>
                <a:cs typeface="Aeonik" pitchFamily="34" charset="-120"/>
              </a:rPr>
              <a:t>https://www.gartner.com/en/newsroom/press-releases/...
</a:t>
            </a:r>
            <a:pPr indent="0" marL="0">
              <a:buNone/>
            </a:pPr>
            <a:r>
              <a:rPr lang="en-US" sz="850" b="1" dirty="0">
                <a:solidFill>
                  <a:srgbClr val="1A1714"/>
                </a:solidFill>
                <a:latin typeface="Aeonik" pitchFamily="34" charset="0"/>
                <a:ea typeface="Aeonik" pitchFamily="34" charset="-122"/>
                <a:cs typeface="Aeonik" pitchFamily="34" charset="-120"/>
              </a:rPr>
              <a:t>2. Phihong: JIT vs JIC Sourcing
</a:t>
            </a:r>
            <a:pPr indent="0" marL="0">
              <a:buNone/>
            </a:pPr>
            <a:r>
              <a:rPr lang="en-US" sz="800" dirty="0">
                <a:solidFill>
                  <a:srgbClr val="B84A2F"/>
                </a:solidFill>
                <a:latin typeface="Aeonik" pitchFamily="34" charset="0"/>
                <a:ea typeface="Aeonik" pitchFamily="34" charset="-122"/>
                <a:cs typeface="Aeonik" pitchFamily="34" charset="-120"/>
              </a:rPr>
              <a:t>https://www.phihong.com/just-in-time-vs-just-in-case...
</a:t>
            </a:r>
            <a:pPr indent="0" marL="0">
              <a:buNone/>
            </a:pPr>
            <a:r>
              <a:rPr lang="en-US" sz="850" b="1" dirty="0">
                <a:solidFill>
                  <a:srgbClr val="1A1714"/>
                </a:solidFill>
                <a:latin typeface="Aeonik" pitchFamily="34" charset="0"/>
                <a:ea typeface="Aeonik" pitchFamily="34" charset="-122"/>
                <a:cs typeface="Aeonik" pitchFamily="34" charset="-120"/>
              </a:rPr>
              <a:t>3. Maria O.: Supply Chain Continuity
</a:t>
            </a:r>
            <a:pPr indent="0" marL="0">
              <a:buNone/>
            </a:pPr>
            <a:r>
              <a:rPr lang="en-US" sz="800" dirty="0">
                <a:solidFill>
                  <a:srgbClr val="B84A2F"/>
                </a:solidFill>
                <a:latin typeface="Aeonik" pitchFamily="34" charset="0"/>
                <a:ea typeface="Aeonik" pitchFamily="34" charset="-122"/>
                <a:cs typeface="Aeonik" pitchFamily="34" charset="-120"/>
              </a:rPr>
              <a:t>https://www.linkedin.com/posts/pmochoamc...
</a:t>
            </a:r>
            <a:pPr indent="0" marL="0">
              <a:buNone/>
            </a:pPr>
            <a:r>
              <a:rPr lang="en-US" sz="850" b="1" dirty="0">
                <a:solidFill>
                  <a:srgbClr val="1A1714"/>
                </a:solidFill>
                <a:latin typeface="Aeonik" pitchFamily="34" charset="0"/>
                <a:ea typeface="Aeonik" pitchFamily="34" charset="-122"/>
                <a:cs typeface="Aeonik" pitchFamily="34" charset="-120"/>
              </a:rPr>
              <a:t>4. Porsche: Semiconductor Superiority
</a:t>
            </a:r>
            <a:pPr indent="0" marL="0">
              <a:buNone/>
            </a:pPr>
            <a:r>
              <a:rPr lang="en-US" sz="800" dirty="0">
                <a:solidFill>
                  <a:srgbClr val="B84A2F"/>
                </a:solidFill>
                <a:latin typeface="Aeonik" pitchFamily="34" charset="0"/>
                <a:ea typeface="Aeonik" pitchFamily="34" charset="-122"/>
                <a:cs typeface="Aeonik" pitchFamily="34" charset="-120"/>
              </a:rPr>
              <a:t>https://www.porsche-consulting.com/sites/...
</a:t>
            </a:r>
            <a:pPr indent="0" marL="0">
              <a:buNone/>
            </a:pPr>
            <a:r>
              <a:rPr lang="en-US" sz="850" b="1" dirty="0">
                <a:solidFill>
                  <a:srgbClr val="1A1714"/>
                </a:solidFill>
                <a:latin typeface="Aeonik" pitchFamily="34" charset="0"/>
                <a:ea typeface="Aeonik" pitchFamily="34" charset="-122"/>
                <a:cs typeface="Aeonik" pitchFamily="34" charset="-120"/>
              </a:rPr>
              <a:t>5. CSET: Semiconductor Supply Chain
</a:t>
            </a:r>
            <a:pPr indent="0" marL="0">
              <a:buNone/>
            </a:pPr>
            <a:r>
              <a:rPr lang="en-US" sz="800" dirty="0">
                <a:solidFill>
                  <a:srgbClr val="B84A2F"/>
                </a:solidFill>
                <a:latin typeface="Aeonik" pitchFamily="34" charset="0"/>
                <a:ea typeface="Aeonik" pitchFamily="34" charset="-122"/>
                <a:cs typeface="Aeonik" pitchFamily="34" charset="-120"/>
              </a:rPr>
              <a:t>https://cset.georgetown.edu/publication/...
</a:t>
            </a:r>
            <a:pPr indent="0" marL="0">
              <a:buNone/>
            </a:pPr>
            <a:r>
              <a:rPr lang="en-US" sz="850" b="1" dirty="0">
                <a:solidFill>
                  <a:srgbClr val="1A1714"/>
                </a:solidFill>
                <a:latin typeface="Aeonik" pitchFamily="34" charset="0"/>
                <a:ea typeface="Aeonik" pitchFamily="34" charset="-122"/>
                <a:cs typeface="Aeonik" pitchFamily="34" charset="-120"/>
              </a:rPr>
              <a:t>6. CSIS: Mineral Demands for Resilient
</a:t>
            </a:r>
            <a:pPr indent="0" marL="0">
              <a:buNone/>
            </a:pPr>
            <a:r>
              <a:rPr lang="en-US" sz="800" dirty="0">
                <a:solidFill>
                  <a:srgbClr val="B84A2F"/>
                </a:solidFill>
                <a:latin typeface="Aeonik" pitchFamily="34" charset="0"/>
                <a:ea typeface="Aeonik" pitchFamily="34" charset="-122"/>
                <a:cs typeface="Aeonik" pitchFamily="34" charset="-120"/>
              </a:rPr>
              <a:t>https://www.csis.org/analysis/mineral-demands...
</a:t>
            </a:r>
            <a:endParaRPr lang="en-US" sz="850" dirty="0"/>
          </a:p>
        </p:txBody>
      </p:sp>
      <p:sp>
        <p:nvSpPr>
          <p:cNvPr id="11" name="Text 8"/>
          <p:cNvSpPr/>
          <p:nvPr/>
        </p:nvSpPr>
        <p:spPr>
          <a:xfrm>
            <a:off x="8778240" y="1828800"/>
            <a:ext cx="2651760" cy="4023360"/>
          </a:xfrm>
          <a:prstGeom prst="rect">
            <a:avLst/>
          </a:prstGeom>
          <a:noFill/>
          <a:ln/>
        </p:spPr>
        <p:txBody>
          <a:bodyPr wrap="square" rtlCol="0" anchor="ctr"/>
          <a:lstStyle/>
          <a:p>
            <a:pPr indent="0" marL="0">
              <a:buNone/>
            </a:pPr>
            <a:r>
              <a:rPr lang="en-US" sz="850" b="1" dirty="0">
                <a:solidFill>
                  <a:srgbClr val="1A1714"/>
                </a:solidFill>
                <a:latin typeface="Aeonik" pitchFamily="34" charset="0"/>
                <a:ea typeface="Aeonik" pitchFamily="34" charset="-122"/>
                <a:cs typeface="Aeonik" pitchFamily="34" charset="-120"/>
              </a:rPr>
              <a:t>7. SIA: Emerging Resilience
</a:t>
            </a:r>
            <a:pPr indent="0" marL="0">
              <a:buNone/>
            </a:pPr>
            <a:r>
              <a:rPr lang="en-US" sz="800" dirty="0">
                <a:solidFill>
                  <a:srgbClr val="B84A2F"/>
                </a:solidFill>
                <a:latin typeface="Aeonik" pitchFamily="34" charset="0"/>
                <a:ea typeface="Aeonik" pitchFamily="34" charset="-122"/>
                <a:cs typeface="Aeonik" pitchFamily="34" charset="-120"/>
              </a:rPr>
              <a:t>https://www.semiconductors.org/emerging-resilience...
</a:t>
            </a:r>
            <a:pPr indent="0" marL="0">
              <a:buNone/>
            </a:pPr>
            <a:r>
              <a:rPr lang="en-US" sz="850" b="1" dirty="0">
                <a:solidFill>
                  <a:srgbClr val="1A1714"/>
                </a:solidFill>
                <a:latin typeface="Aeonik" pitchFamily="34" charset="0"/>
                <a:ea typeface="Aeonik" pitchFamily="34" charset="-122"/>
                <a:cs typeface="Aeonik" pitchFamily="34" charset="-120"/>
              </a:rPr>
              <a:t>8. A. Masood: Semiconductors in 2026
</a:t>
            </a:r>
            <a:pPr indent="0" marL="0">
              <a:buNone/>
            </a:pPr>
            <a:r>
              <a:rPr lang="en-US" sz="800" dirty="0">
                <a:solidFill>
                  <a:srgbClr val="B84A2F"/>
                </a:solidFill>
                <a:latin typeface="Aeonik" pitchFamily="34" charset="0"/>
                <a:ea typeface="Aeonik" pitchFamily="34" charset="-122"/>
                <a:cs typeface="Aeonik" pitchFamily="34" charset="-120"/>
              </a:rPr>
              <a:t>https://medium.com/@adnanmasood/semiconductors...
</a:t>
            </a:r>
            <a:pPr indent="0" marL="0">
              <a:buNone/>
            </a:pPr>
            <a:r>
              <a:rPr lang="en-US" sz="850" b="1" dirty="0">
                <a:solidFill>
                  <a:srgbClr val="1A1714"/>
                </a:solidFill>
                <a:latin typeface="Aeonik" pitchFamily="34" charset="0"/>
                <a:ea typeface="Aeonik" pitchFamily="34" charset="-122"/>
                <a:cs typeface="Aeonik" pitchFamily="34" charset="-120"/>
              </a:rPr>
              <a:t>9. OECD: Mapping the Value Chain
</a:t>
            </a:r>
            <a:pPr indent="0" marL="0">
              <a:buNone/>
            </a:pPr>
            <a:r>
              <a:rPr lang="en-US" sz="800" dirty="0">
                <a:solidFill>
                  <a:srgbClr val="B84A2F"/>
                </a:solidFill>
                <a:latin typeface="Aeonik" pitchFamily="34" charset="0"/>
                <a:ea typeface="Aeonik" pitchFamily="34" charset="-122"/>
                <a:cs typeface="Aeonik" pitchFamily="34" charset="-120"/>
              </a:rPr>
              <a:t>https://www.oecd.org/content/dam/oecd/en/...
</a:t>
            </a:r>
            <a:pPr indent="0" marL="0">
              <a:buNone/>
            </a:pPr>
            <a:r>
              <a:rPr lang="en-US" sz="850" b="1" dirty="0">
                <a:solidFill>
                  <a:srgbClr val="1A1714"/>
                </a:solidFill>
                <a:latin typeface="Aeonik" pitchFamily="34" charset="0"/>
                <a:ea typeface="Aeonik" pitchFamily="34" charset="-122"/>
                <a:cs typeface="Aeonik" pitchFamily="34" charset="-120"/>
              </a:rPr>
              <a:t>10. Deloitte: 2026 Industry Outlook
</a:t>
            </a:r>
            <a:pPr indent="0" marL="0">
              <a:buNone/>
            </a:pPr>
            <a:r>
              <a:rPr lang="en-US" sz="800" dirty="0">
                <a:solidFill>
                  <a:srgbClr val="B84A2F"/>
                </a:solidFill>
                <a:latin typeface="Aeonik" pitchFamily="34" charset="0"/>
                <a:ea typeface="Aeonik" pitchFamily="34" charset="-122"/>
                <a:cs typeface="Aeonik" pitchFamily="34" charset="-120"/>
              </a:rPr>
              <a:t>https://www.deloitte.com/us/en/insights/...
</a:t>
            </a:r>
            <a:pPr indent="0" marL="0">
              <a:buNone/>
            </a:pPr>
            <a:r>
              <a:rPr lang="en-US" sz="850" b="1" dirty="0">
                <a:solidFill>
                  <a:srgbClr val="1A1714"/>
                </a:solidFill>
                <a:latin typeface="Aeonik" pitchFamily="34" charset="0"/>
                <a:ea typeface="Aeonik" pitchFamily="34" charset="-122"/>
                <a:cs typeface="Aeonik" pitchFamily="34" charset="-120"/>
              </a:rPr>
              <a:t>11. GM Insights: Aerospace Market Size
</a:t>
            </a:r>
            <a:pPr indent="0" marL="0">
              <a:buNone/>
            </a:pPr>
            <a:r>
              <a:rPr lang="en-US" sz="800" dirty="0">
                <a:solidFill>
                  <a:srgbClr val="B84A2F"/>
                </a:solidFill>
                <a:latin typeface="Aeonik" pitchFamily="34" charset="0"/>
                <a:ea typeface="Aeonik" pitchFamily="34" charset="-122"/>
                <a:cs typeface="Aeonik" pitchFamily="34" charset="-120"/>
              </a:rPr>
              <a:t>https://www.gminsights.com/industry-analysis/...
</a:t>
            </a:r>
            <a:pPr indent="0" marL="0">
              <a:buNone/>
            </a:pPr>
            <a:r>
              <a:rPr lang="en-US" sz="850" b="1" dirty="0">
                <a:solidFill>
                  <a:srgbClr val="1A1714"/>
                </a:solidFill>
                <a:latin typeface="Aeonik" pitchFamily="34" charset="0"/>
                <a:ea typeface="Aeonik" pitchFamily="34" charset="-122"/>
                <a:cs typeface="Aeonik" pitchFamily="34" charset="-120"/>
              </a:rPr>
              <a:t>12. Edge Silica: AI &amp; EVs Trends
</a:t>
            </a:r>
            <a:pPr indent="0" marL="0">
              <a:buNone/>
            </a:pPr>
            <a:r>
              <a:rPr lang="en-US" sz="800" dirty="0">
                <a:solidFill>
                  <a:srgbClr val="B84A2F"/>
                </a:solidFill>
                <a:latin typeface="Aeonik" pitchFamily="34" charset="0"/>
                <a:ea typeface="Aeonik" pitchFamily="34" charset="-122"/>
                <a:cs typeface="Aeonik" pitchFamily="34" charset="-120"/>
              </a:rPr>
              <a:t>https://www.linkedin.com/posts/edgesilica...
</a:t>
            </a:r>
            <a:endParaRPr lang="en-US" sz="850" dirty="0"/>
          </a:p>
        </p:txBody>
      </p:sp>
      <p:sp>
        <p:nvSpPr>
          <p:cNvPr id="12" name="Text 9"/>
          <p:cNvSpPr/>
          <p:nvPr/>
        </p:nvSpPr>
        <p:spPr>
          <a:xfrm>
            <a:off x="548640" y="6400800"/>
            <a:ext cx="10972800" cy="274320"/>
          </a:xfrm>
          <a:prstGeom prst="rect">
            <a:avLst/>
          </a:prstGeom>
          <a:noFill/>
          <a:ln/>
        </p:spPr>
        <p:txBody>
          <a:bodyPr wrap="square" rtlCol="0" anchor="ctr"/>
          <a:lstStyle/>
          <a:p>
            <a:pPr indent="0" marL="0">
              <a:buNone/>
            </a:pPr>
            <a:r>
              <a:rPr lang="en-US" sz="1000" dirty="0">
                <a:solidFill>
                  <a:srgbClr val="6B6560"/>
                </a:solidFill>
                <a:latin typeface="Aeonik" pitchFamily="34" charset="0"/>
                <a:ea typeface="Aeonik" pitchFamily="34" charset="-122"/>
                <a:cs typeface="Aeonik" pitchFamily="34" charset="-120"/>
              </a:rPr>
              <a:t>The 2026 Semiconductor Ecosystem | Slide 18</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2026-06-10T10:41:19Z</dcterms:created>
  <dcterms:modified xsi:type="dcterms:W3CDTF">2026-06-10T10:41:19Z</dcterms:modified>
</cp:coreProperties>
</file>