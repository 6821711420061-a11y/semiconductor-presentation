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Professor. My name is Phyoe Sat Paing, and today I am presenting my consolidated master briefing on the 2026 Semiconductor Ecosystem. This presentation represents an intensive, multi-layered investigation into the critical macroarchitectures of the global chip industry. I have structured this briefing directly around your three core assignment pillars: Sourcing and Procurement, Global Supply Chain Mechanics, and Downstream End-User Industries. Over the next twenty minutes, I will demonstrate how semiconductors have transitioned from basic electronic components into the ultimate instruments of global geopolitical leverage, economic insulation, and corporate competitive advantage. Let us begin with Part One, focusing on the radical evolution of microelectronic procurement.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analyzing semiconductor procurement in 2026, we encounter an operational paradox. On one hand, the market cap is projecting toward a staggering 1.3 trillion dollar valuation, fueled by an insatiable global demand for artificial intelligence accelerators and electric vehicle power logic. Yet, beneath this massive valuation lies extreme systemic fragility. Leading-edge fabs are running at near maximum capacity utilization rates. This means even a minor logistics bottleneck, a localized power grid failure, or a trace material delivery delay can trigger massive downstream factory shutdowns. For advanced logic, availability rests entirely on sub-3nm allocations. Consequently, modern procurement functions have had to pivot away from transactional, short-term purchasing toward long-term capacity reservation models. Securing advanced logic is no longer a matter of price haggling; it is a matter of corporate survival.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understand where we are today, we must look at how procurement philosophies have fundamentally shifted. For decades, the global manufacturing sector relied on pure Just-in-Time, or JIT, procurement. JIT was optimized purely for cost efficiency, keeping warehouse inventories near zero to eliminate capital lock-up. However, the semiconductor shortages of recent years exposed a fatal flaw: JIT optimizes for stable efficiency, not operational continuity. Today, pure JIT is obsolete for mission-critical components. The new standard is a Strategic Hybrid Model. As visualized on this slide, we split procurement into two distinct paths. For commoditized, legacy passive components where suppliers are abundant, we still utilize lean JIT dynamics to minimize costs. But for critical, sole-sourced nodes like High Bandwidth Memory or custom GPUs, organizations now maintain 3 to 6 months of strategic buffer stocks as an insurance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primary enemies of a modern procurement executive are data opacity across the multi-tier supplier network and a reactive, 'firefighting' approach to risk mitigation. To solve this, advanced category management requires a sharp segregation of sourcing strategies based on technology nodes. On the left hand of our framework, we have Leading-Edge Nodes, which refers to sub-7nanometer fabrications. Sourcing here requires deep R&amp;D alliances, engineering collaboration, and heavy upfront capital capacity reservations. You are dealing with virtual monopolies like TSMC. On the right side, we have Legacy Nodes—typically 28-nanometer and above. The challenge here isn't technological complexity; it's lifecycle tracking and obsolescence. For legacy chips, procurement must emphasize continuous multi-sourcing and broad distributor network qualification to ensure a single discontinued component doesn't break an entire production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structural resilience into procurement requires a heavy investment in digitalization. Leading enterprises have deployed AI-driven 'Business Intelligence Cockpits'. These systems don't just track your direct tier-1 suppliers; they use predictive algorithms to map deep into your tier-2 and tier-3 chemical and substrate providers. If a specialized quartz mine or a neon purification plant faces an export block or an environmental closure, the AI flags it 6 to 12 months before it manifests as a shortage at the fab level. This predictive window gives companies the time needed to negotiate complex Long-Term Agreements, pay upfront reservation fees, and commit to 'take-or-pay' clauses to secure their wafer allocations. Furthermore, we are seeing a massive trend toward 'Friend-Shoring,' where sourcing paths are deliberately re-routed away from geopolitically unstable regions and into allied economic nodes to insulate operations from trade wars.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semiconductor supply chain is widely recognized as the most complex and geographically dispersed value chain in human history. As illustrated on the geographical flow map on this slide, a single integrated circuit can cross international borders over 70 times before it is finally soldered into an end-user device. This creates an extreme, hyper-specialized international division of labor. The United States serves as the anchor for design intellectual property and Electronic Design Automation software. Europe acts as the provider of advanced lithography equipment. Japan dominates the supply of ultra-pure chemical materials, while Taiwan handles the actual front-end fabrication. Finally, Southeast Asian nations like Malaysia manage the back-end assembly, testing, and packaging. This extreme dependency means that disrupting even a single region impacts the entire global electronics supply pipeline instantly.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zoom into the extreme market concentrations within this Global Value Chain architecture. Value creation is highly localized into specific structural monopolies. In the United States, companies hold an 80% plus market share in advanced Electronic Design Automation software. Without software tools from firms like NVIDIA, Qualcomm, or Apple, designing a modern microchip is physically impossible. Moving to Europe, we see a near monopoly held by ASML in the Netherlands regarding Extreme Ultraviolet tools required to etch sub-7nm circuit nodes. Every single leading-edge chip on Earth requires an ASML machine. This means front-end wafer fabrication, dominated by TSMC in Taiwan and Samsung in South Korea, is entirely dependent on Western equipment and design blueprints to feed their production bases.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many years, the primary focus of semiconductor innovation was front-end node scaling—the relentless race to shrink transistors down to the 2-nanometer and 1.4-nanometer thresholds. While front-end fabrication lines still require monumental capital investments, a structural shift has occurred in 2026. The primary growth bottleneck for the artificial intelligence industry has moved from the front-end to the back-end. Advanced Back-End Packaging, specifically Chip-on-Wafer-on-Substrate or CoWoS, along with 3D stacking, is the new industry chokepoint. To create a modern AI accelerator, you must seamlessly integrate multiple logic dies with surrounding High Bandwidth Memory stacks onto a specialized silicon interposer. Currently, global back-end capacity is severely constrained. Reaching target production yields depends heavily on advanced back-end capacity, not just front-end printing nodes.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hyper-concentration has turned the semiconductor supply chain into a prime geopolitical battleground, causing severe fragmentation. We have moved away from a unified global market into a highly regionalized, multi-polar silicon world. Governments are treating chips as assets of national sovereignty. For instance, the United States has deployed the 52 billion dollar CHIPS Act, providing massive financial subsidies to build domestic advanced logic fabs to balance the heavy East Asian concentration. Europe and China are engaged in similar multi-billion dollar state-supported reshoring initiatives. In retaliation, we see material chokepoints being leveraged as economic weapons. Strict export controls have been placed on critical trace materials like Gallium and Germanium. These elements are vital for power electronics and radar systems, and their restriction forces a global scramble for alternative supply loops.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survive this fragmented environment, supply chain architectures are evolving from static, linear models into circular, autonomous networks. First, advanced manufacturers are utilizing deep digital mapping tools to achieve multi-tier visibility. They are tracing their supply structures past their direct partners, all the way down to Tier-4 and Tier-5 chemical facilities that supply raw acids and substrates. Second, the industry is investing heavily in Circular Mineral Reclamation. Rather than relying solely on volatile geopolitical mining nodes, firms are actively recycling electronic waste to reclaim high-purity copper, gold, and recycled silicon substrates. This circular economy integration acts as a critical strategic buffer, shielding foundry operations from raw material shocks while aligning with modern environmental sustainability mandates.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2026, we occupy a civilization of total silicon dependency. Microchips have transcended traditional computing electronics; they have become the fundamental nerve system of the broader global economy. No modern industry can function without a secure pipeline of semiconductors. Today, semiconductors control the storage, lightning-fast routing, and real-time processing of every single piece of global data. Because of this, industrial analysts now track a metric called the Silicon Intensity Index. This measures the total percentage value of silicon content embedded inside a physical product. Whether an enterprise manufactures smart municipal utility grids, high-precision medical machinery, or neural processors, their ability to scale and compete is directly bounded by the processing efficiency of their integrated silicon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downstream demand landscape in 2026 is characterized by a stark structural divergence. We are operating in a multi-speed market where traditional core sectors are maturing while new infrastructure segments explode. As broken down on this summary chart, artificial intelligence data centers have become the supreme economic engine of the industry, now capturing nearly 50% of total semiconductor growth and revenue value. Conversely, the automotive sector has emerged as the fastest-growing volume segment. Electric vehicles and advanced driver-assistance systems require massive volumes of both legacy control nodes and silicon carbide power chips. Meanwhile, traditional volume drivers like smartphones and personal computers are facing volume saturation. This saturation is forcing consumer tech hardware developers to consolidate and pivot toward integrating specialized edge accelerators to induce new consumer replacement cycles.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closer at the hyper-scale data center market, which has fundamentally evolved from passive data storage hubs into active machine-intelligence engines. The global market for dedicated AI accelerators—encompassing specialized GPUs, TPUs, and neural computing nodes—is scaling toward an annual value of 500 billion dollars. This single sector is the primary consumer of the world's most advanced sub-3nm wafer print architectures globally. The sheer computational density required to train large language models has triggered an unprecedented demand squeeze across adjacent silicon technologies. AI servers don't just require fast processors; they demand ultra-dense configurations of High Bandwidth Memory, which has faced severe market inflation, alongside customized high-speed routing interconnect silicon to manage data transit between massive server clusters.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Turning to the automotive sector, vehicles have effectively transformed into high-performance computers on wheels. The compounding transitions toward vehicle electrification and advanced driver-assistance systems, or ADAS, have doubled the total semiconductor bill-of-materials, now exceeding 1,000 dollars in silicon content per vehicle unit. This growth is driven by two main pillars. First, power electronics: electric vehicles rely heavily on Silicon Carbide, or SiC, power switches in high-voltage battery platforms to drive charging efficiency. Second, safety and autonomy. Level 2 and Level 3 autonomous vehicles require massive on-board computational units to handle real-time sensor fusion. A single vehicle now requires a comprehensive sourcing strategy for a massive array of chips, including radar components, ultrasonic modules, LiDAR systems, and high-resolution CMOS camera chipsets.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heavy computing, we see the rise of 'Intelligence at the Edge' across industrial operations and healthcare systems. In the industrial IoT and Industry 4.0 landscape, factory floor nodes are no longer sending raw data back to centralized clouds. Instead, they use low-power edge chips to execute real-time local algorithms for automated machine vision controls and predictive maintenance. In the healthcare sector, specialized semiconductor sourcing has become a cornerstone of personalized medicine. Microchips are enabling highly reliable, long-lifecycle deployments including smart wearable diagnostics, continuous blood-glucose monitors, active health implants, and high-resolution personalized diagnostic imaging equipment. For both industrial and medical applications, silicon reliability and extended availability are prioritized over absolute nanoscale shrinking.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traditional client consumer electronics like laptops and standard mobile handsets reach structural maturity, hardware developers are aggressively pushing architectural boundaries to kickstart new upgrade cycles. In 2026, dedicated On-Device NPU, or Neural Processing Unit, logic has become standard hardware in client electronics. This allows local generative AI execution directly on your handset without relying on cloud servers. Looking further down the horizon toward the 2030 roadmap, the industry is investing heavily in next-generation computing frontiers. This includes intensive R&amp;D into cryogenic quantum structures, sub-terahertz 6G communications hardware blocks, and neuromorphic computing architectures that mimic the organic efficiency of the human brain to bypass traditional physical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our deep-dive analysis of the 2026 semiconductor ecosystem proves that modern society has reached an inflection point of total silicon dependency. The path toward a multi-trillion-dollar global semiconductor industry is practically a certainty as microchips integrate permanently into every facet of global commerce. To summarize our key takeaways across our three assignments: In procurement, corporations must accept that pure JIT is dead; a strategic hybrid framework that treats resilience as the ultimate operational mandate is the new standard. In the global supply chain, we must recognize that back-end advanced packaging and material chokepoints are the new strategic risks. And finally, across downstream industries, while artificial intelligence remains the undisputed king of high-margin value, the automotive sector has solidified its position as the king of volume scaling. Ultimately, mastery of the semiconductor ecosystem is mastery of global industrial strategy. Thank you for your time, and I am now open to your questions and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everyone for your time. I would now like to open the floor to any questions and feedback you may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0E8"/>
        </a:solidFill>
      </p:bgPr>
    </p:bg>
    <p:spTree>
      <p:nvGrpSpPr>
        <p:cNvPr id="1" name=""/>
        <p:cNvGrpSpPr/>
        <p:nvPr/>
      </p:nvGrpSpPr>
      <p:grpSpPr>
        <a:xfrm>
          <a:off x="0" y="0"/>
          <a:ext cx="0" cy="0"/>
          <a:chOff x="0" y="0"/>
          <a:chExt cx="0" cy="0"/>
        </a:xfrm>
      </p:grpSpPr>
      <p:sp>
        <p:nvSpPr>
          <p:cNvPr id="3" name="Shape 0"/>
          <p:cNvSpPr/>
          <p:nvPr/>
        </p:nvSpPr>
        <p:spPr>
          <a:xfrm>
            <a:off x="731520" y="1371600"/>
            <a:ext cx="3474720" cy="365760"/>
          </a:xfrm>
          <a:prstGeom prst="rect">
            <a:avLst/>
          </a:prstGeom>
          <a:solidFill>
            <a:srgbClr val="FFFDF8"/>
          </a:solidFill>
          <a:ln w="12700">
            <a:solidFill>
              <a:srgbClr val="B84A2F"/>
            </a:solidFill>
            <a:prstDash val="solid"/>
          </a:ln>
        </p:spPr>
      </p:sp>
      <p:sp>
        <p:nvSpPr>
          <p:cNvPr id="4" name="Text 1"/>
          <p:cNvSpPr/>
          <p:nvPr/>
        </p:nvSpPr>
        <p:spPr>
          <a:xfrm>
            <a:off x="822960" y="1417320"/>
            <a:ext cx="3291840" cy="274320"/>
          </a:xfrm>
          <a:prstGeom prst="rect">
            <a:avLst/>
          </a:prstGeom>
          <a:noFill/>
          <a:ln/>
        </p:spPr>
        <p:txBody>
          <a:bodyPr wrap="square" rtlCol="0" anchor="ctr"/>
          <a:lstStyle/>
          <a:p>
            <a:pPr indent="0" marL="0">
              <a:buNone/>
            </a:pPr>
            <a:r>
              <a:rPr lang="en-US" sz="1000" b="1" spc="150" kern="0" dirty="0">
                <a:solidFill>
                  <a:srgbClr val="B84A2F"/>
                </a:solidFill>
                <a:latin typeface="Aeonik" pitchFamily="34" charset="0"/>
                <a:ea typeface="Aeonik" pitchFamily="34" charset="-122"/>
                <a:cs typeface="Aeonik" pitchFamily="34" charset="-120"/>
              </a:rPr>
              <a:t>CONSOLIDATED REMEDIAL BRIEFING</a:t>
            </a:r>
            <a:endParaRPr lang="en-US" sz="1000" dirty="0"/>
          </a:p>
        </p:txBody>
      </p:sp>
      <p:sp>
        <p:nvSpPr>
          <p:cNvPr id="5" name="Text 2"/>
          <p:cNvSpPr/>
          <p:nvPr/>
        </p:nvSpPr>
        <p:spPr>
          <a:xfrm>
            <a:off x="731520" y="1920240"/>
            <a:ext cx="10515600" cy="1097280"/>
          </a:xfrm>
          <a:prstGeom prst="rect">
            <a:avLst/>
          </a:prstGeom>
          <a:noFill/>
          <a:ln/>
        </p:spPr>
        <p:txBody>
          <a:bodyPr wrap="square" rtlCol="0" anchor="ctr"/>
          <a:lstStyle/>
          <a:p>
            <a:pPr indent="0" marL="0">
              <a:buNone/>
            </a:pPr>
            <a:r>
              <a:rPr lang="en-US" sz="4800" b="1" dirty="0">
                <a:solidFill>
                  <a:srgbClr val="1A1714"/>
                </a:solidFill>
                <a:latin typeface="PP Mondwest" pitchFamily="34" charset="0"/>
                <a:ea typeface="PP Mondwest" pitchFamily="34" charset="-122"/>
                <a:cs typeface="PP Mondwest" pitchFamily="34" charset="-120"/>
              </a:rPr>
              <a:t>The 2026 Semiconductor Ecosystem</a:t>
            </a:r>
            <a:endParaRPr lang="en-US" sz="4800" dirty="0"/>
          </a:p>
        </p:txBody>
      </p:sp>
      <p:sp>
        <p:nvSpPr>
          <p:cNvPr id="6" name="Text 3"/>
          <p:cNvSpPr/>
          <p:nvPr/>
        </p:nvSpPr>
        <p:spPr>
          <a:xfrm>
            <a:off x="731520" y="3017520"/>
            <a:ext cx="10515600" cy="731520"/>
          </a:xfrm>
          <a:prstGeom prst="rect">
            <a:avLst/>
          </a:prstGeom>
          <a:noFill/>
          <a:ln/>
        </p:spPr>
        <p:txBody>
          <a:bodyPr wrap="square" rtlCol="0" anchor="ctr"/>
          <a:lstStyle/>
          <a:p>
            <a:pPr indent="0" marL="0">
              <a:buNone/>
            </a:pPr>
            <a:r>
              <a:rPr lang="en-US" sz="2000" dirty="0">
                <a:solidFill>
                  <a:srgbClr val="6B6560"/>
                </a:solidFill>
                <a:latin typeface="Aeonik" pitchFamily="34" charset="0"/>
                <a:ea typeface="Aeonik" pitchFamily="34" charset="-122"/>
                <a:cs typeface="Aeonik" pitchFamily="34" charset="-120"/>
              </a:rPr>
              <a:t>A Comprehensive Analysis of Sourcing Strategies, Supply Chain Architecture, and Global End-User Industries</a:t>
            </a:r>
            <a:endParaRPr lang="en-US" sz="2000" dirty="0"/>
          </a:p>
        </p:txBody>
      </p:sp>
      <p:sp>
        <p:nvSpPr>
          <p:cNvPr id="7" name="Shape 4"/>
          <p:cNvSpPr/>
          <p:nvPr/>
        </p:nvSpPr>
        <p:spPr>
          <a:xfrm>
            <a:off x="731520" y="3931920"/>
            <a:ext cx="4572000" cy="36576"/>
          </a:xfrm>
          <a:prstGeom prst="rect">
            <a:avLst/>
          </a:prstGeom>
          <a:solidFill>
            <a:srgbClr val="B84A2F"/>
          </a:solidFill>
          <a:ln/>
        </p:spPr>
      </p:sp>
      <p:sp>
        <p:nvSpPr>
          <p:cNvPr id="8" name="Text 5"/>
          <p:cNvSpPr/>
          <p:nvPr/>
        </p:nvSpPr>
        <p:spPr>
          <a:xfrm>
            <a:off x="731520" y="4297680"/>
            <a:ext cx="7315200" cy="1371600"/>
          </a:xfrm>
          <a:prstGeom prst="rect">
            <a:avLst/>
          </a:prstGeom>
          <a:noFill/>
          <a:ln/>
        </p:spPr>
        <p:txBody>
          <a:bodyPr wrap="square" rtlCol="0" anchor="ctr"/>
          <a:lstStyle/>
          <a:p>
            <a:pPr indent="0" marL="0">
              <a:buNone/>
            </a:pPr>
            <a:r>
              <a:rPr lang="en-US" sz="1200" dirty="0">
                <a:solidFill>
                  <a:srgbClr val="6B6560"/>
                </a:solidFill>
                <a:latin typeface="Aeonik" pitchFamily="34" charset="0"/>
                <a:ea typeface="Aeonik" pitchFamily="34" charset="-122"/>
                <a:cs typeface="Aeonik" pitchFamily="34" charset="-120"/>
              </a:rPr>
              <a:t>Presenter: </a:t>
            </a:r>
            <a:pPr indent="0" marL="0">
              <a:buNone/>
            </a:pPr>
            <a:r>
              <a:rPr lang="en-US" sz="1200" b="1" dirty="0">
                <a:solidFill>
                  <a:srgbClr val="1A1714"/>
                </a:solidFill>
                <a:latin typeface="Aeonik" pitchFamily="34" charset="0"/>
                <a:ea typeface="Aeonik" pitchFamily="34" charset="-122"/>
                <a:cs typeface="Aeonik" pitchFamily="34" charset="-120"/>
              </a:rPr>
              <a:t>Phyoe Sat Paing (ID: 6821711420061)
</a:t>
            </a:r>
            <a:pPr indent="0" marL="0">
              <a:buNone/>
            </a:pPr>
            <a:r>
              <a:rPr lang="en-US" sz="1200" dirty="0">
                <a:solidFill>
                  <a:srgbClr val="6B6560"/>
                </a:solidFill>
                <a:latin typeface="Aeonik" pitchFamily="34" charset="0"/>
                <a:ea typeface="Aeonik" pitchFamily="34" charset="-122"/>
                <a:cs typeface="Aeonik" pitchFamily="34" charset="-120"/>
              </a:rPr>
              <a:t>Course: </a:t>
            </a:r>
            <a:pPr indent="0" marL="0">
              <a:buNone/>
            </a:pPr>
            <a:r>
              <a:rPr lang="en-US" sz="1200" b="1" dirty="0">
                <a:solidFill>
                  <a:srgbClr val="1A1714"/>
                </a:solidFill>
                <a:latin typeface="Aeonik" pitchFamily="34" charset="0"/>
                <a:ea typeface="Aeonik" pitchFamily="34" charset="-122"/>
                <a:cs typeface="Aeonik" pitchFamily="34" charset="-120"/>
              </a:rPr>
              <a:t>501105, logistics and supply chain management
</a:t>
            </a:r>
            <a:pPr indent="0" marL="0">
              <a:buNone/>
            </a:pPr>
            <a:r>
              <a:rPr lang="en-US" sz="1200" dirty="0">
                <a:solidFill>
                  <a:srgbClr val="6B6560"/>
                </a:solidFill>
                <a:latin typeface="Aeonik" pitchFamily="34" charset="0"/>
                <a:ea typeface="Aeonik" pitchFamily="34" charset="-122"/>
                <a:cs typeface="Aeonik" pitchFamily="34" charset="-120"/>
              </a:rPr>
              <a:t>Date: </a:t>
            </a:r>
            <a:pPr indent="0" marL="0">
              <a:buNone/>
            </a:pPr>
            <a:r>
              <a:rPr lang="en-US" sz="1200" b="1" dirty="0">
                <a:solidFill>
                  <a:srgbClr val="1A1714"/>
                </a:solidFill>
                <a:latin typeface="Aeonik" pitchFamily="34" charset="0"/>
                <a:ea typeface="Aeonik" pitchFamily="34" charset="-122"/>
                <a:cs typeface="Aeonik" pitchFamily="34" charset="-120"/>
              </a:rPr>
              <a:t>June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indent="0" marL="0">
              <a:buNone/>
            </a:pPr>
            <a:r>
              <a:rPr lang="en-US" sz="1200" b="1" spc="150" kern="0" dirty="0">
                <a:solidFill>
                  <a:srgbClr val="B84A2F"/>
                </a:solidFill>
                <a:latin typeface="Aeonik" pitchFamily="34" charset="0"/>
                <a:ea typeface="Aeonik" pitchFamily="34" charset="-122"/>
                <a:cs typeface="Aeonik" pitchFamily="34" charset="-120"/>
              </a:rPr>
              <a:t>PART 1: PROCUREMENT OF SEMICONDUCTORS</a:t>
            </a:r>
            <a:endParaRPr lang="en-US" sz="1200" dirty="0"/>
          </a:p>
        </p:txBody>
      </p:sp>
      <p:sp>
        <p:nvSpPr>
          <p:cNvPr id="3" name="Text 1"/>
          <p:cNvSpPr/>
          <p:nvPr/>
        </p:nvSpPr>
        <p:spPr>
          <a:xfrm>
            <a:off x="548640" y="640080"/>
            <a:ext cx="10972800" cy="548640"/>
          </a:xfrm>
          <a:prstGeom prst="rect">
            <a:avLst/>
          </a:prstGeom>
          <a:noFill/>
          <a:ln/>
        </p:spPr>
        <p:txBody>
          <a:bodyPr wrap="square" rtlCol="0" anchor="ctr"/>
          <a:lstStyle/>
          <a:p>
            <a:pPr indent="0" marL="0">
              <a:buNone/>
            </a:pPr>
            <a:r>
              <a:rPr lang="en-US" sz="3200" b="1" dirty="0">
                <a:solidFill>
                  <a:srgbClr val="1A1714"/>
                </a:solidFill>
                <a:latin typeface="PP Mondwest" pitchFamily="34" charset="0"/>
                <a:ea typeface="PP Mondwest" pitchFamily="34" charset="-122"/>
                <a:cs typeface="PP Mondwest" pitchFamily="34" charset="-120"/>
              </a:rPr>
              <a:t>Executive Summary: The Procurement Paradox</a:t>
            </a:r>
            <a:endParaRPr lang="en-US" sz="3200" dirty="0"/>
          </a:p>
        </p:txBody>
      </p:sp>
      <p:sp>
        <p:nvSpPr>
          <p:cNvPr id="4" name="Text 2"/>
          <p:cNvSpPr/>
          <p:nvPr/>
        </p:nvSpPr>
        <p:spPr>
          <a:xfrm>
            <a:off x="548640" y="6400800"/>
            <a:ext cx="10972800" cy="274320"/>
          </a:xfrm>
          <a:prstGeom prst="rect">
            <a:avLst/>
          </a:prstGeom>
          <a:noFill/>
          <a:ln/>
        </p:spPr>
        <p:txBody>
          <a:bodyPr wrap="square" rtlCol="0" anchor="ctr"/>
          <a:lstStyle/>
          <a:p>
            <a:pPr indent="0" marL="0">
              <a:buNone/>
            </a:pPr>
            <a:r>
              <a:rPr lang="en-US" sz="1000" dirty="0">
                <a:solidFill>
                  <a:srgbClr val="6B6560"/>
                </a:solidFill>
                <a:latin typeface="Aeonik" pitchFamily="34" charset="0"/>
                <a:ea typeface="Aeonik" pitchFamily="34" charset="-122"/>
                <a:cs typeface="Aeonik" pitchFamily="34" charset="-120"/>
              </a:rPr>
              <a:t>The 2026 Semiconductor Ecosystem | Slide 02</a:t>
            </a:r>
            <a:endParaRPr lang="en-US" sz="1000" dirty="0"/>
          </a:p>
        </p:txBody>
      </p:sp>
      <p:sp>
        <p:nvSpPr>
          <p:cNvPr id="6" name="Shape 3"/>
          <p:cNvSpPr/>
          <p:nvPr/>
        </p:nvSpPr>
        <p:spPr>
          <a:xfrm>
            <a:off x="548640" y="1371600"/>
            <a:ext cx="6583680" cy="914400"/>
          </a:xfrm>
          <a:prstGeom prst="rect">
            <a:avLst/>
          </a:prstGeom>
          <a:solidFill>
            <a:srgbClr val="FFFDF8"/>
          </a:solidFill>
          <a:ln w="19050">
            <a:solidFill>
              <a:srgbClr val="B84A2F"/>
            </a:solidFill>
            <a:prstDash val="solid"/>
          </a:ln>
        </p:spPr>
      </p:sp>
      <p:sp>
        <p:nvSpPr>
          <p:cNvPr id="7" name="Text 4"/>
          <p:cNvSpPr/>
          <p:nvPr/>
        </p:nvSpPr>
        <p:spPr>
          <a:xfrm>
            <a:off x="731520" y="1463040"/>
            <a:ext cx="6217920" cy="731520"/>
          </a:xfrm>
          <a:prstGeom prst="rect">
            <a:avLst/>
          </a:prstGeom>
          <a:noFill/>
          <a:ln/>
        </p:spPr>
        <p:txBody>
          <a:bodyPr wrap="square" rtlCol="0" anchor="ctr"/>
          <a:lstStyle/>
          <a:p>
            <a:pPr indent="0" marL="0">
              <a:buNone/>
            </a:pPr>
            <a:r>
              <a:rPr lang="en-US" sz="1800" b="1" i="1" dirty="0">
                <a:solidFill>
                  <a:srgbClr val="B84A2F"/>
                </a:solidFill>
                <a:latin typeface="Bookman ITC Std" pitchFamily="34" charset="0"/>
                <a:ea typeface="Bookman ITC Std" pitchFamily="34" charset="-122"/>
                <a:cs typeface="Bookman ITC Std" pitchFamily="34" charset="-120"/>
              </a:rPr>
              <a:t>Navigating a $1.3 trillion market requires balancing unprecedented growth with systemic supply chain fragility.</a:t>
            </a:r>
            <a:endParaRPr lang="en-US" sz="1800" dirty="0"/>
          </a:p>
        </p:txBody>
      </p:sp>
      <p:sp>
        <p:nvSpPr>
          <p:cNvPr id="8" name="Text 5"/>
          <p:cNvSpPr/>
          <p:nvPr/>
        </p:nvSpPr>
        <p:spPr>
          <a:xfrm>
            <a:off x="548640" y="2560320"/>
            <a:ext cx="6583680" cy="3474720"/>
          </a:xfrm>
          <a:prstGeom prst="rect">
            <a:avLst/>
          </a:prstGeom>
          <a:noFill/>
          <a:ln/>
        </p:spPr>
        <p:txBody>
          <a:bodyPr wrap="square" rtlCol="0" anchor="ctr"/>
          <a:lstStyle/>
          <a:p>
            <a:pPr marL="342900" indent="-342900">
              <a:buSzPct val="100000"/>
              <a:buChar char="•"/>
            </a:pPr>
            <a:r>
              <a:rPr lang="en-US" sz="1600" dirty="0">
                <a:solidFill>
                  <a:srgbClr val="6B6560"/>
                </a:solidFill>
                <a:latin typeface="Aeonik" pitchFamily="34" charset="0"/>
                <a:ea typeface="Aeonik" pitchFamily="34" charset="-122"/>
                <a:cs typeface="Aeonik" pitchFamily="34" charset="-120"/>
              </a:rPr>
              <a:t>- Record-High Valuations: Growth is driven by explosive global demand for AI systems and electric vehicle power logic.</a:t>
            </a:r>
            <a:endParaRPr lang="en-US" sz="1600" dirty="0"/>
          </a:p>
          <a:p>
            <a:pPr marL="342900" indent="-342900">
              <a:buSzPct val="100000"/>
              <a:buChar char="•"/>
            </a:pPr>
            <a:endParaRPr lang="en-US" sz="1600" dirty="0"/>
          </a:p>
          <a:p>
            <a:pPr marL="342900" indent="-342900">
              <a:buSzPct val="100000"/>
              <a:buChar char="•"/>
            </a:pPr>
            <a:r>
              <a:rPr lang="en-US" sz="1600" dirty="0">
                <a:solidFill>
                  <a:srgbClr val="6B6560"/>
                </a:solidFill>
                <a:latin typeface="Aeonik" pitchFamily="34" charset="0"/>
                <a:ea typeface="Aeonik" pitchFamily="34" charset="-122"/>
                <a:cs typeface="Aeonik" pitchFamily="34" charset="-120"/>
              </a:rPr>
              <a:t>- Systemic Fragility &amp; Node Allocation: Leading-edge fabrication is a massive chokepoint where global availability of advanced computing rests entirely on sub-3nm allocations. The concentration of Extreme Ultraviolet (EUV) lithography capacity leaves the industry vulnerable to minor material delays.</a:t>
            </a:r>
            <a:endParaRPr lang="en-US" sz="1600" dirty="0"/>
          </a:p>
          <a:p>
            <a:pPr marL="342900" indent="-342900">
              <a:buSzPct val="100000"/>
              <a:buChar char="•"/>
            </a:pPr>
            <a:endParaRPr lang="en-US" sz="1600" dirty="0"/>
          </a:p>
          <a:p>
            <a:pPr marL="342900" indent="-342900">
              <a:buSzPct val="100000"/>
              <a:buChar char="•"/>
            </a:pPr>
            <a:r>
              <a:rPr lang="en-US" sz="1600" dirty="0">
                <a:solidFill>
                  <a:srgbClr val="6B6560"/>
                </a:solidFill>
                <a:latin typeface="Aeonik" pitchFamily="34" charset="0"/>
                <a:ea typeface="Aeonik" pitchFamily="34" charset="-122"/>
                <a:cs typeface="Aeonik" pitchFamily="34" charset="-120"/>
              </a:rPr>
              <a:t>- Strategic Pivot: Sourcing HBM (High Bandwidth Memory) and advanced logic requires a shift from transactional purchasing to capacity reservation models.</a:t>
            </a:r>
            <a:endParaRPr lang="en-US" sz="1600" dirty="0"/>
          </a:p>
        </p:txBody>
      </p:sp>
      <p:sp>
        <p:nvSpPr>
          <p:cNvPr id="9" name="Shape 6"/>
          <p:cNvSpPr/>
          <p:nvPr/>
        </p:nvSpPr>
        <p:spPr>
          <a:xfrm>
            <a:off x="7680960" y="1371600"/>
            <a:ext cx="3840480" cy="4572000"/>
          </a:xfrm>
          <a:prstGeom prst="rect">
            <a:avLst/>
          </a:prstGeom>
          <a:solidFill>
            <a:srgbClr val="FFFDF8"/>
          </a:solidFill>
          <a:ln w="12700">
            <a:solidFill>
              <a:srgbClr val="E0D9D0"/>
            </a:solidFill>
            <a:prstDash val="solid"/>
          </a:ln>
        </p:spPr>
      </p:sp>
      <p:sp>
        <p:nvSpPr>
          <p:cNvPr id="10" name="Text 7"/>
          <p:cNvSpPr/>
          <p:nvPr/>
        </p:nvSpPr>
        <p:spPr>
          <a:xfrm>
            <a:off x="7680960" y="1828800"/>
            <a:ext cx="3840480" cy="365760"/>
          </a:xfrm>
          <a:prstGeom prst="rect">
            <a:avLst/>
          </a:prstGeom>
          <a:noFill/>
          <a:ln/>
        </p:spPr>
        <p:txBody>
          <a:bodyPr wrap="square" rtlCol="0" anchor="ctr"/>
          <a:lstStyle/>
          <a:p>
            <a:pPr algn="ctr" indent="0" marL="0">
              <a:buNone/>
            </a:pPr>
            <a:r>
              <a:rPr lang="en-US" sz="1200" b="1" dirty="0">
                <a:solidFill>
                  <a:srgbClr val="B84A2F"/>
                </a:solidFill>
                <a:latin typeface="Aeonik" pitchFamily="34" charset="0"/>
                <a:ea typeface="Aeonik" pitchFamily="34" charset="-122"/>
                <a:cs typeface="Aeonik" pitchFamily="34" charset="-120"/>
              </a:rPr>
              <a:t>ESTIMATE</a:t>
            </a:r>
            <a:endParaRPr lang="en-US" sz="1200" dirty="0"/>
          </a:p>
        </p:txBody>
      </p:sp>
      <p:sp>
        <p:nvSpPr>
          <p:cNvPr id="11" name="Text 8"/>
          <p:cNvSpPr/>
          <p:nvPr/>
        </p:nvSpPr>
        <p:spPr>
          <a:xfrm>
            <a:off x="7680960" y="2286000"/>
            <a:ext cx="3840480" cy="1097280"/>
          </a:xfrm>
          <a:prstGeom prst="rect">
            <a:avLst/>
          </a:prstGeom>
          <a:noFill/>
          <a:ln/>
        </p:spPr>
        <p:txBody>
          <a:bodyPr wrap="square" rtlCol="0" anchor="ctr"/>
          <a:lstStyle/>
          <a:p>
            <a:pPr algn="ctr" indent="0" marL="0">
              <a:buNone/>
            </a:pPr>
            <a:r>
              <a:rPr lang="en-US" sz="5400" b="1" dirty="0">
                <a:solidFill>
                  <a:srgbClr val="1A1714"/>
                </a:solidFill>
                <a:latin typeface="PP Mondwest" pitchFamily="34" charset="0"/>
                <a:ea typeface="PP Mondwest" pitchFamily="34" charset="-122"/>
                <a:cs typeface="PP Mondwest" pitchFamily="34" charset="-120"/>
              </a:rPr>
              <a:t>$1.3T</a:t>
            </a:r>
            <a:endParaRPr lang="en-US" sz="5400" dirty="0"/>
          </a:p>
        </p:txBody>
      </p:sp>
      <p:sp>
        <p:nvSpPr>
          <p:cNvPr id="12" name="Text 9"/>
          <p:cNvSpPr/>
          <p:nvPr/>
        </p:nvSpPr>
        <p:spPr>
          <a:xfrm>
            <a:off x="7680960" y="3566160"/>
            <a:ext cx="3840480" cy="731520"/>
          </a:xfrm>
          <a:prstGeom prst="rect">
            <a:avLst/>
          </a:prstGeom>
          <a:noFill/>
          <a:ln/>
        </p:spPr>
        <p:txBody>
          <a:bodyPr wrap="square" rtlCol="0" anchor="ctr"/>
          <a:lstStyle/>
          <a:p>
            <a:pPr algn="ctr" indent="0" marL="0">
              <a:buNone/>
            </a:pPr>
            <a:r>
              <a:rPr lang="en-US" sz="1400" dirty="0">
                <a:solidFill>
                  <a:srgbClr val="6B6560"/>
                </a:solidFill>
                <a:latin typeface="Aeonik" pitchFamily="34" charset="0"/>
                <a:ea typeface="Aeonik" pitchFamily="34" charset="-122"/>
                <a:cs typeface="Aeonik" pitchFamily="34" charset="-120"/>
              </a:rPr>
              <a:t>Global Market Value</a:t>
            </a:r>
            <a:endParaRPr lang="en-US" sz="1400" dirty="0"/>
          </a:p>
          <a:p>
            <a:pPr algn="ctr" indent="0" marL="0">
              <a:buNone/>
            </a:pPr>
            <a:r>
              <a:rPr lang="en-US" sz="1400" dirty="0">
                <a:solidFill>
                  <a:srgbClr val="6B6560"/>
                </a:solidFill>
                <a:latin typeface="Aeonik" pitchFamily="34" charset="0"/>
                <a:ea typeface="Aeonik" pitchFamily="34" charset="-122"/>
                <a:cs typeface="Aeonik" pitchFamily="34" charset="-120"/>
              </a:rPr>
              <a:t>Analyst consensus 2026</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indent="0" marL="0">
              <a:buNone/>
            </a:pPr>
            <a:r>
              <a:rPr lang="en-US" sz="1200" b="1" spc="150" kern="0" dirty="0">
                <a:solidFill>
                  <a:srgbClr val="B84A2F"/>
                </a:solidFill>
                <a:latin typeface="Aeonik" pitchFamily="34" charset="0"/>
                <a:ea typeface="Aeonik" pitchFamily="34" charset="-122"/>
                <a:cs typeface="Aeonik" pitchFamily="34" charset="-120"/>
              </a:rPr>
              <a:t>PART 1: PROCUREMENT OF SEMICONDUCTORS</a:t>
            </a:r>
            <a:endParaRPr lang="en-US" sz="1200" dirty="0"/>
          </a:p>
        </p:txBody>
      </p:sp>
      <p:sp>
        <p:nvSpPr>
          <p:cNvPr id="3" name="Text 1"/>
          <p:cNvSpPr/>
          <p:nvPr/>
        </p:nvSpPr>
        <p:spPr>
          <a:xfrm>
            <a:off x="548640" y="640080"/>
            <a:ext cx="10972800" cy="548640"/>
          </a:xfrm>
          <a:prstGeom prst="rect">
            <a:avLst/>
          </a:prstGeom>
          <a:noFill/>
          <a:ln/>
        </p:spPr>
        <p:txBody>
          <a:bodyPr wrap="square" rtlCol="0" anchor="ctr"/>
          <a:lstStyle/>
          <a:p>
            <a:pPr indent="0" marL="0">
              <a:buNone/>
            </a:pPr>
            <a:r>
              <a:rPr lang="en-US" sz="3200" b="1" dirty="0">
                <a:solidFill>
                  <a:srgbClr val="1A1714"/>
                </a:solidFill>
                <a:latin typeface="PP Mondwest" pitchFamily="34" charset="0"/>
                <a:ea typeface="PP Mondwest" pitchFamily="34" charset="-122"/>
                <a:cs typeface="PP Mondwest" pitchFamily="34" charset="-120"/>
              </a:rPr>
              <a:t>Evolution of Procurement: The Strategic Hybrid Model</a:t>
            </a:r>
            <a:endParaRPr lang="en-US" sz="3200" dirty="0"/>
          </a:p>
        </p:txBody>
      </p:sp>
      <p:sp>
        <p:nvSpPr>
          <p:cNvPr id="4" name="Text 2"/>
          <p:cNvSpPr/>
          <p:nvPr/>
        </p:nvSpPr>
        <p:spPr>
          <a:xfrm>
            <a:off x="548640" y="6400800"/>
            <a:ext cx="10972800" cy="274320"/>
          </a:xfrm>
          <a:prstGeom prst="rect">
            <a:avLst/>
          </a:prstGeom>
          <a:noFill/>
          <a:ln/>
        </p:spPr>
        <p:txBody>
          <a:bodyPr wrap="square" rtlCol="0" anchor="ctr"/>
          <a:lstStyle/>
          <a:p>
            <a:pPr indent="0" marL="0">
              <a:buNone/>
            </a:pPr>
            <a:r>
              <a:rPr lang="en-US" sz="1000" dirty="0">
                <a:solidFill>
                  <a:srgbClr val="6B6560"/>
                </a:solidFill>
                <a:latin typeface="Aeonik" pitchFamily="34" charset="0"/>
                <a:ea typeface="Aeonik" pitchFamily="34" charset="-122"/>
                <a:cs typeface="Aeonik" pitchFamily="34" charset="-120"/>
              </a:rPr>
              <a:t>The 2026 Semiconductor Ecosystem | Slide 03</a:t>
            </a:r>
            <a:endParaRPr lang="en-US" sz="1000" dirty="0"/>
          </a:p>
        </p:txBody>
      </p:sp>
      <p:sp>
        <p:nvSpPr>
          <p:cNvPr id="6" name="Shape 3"/>
          <p:cNvSpPr/>
          <p:nvPr/>
        </p:nvSpPr>
        <p:spPr>
          <a:xfrm>
            <a:off x="548640" y="1371600"/>
            <a:ext cx="10972800" cy="914400"/>
          </a:xfrm>
          <a:prstGeom prst="rect">
            <a:avLst/>
          </a:prstGeom>
          <a:solidFill>
            <a:srgbClr val="FFFDF8"/>
          </a:solidFill>
          <a:ln w="19050">
            <a:solidFill>
              <a:srgbClr val="9E7D84"/>
            </a:solidFill>
            <a:prstDash val="solid"/>
          </a:ln>
        </p:spPr>
      </p:sp>
      <p:sp>
        <p:nvSpPr>
          <p:cNvPr id="7" name="Text 4"/>
          <p:cNvSpPr/>
          <p:nvPr/>
        </p:nvSpPr>
        <p:spPr>
          <a:xfrm>
            <a:off x="731520" y="1463040"/>
            <a:ext cx="10607040" cy="731520"/>
          </a:xfrm>
          <a:prstGeom prst="rect">
            <a:avLst/>
          </a:prstGeom>
          <a:noFill/>
          <a:ln/>
        </p:spPr>
        <p:txBody>
          <a:bodyPr wrap="square" rtlCol="0" anchor="ctr"/>
          <a:lstStyle/>
          <a:p>
            <a:pPr indent="0" marL="0">
              <a:buNone/>
            </a:pPr>
            <a:r>
              <a:rPr lang="en-US" sz="1800" b="1" i="1" dirty="0">
                <a:solidFill>
                  <a:srgbClr val="9E7D84"/>
                </a:solidFill>
                <a:latin typeface="Bookman ITC Std" pitchFamily="34" charset="0"/>
                <a:ea typeface="Bookman ITC Std" pitchFamily="34" charset="-122"/>
                <a:cs typeface="Bookman ITC Std" pitchFamily="34" charset="-120"/>
              </a:rPr>
              <a:t>Pure JIT is obsolete; the new standard is a hybrid approach that prioritizes resilience for high-value nodes.</a:t>
            </a:r>
            <a:endParaRPr lang="en-US" sz="1800" dirty="0"/>
          </a:p>
        </p:txBody>
      </p:sp>
      <p:sp>
        <p:nvSpPr>
          <p:cNvPr id="8" name="Shape 5"/>
          <p:cNvSpPr/>
          <p:nvPr/>
        </p:nvSpPr>
        <p:spPr>
          <a:xfrm>
            <a:off x="548640" y="2560320"/>
            <a:ext cx="5212080" cy="3474720"/>
          </a:xfrm>
          <a:prstGeom prst="rect">
            <a:avLst/>
          </a:prstGeom>
          <a:solidFill>
            <a:srgbClr val="FFFDF8"/>
          </a:solidFill>
          <a:ln w="12700">
            <a:solidFill>
              <a:srgbClr val="E0D9D0"/>
            </a:solidFill>
            <a:prstDash val="solid"/>
          </a:ln>
        </p:spPr>
      </p:sp>
      <p:sp>
        <p:nvSpPr>
          <p:cNvPr id="9" name="Text 6"/>
          <p:cNvSpPr/>
          <p:nvPr/>
        </p:nvSpPr>
        <p:spPr>
          <a:xfrm>
            <a:off x="822960" y="2834640"/>
            <a:ext cx="4663440" cy="457200"/>
          </a:xfrm>
          <a:prstGeom prst="rect">
            <a:avLst/>
          </a:prstGeom>
          <a:noFill/>
          <a:ln/>
        </p:spPr>
        <p:txBody>
          <a:bodyPr wrap="square" rtlCol="0" anchor="ctr"/>
          <a:lstStyle/>
          <a:p>
            <a:pPr indent="0" marL="0">
              <a:buNone/>
            </a:pPr>
            <a:r>
              <a:rPr lang="en-US" sz="2000" b="1" dirty="0">
                <a:solidFill>
                  <a:srgbClr val="B84A2F"/>
                </a:solidFill>
                <a:latin typeface="PP Mondwest" pitchFamily="34" charset="0"/>
                <a:ea typeface="PP Mondwest" pitchFamily="34" charset="-122"/>
                <a:cs typeface="PP Mondwest" pitchFamily="34" charset="-120"/>
              </a:rPr>
              <a:t>Lean JIT (Commoditized Nodes)</a:t>
            </a:r>
            <a:endParaRPr lang="en-US" sz="2000" dirty="0"/>
          </a:p>
        </p:txBody>
      </p:sp>
      <p:sp>
        <p:nvSpPr>
          <p:cNvPr id="10" name="Text 7"/>
          <p:cNvSpPr/>
          <p:nvPr/>
        </p:nvSpPr>
        <p:spPr>
          <a:xfrm>
            <a:off x="822960" y="3383280"/>
            <a:ext cx="4663440" cy="2377440"/>
          </a:xfrm>
          <a:prstGeom prst="rect">
            <a:avLst/>
          </a:prstGeom>
          <a:noFill/>
          <a:ln/>
        </p:spPr>
        <p:txBody>
          <a:bodyPr wrap="square" rtlCol="0" anchor="ctr"/>
          <a:lstStyle/>
          <a:p>
            <a:pPr indent="0" marL="0">
              <a:buNone/>
            </a:pPr>
            <a:r>
              <a:rPr lang="en-US" sz="1500" dirty="0">
                <a:solidFill>
                  <a:srgbClr val="6B6560"/>
                </a:solidFill>
                <a:latin typeface="Aeonik" pitchFamily="34" charset="0"/>
                <a:ea typeface="Aeonik" pitchFamily="34" charset="-122"/>
                <a:cs typeface="Aeonik" pitchFamily="34" charset="-120"/>
              </a:rPr>
              <a:t>Used for standardized legacy passive elements and commoditized logic chips. Minimizes capital lock-up and inventory holding costs. However, global supply shocks exposed severe operational risks in pure JIT models, including zero safety buffers, sudden factory halts, supplier insolvency, and shipping delays.</a:t>
            </a:r>
            <a:endParaRPr lang="en-US" sz="1500" dirty="0"/>
          </a:p>
        </p:txBody>
      </p:sp>
      <p:sp>
        <p:nvSpPr>
          <p:cNvPr id="11" name="Shape 8"/>
          <p:cNvSpPr/>
          <p:nvPr/>
        </p:nvSpPr>
        <p:spPr>
          <a:xfrm>
            <a:off x="6309360" y="2560320"/>
            <a:ext cx="5212080" cy="3474720"/>
          </a:xfrm>
          <a:prstGeom prst="rect">
            <a:avLst/>
          </a:prstGeom>
          <a:solidFill>
            <a:srgbClr val="FFFDF8"/>
          </a:solidFill>
          <a:ln w="12700">
            <a:solidFill>
              <a:srgbClr val="E0D9D0"/>
            </a:solidFill>
            <a:prstDash val="solid"/>
          </a:ln>
        </p:spPr>
      </p:sp>
      <p:sp>
        <p:nvSpPr>
          <p:cNvPr id="12" name="Text 9"/>
          <p:cNvSpPr/>
          <p:nvPr/>
        </p:nvSpPr>
        <p:spPr>
          <a:xfrm>
            <a:off x="6583680" y="2834640"/>
            <a:ext cx="4663440" cy="457200"/>
          </a:xfrm>
          <a:prstGeom prst="rect">
            <a:avLst/>
          </a:prstGeom>
          <a:noFill/>
          <a:ln/>
        </p:spPr>
        <p:txBody>
          <a:bodyPr wrap="square" rtlCol="0" anchor="ctr"/>
          <a:lstStyle/>
          <a:p>
            <a:pPr indent="0" marL="0">
              <a:buNone/>
            </a:pPr>
            <a:r>
              <a:rPr lang="en-US" sz="2000" b="1" dirty="0">
                <a:solidFill>
                  <a:srgbClr val="9E7D84"/>
                </a:solidFill>
                <a:latin typeface="PP Mondwest" pitchFamily="34" charset="0"/>
                <a:ea typeface="PP Mondwest" pitchFamily="34" charset="-122"/>
                <a:cs typeface="PP Mondwest" pitchFamily="34" charset="-120"/>
              </a:rPr>
              <a:t>Strategic Buffers (Critical Nodes)</a:t>
            </a:r>
            <a:endParaRPr lang="en-US" sz="2000" dirty="0"/>
          </a:p>
        </p:txBody>
      </p:sp>
      <p:sp>
        <p:nvSpPr>
          <p:cNvPr id="13" name="Text 10"/>
          <p:cNvSpPr/>
          <p:nvPr/>
        </p:nvSpPr>
        <p:spPr>
          <a:xfrm>
            <a:off x="6583680" y="3383280"/>
            <a:ext cx="4663440" cy="2377440"/>
          </a:xfrm>
          <a:prstGeom prst="rect">
            <a:avLst/>
          </a:prstGeom>
          <a:noFill/>
          <a:ln/>
        </p:spPr>
        <p:txBody>
          <a:bodyPr wrap="square" rtlCol="0" anchor="ctr"/>
          <a:lstStyle/>
          <a:p>
            <a:pPr indent="0" marL="0">
              <a:buNone/>
            </a:pPr>
            <a:r>
              <a:rPr lang="en-US" sz="1500" dirty="0">
                <a:solidFill>
                  <a:srgbClr val="6B6560"/>
                </a:solidFill>
                <a:latin typeface="Aeonik" pitchFamily="34" charset="0"/>
                <a:ea typeface="Aeonik" pitchFamily="34" charset="-122"/>
                <a:cs typeface="Aeonik" pitchFamily="34" charset="-120"/>
              </a:rPr>
              <a:t>Maintaining 3 to 6 months of safety stock for sole-sourced, high-margin microcomponents (HBM, custom GPUs) to guarantee manufacturing continuity.</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indent="0" marL="0">
              <a:buNone/>
            </a:pPr>
            <a:r>
              <a:rPr lang="en-US" sz="1200" b="1" spc="150" kern="0" dirty="0">
                <a:solidFill>
                  <a:srgbClr val="B84A2F"/>
                </a:solidFill>
                <a:latin typeface="Aeonik" pitchFamily="34" charset="0"/>
                <a:ea typeface="Aeonik" pitchFamily="34" charset="-122"/>
                <a:cs typeface="Aeonik" pitchFamily="34" charset="-120"/>
              </a:rPr>
              <a:t>PART 1: PROCUREMENT OF SEMICONDUCTORS</a:t>
            </a:r>
            <a:endParaRPr lang="en-US" sz="1200" dirty="0"/>
          </a:p>
        </p:txBody>
      </p:sp>
      <p:sp>
        <p:nvSpPr>
          <p:cNvPr id="3" name="Text 1"/>
          <p:cNvSpPr/>
          <p:nvPr/>
        </p:nvSpPr>
        <p:spPr>
          <a:xfrm>
            <a:off x="548640" y="640080"/>
            <a:ext cx="10972800" cy="548640"/>
          </a:xfrm>
          <a:prstGeom prst="rect">
            <a:avLst/>
          </a:prstGeom>
          <a:noFill/>
          <a:ln/>
        </p:spPr>
        <p:txBody>
          <a:bodyPr wrap="square" rtlCol="0" anchor="ctr"/>
          <a:lstStyle/>
          <a:p>
            <a:pPr indent="0" marL="0">
              <a:buNone/>
            </a:pPr>
            <a:r>
              <a:rPr lang="en-US" sz="3200" b="1" dirty="0">
                <a:solidFill>
                  <a:srgbClr val="1A1714"/>
                </a:solidFill>
                <a:latin typeface="PP Mondwest" pitchFamily="34" charset="0"/>
                <a:ea typeface="PP Mondwest" pitchFamily="34" charset="-122"/>
                <a:cs typeface="PP Mondwest" pitchFamily="34" charset="-120"/>
              </a:rPr>
              <a:t>Key Procurement Challenges &amp; Strategic Sourcing</a:t>
            </a:r>
            <a:endParaRPr lang="en-US" sz="3200" dirty="0"/>
          </a:p>
        </p:txBody>
      </p:sp>
      <p:sp>
        <p:nvSpPr>
          <p:cNvPr id="4" name="Text 2"/>
          <p:cNvSpPr/>
          <p:nvPr/>
        </p:nvSpPr>
        <p:spPr>
          <a:xfrm>
            <a:off x="548640" y="6400800"/>
            <a:ext cx="10972800" cy="274320"/>
          </a:xfrm>
          <a:prstGeom prst="rect">
            <a:avLst/>
          </a:prstGeom>
          <a:noFill/>
          <a:ln/>
        </p:spPr>
        <p:txBody>
          <a:bodyPr wrap="square" rtlCol="0" anchor="ctr"/>
          <a:lstStyle/>
          <a:p>
            <a:pPr indent="0" marL="0">
              <a:buNone/>
            </a:pPr>
            <a:r>
              <a:rPr lang="en-US" sz="1000" dirty="0">
                <a:solidFill>
                  <a:srgbClr val="6B6560"/>
                </a:solidFill>
                <a:latin typeface="Aeonik" pitchFamily="34" charset="0"/>
                <a:ea typeface="Aeonik" pitchFamily="34" charset="-122"/>
                <a:cs typeface="Aeonik" pitchFamily="34" charset="-120"/>
              </a:rPr>
              <a:t>The 2026 Semiconductor Ecosystem | Slide 04</a:t>
            </a:r>
            <a:endParaRPr lang="en-US" sz="1000" dirty="0"/>
          </a:p>
        </p:txBody>
      </p:sp>
      <p:sp>
        <p:nvSpPr>
          <p:cNvPr id="6" name="Shape 3"/>
          <p:cNvSpPr/>
          <p:nvPr/>
        </p:nvSpPr>
        <p:spPr>
          <a:xfrm>
            <a:off x="548640" y="1371600"/>
            <a:ext cx="6583680" cy="914400"/>
          </a:xfrm>
          <a:prstGeom prst="rect">
            <a:avLst/>
          </a:prstGeom>
          <a:solidFill>
            <a:srgbClr val="FFFDF8"/>
          </a:solidFill>
          <a:ln w="19050">
            <a:solidFill>
              <a:srgbClr val="768C7C"/>
            </a:solidFill>
            <a:prstDash val="solid"/>
          </a:ln>
        </p:spPr>
      </p:sp>
      <p:sp>
        <p:nvSpPr>
          <p:cNvPr id="7" name="Text 4"/>
          <p:cNvSpPr/>
          <p:nvPr/>
        </p:nvSpPr>
        <p:spPr>
          <a:xfrm>
            <a:off x="731520" y="1463040"/>
            <a:ext cx="6217920" cy="731520"/>
          </a:xfrm>
          <a:prstGeom prst="rect">
            <a:avLst/>
          </a:prstGeom>
          <a:noFill/>
          <a:ln/>
        </p:spPr>
        <p:txBody>
          <a:bodyPr wrap="square" rtlCol="0" anchor="ctr"/>
          <a:lstStyle/>
          <a:p>
            <a:pPr indent="0" marL="0">
              <a:buNone/>
            </a:pPr>
            <a:r>
              <a:rPr lang="en-US" sz="1800" b="1" i="1" dirty="0">
                <a:solidFill>
                  <a:srgbClr val="768C7C"/>
                </a:solidFill>
                <a:latin typeface="Bookman ITC Std" pitchFamily="34" charset="0"/>
                <a:ea typeface="Bookman ITC Std" pitchFamily="34" charset="-122"/>
                <a:cs typeface="Bookman ITC Std" pitchFamily="34" charset="-120"/>
              </a:rPr>
              <a:t>Data opacity and reactive risk management are the primary enemies of a resilient procurement strategy.</a:t>
            </a:r>
            <a:endParaRPr lang="en-US" sz="1800" dirty="0"/>
          </a:p>
        </p:txBody>
      </p:sp>
      <p:sp>
        <p:nvSpPr>
          <p:cNvPr id="8" name="Text 5"/>
          <p:cNvSpPr/>
          <p:nvPr/>
        </p:nvSpPr>
        <p:spPr>
          <a:xfrm>
            <a:off x="548640" y="2560320"/>
            <a:ext cx="6583680" cy="3474720"/>
          </a:xfrm>
          <a:prstGeom prst="rect">
            <a:avLst/>
          </a:prstGeom>
          <a:noFill/>
          <a:ln/>
        </p:spPr>
        <p:txBody>
          <a:bodyPr wrap="square" rtlCol="0" anchor="ctr"/>
          <a:lstStyle/>
          <a:p>
            <a:pPr marL="342900" indent="-342900">
              <a:buSzPct val="100000"/>
              <a:buChar char="•"/>
            </a:pPr>
            <a:r>
              <a:rPr lang="en-US" sz="1800" dirty="0">
                <a:solidFill>
                  <a:srgbClr val="6B6560"/>
                </a:solidFill>
                <a:latin typeface="Aeonik" pitchFamily="34" charset="0"/>
                <a:ea typeface="Aeonik" pitchFamily="34" charset="-122"/>
                <a:cs typeface="Aeonik" pitchFamily="34" charset="-120"/>
              </a:rPr>
              <a:t>- Category Management Sourcing: Slicing procurement into precise technology nodes (Leading-edge sub-7nm vs Legacy nodes).</a:t>
            </a:r>
            <a:endParaRPr lang="en-US" sz="1800" dirty="0"/>
          </a:p>
          <a:p>
            <a:pPr marL="342900" indent="-342900">
              <a:buSzPct val="100000"/>
              <a:buChar char="•"/>
            </a:pPr>
            <a:endParaRPr lang="en-US" sz="1800" dirty="0"/>
          </a:p>
          <a:p>
            <a:pPr marL="342900" indent="-342900">
              <a:buSzPct val="100000"/>
              <a:buChar char="•"/>
            </a:pPr>
            <a:r>
              <a:rPr lang="en-US" sz="1800" dirty="0">
                <a:solidFill>
                  <a:srgbClr val="6B6560"/>
                </a:solidFill>
                <a:latin typeface="Aeonik" pitchFamily="34" charset="0"/>
                <a:ea typeface="Aeonik" pitchFamily="34" charset="-122"/>
                <a:cs typeface="Aeonik" pitchFamily="34" charset="-120"/>
              </a:rPr>
              <a:t>- Leading-edge Sourcing: Focuses on deep co-development partnerships, engineering collaboration, and long-term volume commitments.</a:t>
            </a:r>
            <a:endParaRPr lang="en-US" sz="1800" dirty="0"/>
          </a:p>
          <a:p>
            <a:pPr marL="342900" indent="-342900">
              <a:buSzPct val="100000"/>
              <a:buChar char="•"/>
            </a:pPr>
            <a:endParaRPr lang="en-US" sz="1800" dirty="0"/>
          </a:p>
          <a:p>
            <a:pPr marL="342900" indent="-342900">
              <a:buSzPct val="100000"/>
              <a:buChar char="•"/>
            </a:pPr>
            <a:r>
              <a:rPr lang="en-US" sz="1800" dirty="0">
                <a:solidFill>
                  <a:srgbClr val="6B6560"/>
                </a:solidFill>
                <a:latin typeface="Aeonik" pitchFamily="34" charset="0"/>
                <a:ea typeface="Aeonik" pitchFamily="34" charset="-122"/>
                <a:cs typeface="Aeonik" pitchFamily="34" charset="-120"/>
              </a:rPr>
              <a:t>- Legacy Sourcing: Emphasizes multi-sourcing, second-sourcing qualification, and legacy lifecycle management to offset obsolescence.</a:t>
            </a:r>
            <a:endParaRPr lang="en-US" sz="1800" dirty="0"/>
          </a:p>
        </p:txBody>
      </p:sp>
      <p:sp>
        <p:nvSpPr>
          <p:cNvPr id="9" name="Shape 6"/>
          <p:cNvSpPr/>
          <p:nvPr/>
        </p:nvSpPr>
        <p:spPr>
          <a:xfrm>
            <a:off x="7680960" y="1371600"/>
            <a:ext cx="3840480" cy="2103120"/>
          </a:xfrm>
          <a:prstGeom prst="rect">
            <a:avLst/>
          </a:prstGeom>
          <a:solidFill>
            <a:srgbClr val="FFFDF8"/>
          </a:solidFill>
          <a:ln w="12700">
            <a:solidFill>
              <a:srgbClr val="768C7C"/>
            </a:solidFill>
            <a:prstDash val="solid"/>
          </a:ln>
        </p:spPr>
      </p:sp>
      <p:sp>
        <p:nvSpPr>
          <p:cNvPr id="10" name="Text 7"/>
          <p:cNvSpPr/>
          <p:nvPr/>
        </p:nvSpPr>
        <p:spPr>
          <a:xfrm>
            <a:off x="7863840" y="1463040"/>
            <a:ext cx="3474720" cy="274320"/>
          </a:xfrm>
          <a:prstGeom prst="rect">
            <a:avLst/>
          </a:prstGeom>
          <a:noFill/>
          <a:ln/>
        </p:spPr>
        <p:txBody>
          <a:bodyPr wrap="square" rtlCol="0" anchor="ctr"/>
          <a:lstStyle/>
          <a:p>
            <a:pPr indent="0" marL="0">
              <a:buNone/>
            </a:pPr>
            <a:r>
              <a:rPr lang="en-US" sz="1200" b="1" dirty="0">
                <a:solidFill>
                  <a:srgbClr val="768C7C"/>
                </a:solidFill>
                <a:latin typeface="Aeonik" pitchFamily="34" charset="0"/>
                <a:ea typeface="Aeonik" pitchFamily="34" charset="-122"/>
                <a:cs typeface="Aeonik" pitchFamily="34" charset="-120"/>
              </a:rPr>
              <a:t>LEADING-EDGE NODES (SUB-7NM)</a:t>
            </a:r>
            <a:endParaRPr lang="en-US" sz="1200" dirty="0"/>
          </a:p>
        </p:txBody>
      </p:sp>
      <p:sp>
        <p:nvSpPr>
          <p:cNvPr id="11" name="Text 8"/>
          <p:cNvSpPr/>
          <p:nvPr/>
        </p:nvSpPr>
        <p:spPr>
          <a:xfrm>
            <a:off x="7863840" y="1783080"/>
            <a:ext cx="3474720" cy="1600200"/>
          </a:xfrm>
          <a:prstGeom prst="rect">
            <a:avLst/>
          </a:prstGeom>
          <a:noFill/>
          <a:ln/>
        </p:spPr>
        <p:txBody>
          <a:bodyPr wrap="square" rtlCol="0" anchor="ctr"/>
          <a:lstStyle/>
          <a:p>
            <a:pPr indent="0" marL="0">
              <a:buNone/>
            </a:pPr>
            <a:r>
              <a:rPr lang="en-US" sz="1300" dirty="0">
                <a:solidFill>
                  <a:srgbClr val="6B6560"/>
                </a:solidFill>
                <a:latin typeface="Aeonik" pitchFamily="34" charset="0"/>
                <a:ea typeface="Aeonik" pitchFamily="34" charset="-122"/>
                <a:cs typeface="Aeonik" pitchFamily="34" charset="-120"/>
              </a:rPr>
              <a:t>Focus: Secure allocation in sub-7nm alliances, multi-billion capacity reservation fees (LTAs), and joint R&amp;D partnerships.</a:t>
            </a:r>
            <a:endParaRPr lang="en-US" sz="1300" dirty="0"/>
          </a:p>
        </p:txBody>
      </p:sp>
      <p:sp>
        <p:nvSpPr>
          <p:cNvPr id="12" name="Shape 9"/>
          <p:cNvSpPr/>
          <p:nvPr/>
        </p:nvSpPr>
        <p:spPr>
          <a:xfrm>
            <a:off x="7680960" y="3840480"/>
            <a:ext cx="3840480" cy="2103120"/>
          </a:xfrm>
          <a:prstGeom prst="rect">
            <a:avLst/>
          </a:prstGeom>
          <a:solidFill>
            <a:srgbClr val="FFFDF8"/>
          </a:solidFill>
          <a:ln w="12700">
            <a:solidFill>
              <a:srgbClr val="B08E66"/>
            </a:solidFill>
            <a:prstDash val="solid"/>
          </a:ln>
        </p:spPr>
      </p:sp>
      <p:sp>
        <p:nvSpPr>
          <p:cNvPr id="13" name="Text 10"/>
          <p:cNvSpPr/>
          <p:nvPr/>
        </p:nvSpPr>
        <p:spPr>
          <a:xfrm>
            <a:off x="7863840" y="3931920"/>
            <a:ext cx="3474720" cy="274320"/>
          </a:xfrm>
          <a:prstGeom prst="rect">
            <a:avLst/>
          </a:prstGeom>
          <a:noFill/>
          <a:ln/>
        </p:spPr>
        <p:txBody>
          <a:bodyPr wrap="square" rtlCol="0" anchor="ctr"/>
          <a:lstStyle/>
          <a:p>
            <a:pPr indent="0" marL="0">
              <a:buNone/>
            </a:pPr>
            <a:r>
              <a:rPr lang="en-US" sz="1200" b="1" dirty="0">
                <a:solidFill>
                  <a:srgbClr val="B08E66"/>
                </a:solidFill>
                <a:latin typeface="Aeonik" pitchFamily="34" charset="0"/>
                <a:ea typeface="Aeonik" pitchFamily="34" charset="-122"/>
                <a:cs typeface="Aeonik" pitchFamily="34" charset="-120"/>
              </a:rPr>
              <a:t>LEGACY NODES (28NM+)</a:t>
            </a:r>
            <a:endParaRPr lang="en-US" sz="1200" dirty="0"/>
          </a:p>
        </p:txBody>
      </p:sp>
      <p:sp>
        <p:nvSpPr>
          <p:cNvPr id="14" name="Text 11"/>
          <p:cNvSpPr/>
          <p:nvPr/>
        </p:nvSpPr>
        <p:spPr>
          <a:xfrm>
            <a:off x="7863840" y="4251960"/>
            <a:ext cx="3474720" cy="1600200"/>
          </a:xfrm>
          <a:prstGeom prst="rect">
            <a:avLst/>
          </a:prstGeom>
          <a:noFill/>
          <a:ln/>
        </p:spPr>
        <p:txBody>
          <a:bodyPr wrap="square" rtlCol="0" anchor="ctr"/>
          <a:lstStyle/>
          <a:p>
            <a:pPr indent="0" marL="0">
              <a:buNone/>
            </a:pPr>
            <a:r>
              <a:rPr lang="en-US" sz="1300" dirty="0">
                <a:solidFill>
                  <a:srgbClr val="6B6560"/>
                </a:solidFill>
                <a:latin typeface="Aeonik" pitchFamily="34" charset="0"/>
                <a:ea typeface="Aeonik" pitchFamily="34" charset="-122"/>
                <a:cs typeface="Aeonik" pitchFamily="34" charset="-120"/>
              </a:rPr>
              <a:t>Focus: Broad multi-sourcing, alternate distributor qualification, spot buy strategies, and lifecycle obsolescence tracking.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indent="0" marL="0">
              <a:buNone/>
            </a:pPr>
            <a:r>
              <a:rPr lang="en-US" sz="1200" b="1" spc="150" kern="0" dirty="0">
                <a:solidFill>
                  <a:srgbClr val="B84A2F"/>
                </a:solidFill>
                <a:latin typeface="Aeonik" pitchFamily="34" charset="0"/>
                <a:ea typeface="Aeonik" pitchFamily="34" charset="-122"/>
                <a:cs typeface="Aeonik" pitchFamily="34" charset="-120"/>
              </a:rPr>
              <a:t>PART 1: PROCUREMENT OF SEMICONDUCTORS</a:t>
            </a:r>
            <a:endParaRPr lang="en-US" sz="1200" dirty="0"/>
          </a:p>
        </p:txBody>
      </p:sp>
      <p:sp>
        <p:nvSpPr>
          <p:cNvPr id="3" name="Text 1"/>
          <p:cNvSpPr/>
          <p:nvPr/>
        </p:nvSpPr>
        <p:spPr>
          <a:xfrm>
            <a:off x="548640" y="640080"/>
            <a:ext cx="10972800" cy="548640"/>
          </a:xfrm>
          <a:prstGeom prst="rect">
            <a:avLst/>
          </a:prstGeom>
          <a:noFill/>
          <a:ln/>
        </p:spPr>
        <p:txBody>
          <a:bodyPr wrap="square" rtlCol="0" anchor="ctr"/>
          <a:lstStyle/>
          <a:p>
            <a:pPr indent="0" marL="0">
              <a:buNone/>
            </a:pPr>
            <a:r>
              <a:rPr lang="en-US" sz="3200" b="1" dirty="0">
                <a:solidFill>
                  <a:srgbClr val="1A1714"/>
                </a:solidFill>
                <a:latin typeface="PP Mondwest" pitchFamily="34" charset="0"/>
                <a:ea typeface="PP Mondwest" pitchFamily="34" charset="-122"/>
                <a:cs typeface="PP Mondwest" pitchFamily="34" charset="-120"/>
              </a:rPr>
              <a:t>Digitalization &amp; Resilience in Procurement</a:t>
            </a:r>
            <a:endParaRPr lang="en-US" sz="3200" dirty="0"/>
          </a:p>
        </p:txBody>
      </p:sp>
      <p:sp>
        <p:nvSpPr>
          <p:cNvPr id="4" name="Text 2"/>
          <p:cNvSpPr/>
          <p:nvPr/>
        </p:nvSpPr>
        <p:spPr>
          <a:xfrm>
            <a:off x="548640" y="6400800"/>
            <a:ext cx="10972800" cy="274320"/>
          </a:xfrm>
          <a:prstGeom prst="rect">
            <a:avLst/>
          </a:prstGeom>
          <a:noFill/>
          <a:ln/>
        </p:spPr>
        <p:txBody>
          <a:bodyPr wrap="square" rtlCol="0" anchor="ctr"/>
          <a:lstStyle/>
          <a:p>
            <a:pPr indent="0" marL="0">
              <a:buNone/>
            </a:pPr>
            <a:r>
              <a:rPr lang="en-US" sz="1000" dirty="0">
                <a:solidFill>
                  <a:srgbClr val="6B6560"/>
                </a:solidFill>
                <a:latin typeface="Aeonik" pitchFamily="34" charset="0"/>
                <a:ea typeface="Aeonik" pitchFamily="34" charset="-122"/>
                <a:cs typeface="Aeonik" pitchFamily="34" charset="-120"/>
              </a:rPr>
              <a:t>The 2026 Semiconductor Ecosystem | Slide 05</a:t>
            </a:r>
            <a:endParaRPr lang="en-US" sz="1000" dirty="0"/>
          </a:p>
        </p:txBody>
      </p:sp>
      <p:sp>
        <p:nvSpPr>
          <p:cNvPr id="6" name="Shape 3"/>
          <p:cNvSpPr/>
          <p:nvPr/>
        </p:nvSpPr>
        <p:spPr>
          <a:xfrm>
            <a:off x="548640" y="1371600"/>
            <a:ext cx="10972800" cy="914400"/>
          </a:xfrm>
          <a:prstGeom prst="rect">
            <a:avLst/>
          </a:prstGeom>
          <a:solidFill>
            <a:srgbClr val="FFFDF8"/>
          </a:solidFill>
          <a:ln w="19050">
            <a:solidFill>
              <a:srgbClr val="B84A2F"/>
            </a:solidFill>
            <a:prstDash val="solid"/>
          </a:ln>
        </p:spPr>
      </p:sp>
      <p:sp>
        <p:nvSpPr>
          <p:cNvPr id="7" name="Text 4"/>
          <p:cNvSpPr/>
          <p:nvPr/>
        </p:nvSpPr>
        <p:spPr>
          <a:xfrm>
            <a:off x="731520" y="1463040"/>
            <a:ext cx="10607040" cy="731520"/>
          </a:xfrm>
          <a:prstGeom prst="rect">
            <a:avLst/>
          </a:prstGeom>
          <a:noFill/>
          <a:ln/>
        </p:spPr>
        <p:txBody>
          <a:bodyPr wrap="square" rtlCol="0" anchor="ctr"/>
          <a:lstStyle/>
          <a:p>
            <a:pPr indent="0" marL="0">
              <a:buNone/>
            </a:pPr>
            <a:r>
              <a:rPr lang="en-US" sz="1800" b="1" i="1" dirty="0">
                <a:solidFill>
                  <a:srgbClr val="B84A2F"/>
                </a:solidFill>
                <a:latin typeface="Bookman ITC Std" pitchFamily="34" charset="0"/>
                <a:ea typeface="Bookman ITC Std" pitchFamily="34" charset="-122"/>
                <a:cs typeface="Bookman ITC Std" pitchFamily="34" charset="-120"/>
              </a:rPr>
              <a:t>AI-driven "Business Intelligence Cockpits" are essential for predicting shortages 6-12 months in advance.</a:t>
            </a:r>
            <a:endParaRPr lang="en-US" sz="1800" dirty="0"/>
          </a:p>
        </p:txBody>
      </p:sp>
      <p:sp>
        <p:nvSpPr>
          <p:cNvPr id="8" name="Shape 5"/>
          <p:cNvSpPr/>
          <p:nvPr/>
        </p:nvSpPr>
        <p:spPr>
          <a:xfrm>
            <a:off x="548640" y="2560320"/>
            <a:ext cx="5212080" cy="2377440"/>
          </a:xfrm>
          <a:prstGeom prst="rect">
            <a:avLst/>
          </a:prstGeom>
          <a:solidFill>
            <a:srgbClr val="FFFDF8"/>
          </a:solidFill>
          <a:ln w="12700">
            <a:solidFill>
              <a:srgbClr val="E0D9D0"/>
            </a:solidFill>
            <a:prstDash val="solid"/>
          </a:ln>
        </p:spPr>
      </p:sp>
      <p:sp>
        <p:nvSpPr>
          <p:cNvPr id="9" name="Text 6"/>
          <p:cNvSpPr/>
          <p:nvPr/>
        </p:nvSpPr>
        <p:spPr>
          <a:xfrm>
            <a:off x="822960" y="2743200"/>
            <a:ext cx="4663440" cy="365760"/>
          </a:xfrm>
          <a:prstGeom prst="rect">
            <a:avLst/>
          </a:prstGeom>
          <a:noFill/>
          <a:ln/>
        </p:spPr>
        <p:txBody>
          <a:bodyPr wrap="square" rtlCol="0" anchor="ctr"/>
          <a:lstStyle/>
          <a:p>
            <a:pPr indent="0" marL="0">
              <a:buNone/>
            </a:pPr>
            <a:r>
              <a:rPr lang="en-US" sz="2000" b="1" dirty="0">
                <a:solidFill>
                  <a:srgbClr val="B84A2F"/>
                </a:solidFill>
                <a:latin typeface="PP Mondwest" pitchFamily="34" charset="0"/>
                <a:ea typeface="PP Mondwest" pitchFamily="34" charset="-122"/>
                <a:cs typeface="PP Mondwest" pitchFamily="34" charset="-120"/>
              </a:rPr>
              <a:t>LTA &amp; Reservation Fees</a:t>
            </a:r>
            <a:endParaRPr lang="en-US" sz="2000" dirty="0"/>
          </a:p>
        </p:txBody>
      </p:sp>
      <p:sp>
        <p:nvSpPr>
          <p:cNvPr id="10" name="Text 7"/>
          <p:cNvSpPr/>
          <p:nvPr/>
        </p:nvSpPr>
        <p:spPr>
          <a:xfrm>
            <a:off x="822960" y="3291840"/>
            <a:ext cx="4663440" cy="1371600"/>
          </a:xfrm>
          <a:prstGeom prst="rect">
            <a:avLst/>
          </a:prstGeom>
          <a:noFill/>
          <a:ln/>
        </p:spPr>
        <p:txBody>
          <a:bodyPr wrap="square" rtlCol="0" anchor="ctr"/>
          <a:lstStyle/>
          <a:p>
            <a:pPr indent="0" marL="0">
              <a:buNone/>
            </a:pPr>
            <a:r>
              <a:rPr lang="en-US" sz="1800" dirty="0">
                <a:solidFill>
                  <a:srgbClr val="6B6560"/>
                </a:solidFill>
                <a:latin typeface="Aeonik" pitchFamily="34" charset="0"/>
                <a:ea typeface="Aeonik" pitchFamily="34" charset="-122"/>
                <a:cs typeface="Aeonik" pitchFamily="34" charset="-120"/>
              </a:rPr>
              <a:t>Securing fab slots requires upfront reservation fees and take-or-pay clauses in Long-Term Agreements (LTAs) to lock down volume.</a:t>
            </a:r>
            <a:endParaRPr lang="en-US" sz="1800" dirty="0"/>
          </a:p>
        </p:txBody>
      </p:sp>
      <p:sp>
        <p:nvSpPr>
          <p:cNvPr id="11" name="Shape 8"/>
          <p:cNvSpPr/>
          <p:nvPr/>
        </p:nvSpPr>
        <p:spPr>
          <a:xfrm>
            <a:off x="6309360" y="2560320"/>
            <a:ext cx="5212080" cy="2377440"/>
          </a:xfrm>
          <a:prstGeom prst="rect">
            <a:avLst/>
          </a:prstGeom>
          <a:solidFill>
            <a:srgbClr val="FFFDF8"/>
          </a:solidFill>
          <a:ln w="12700">
            <a:solidFill>
              <a:srgbClr val="E0D9D0"/>
            </a:solidFill>
            <a:prstDash val="solid"/>
          </a:ln>
        </p:spPr>
      </p:sp>
      <p:sp>
        <p:nvSpPr>
          <p:cNvPr id="12" name="Text 9"/>
          <p:cNvSpPr/>
          <p:nvPr/>
        </p:nvSpPr>
        <p:spPr>
          <a:xfrm>
            <a:off x="6583680" y="2743200"/>
            <a:ext cx="4663440" cy="365760"/>
          </a:xfrm>
          <a:prstGeom prst="rect">
            <a:avLst/>
          </a:prstGeom>
          <a:noFill/>
          <a:ln/>
        </p:spPr>
        <p:txBody>
          <a:bodyPr wrap="square" rtlCol="0" anchor="ctr"/>
          <a:lstStyle/>
          <a:p>
            <a:pPr indent="0" marL="0">
              <a:buNone/>
            </a:pPr>
            <a:r>
              <a:rPr lang="en-US" sz="2000" b="1" dirty="0">
                <a:solidFill>
                  <a:srgbClr val="768C7C"/>
                </a:solidFill>
                <a:latin typeface="PP Mondwest" pitchFamily="34" charset="0"/>
                <a:ea typeface="PP Mondwest" pitchFamily="34" charset="-122"/>
                <a:cs typeface="PP Mondwest" pitchFamily="34" charset="-120"/>
              </a:rPr>
              <a:t>Friend-Shoring Sourcing</a:t>
            </a:r>
            <a:endParaRPr lang="en-US" sz="2000" dirty="0"/>
          </a:p>
        </p:txBody>
      </p:sp>
      <p:sp>
        <p:nvSpPr>
          <p:cNvPr id="13" name="Text 10"/>
          <p:cNvSpPr/>
          <p:nvPr/>
        </p:nvSpPr>
        <p:spPr>
          <a:xfrm>
            <a:off x="6583680" y="3291840"/>
            <a:ext cx="4663440" cy="1371600"/>
          </a:xfrm>
          <a:prstGeom prst="rect">
            <a:avLst/>
          </a:prstGeom>
          <a:noFill/>
          <a:ln/>
        </p:spPr>
        <p:txBody>
          <a:bodyPr wrap="square" rtlCol="0" anchor="ctr"/>
          <a:lstStyle/>
          <a:p>
            <a:pPr indent="0" marL="0">
              <a:buNone/>
            </a:pPr>
            <a:r>
              <a:rPr lang="en-US" sz="1800" dirty="0">
                <a:solidFill>
                  <a:srgbClr val="6B6560"/>
                </a:solidFill>
                <a:latin typeface="Aeonik" pitchFamily="34" charset="0"/>
                <a:ea typeface="Aeonik" pitchFamily="34" charset="-122"/>
                <a:cs typeface="Aeonik" pitchFamily="34" charset="-120"/>
              </a:rPr>
              <a:t>Decoupling supply links from high-risk locations, redirecting procurement to allied geopolitical nodes with guaranteed supply lines.</a:t>
            </a:r>
            <a:endParaRPr lang="en-US" sz="1800" dirty="0"/>
          </a:p>
        </p:txBody>
      </p:sp>
      <p:sp>
        <p:nvSpPr>
          <p:cNvPr id="14" name="Shape 11"/>
          <p:cNvSpPr/>
          <p:nvPr/>
        </p:nvSpPr>
        <p:spPr>
          <a:xfrm>
            <a:off x="548640" y="5212080"/>
            <a:ext cx="10972800" cy="822960"/>
          </a:xfrm>
          <a:prstGeom prst="rect">
            <a:avLst/>
          </a:prstGeom>
          <a:solidFill>
            <a:srgbClr val="FFFDF8"/>
          </a:solidFill>
          <a:ln w="12700">
            <a:solidFill>
              <a:srgbClr val="B84A2F"/>
            </a:solidFill>
            <a:prstDash val="solid"/>
          </a:ln>
        </p:spPr>
      </p:sp>
      <p:sp>
        <p:nvSpPr>
          <p:cNvPr id="15" name="Text 12"/>
          <p:cNvSpPr/>
          <p:nvPr/>
        </p:nvSpPr>
        <p:spPr>
          <a:xfrm>
            <a:off x="731520" y="5257800"/>
            <a:ext cx="10607040" cy="731520"/>
          </a:xfrm>
          <a:prstGeom prst="rect">
            <a:avLst/>
          </a:prstGeom>
          <a:noFill/>
          <a:ln/>
        </p:spPr>
        <p:txBody>
          <a:bodyPr wrap="square" rtlCol="0" anchor="ctr"/>
          <a:lstStyle/>
          <a:p>
            <a:pPr indent="0" marL="0">
              <a:buNone/>
            </a:pPr>
            <a:r>
              <a:rPr lang="en-US" sz="1300" b="1" dirty="0">
                <a:solidFill>
                  <a:srgbClr val="1A1714"/>
                </a:solidFill>
                <a:latin typeface="Aeonik" pitchFamily="34" charset="0"/>
                <a:ea typeface="Aeonik" pitchFamily="34" charset="-122"/>
                <a:cs typeface="Aeonik" pitchFamily="34" charset="-120"/>
              </a:rPr>
              <a:t>AI Business Intelligence Cockpits: </a:t>
            </a:r>
            <a:pPr indent="0" marL="0">
              <a:buNone/>
            </a:pPr>
            <a:r>
              <a:rPr lang="en-US" sz="1300" dirty="0">
                <a:solidFill>
                  <a:srgbClr val="6B6560"/>
                </a:solidFill>
                <a:latin typeface="Aeonik" pitchFamily="34" charset="0"/>
                <a:ea typeface="Aeonik" pitchFamily="34" charset="-122"/>
                <a:cs typeface="Aeonik" pitchFamily="34" charset="-120"/>
              </a:rPr>
              <a:t>Advanced analytics systems parse unstructured global feeds—including weather logs, border congestion, and raw chemical shortages—to build a multi-tier dependency map, tracking Tier-2/3 volatility and supplier insolvency risks before they disrupt Tier-1 deliveries.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indent="0" marL="0">
              <a:buNone/>
            </a:pPr>
            <a:r>
              <a:rPr lang="en-US" sz="1200" b="1" spc="150" kern="0" dirty="0">
                <a:solidFill>
                  <a:srgbClr val="B84A2F"/>
                </a:solidFill>
                <a:latin typeface="Aeonik" pitchFamily="34" charset="0"/>
                <a:ea typeface="Aeonik" pitchFamily="34" charset="-122"/>
                <a:cs typeface="Aeonik" pitchFamily="34" charset="-120"/>
              </a:rPr>
              <a:t>PART 2: THE GLOBAL SUPPLY CHAIN OF SEMICONDUCTORS</a:t>
            </a:r>
            <a:endParaRPr lang="en-US" sz="1200" dirty="0"/>
          </a:p>
        </p:txBody>
      </p:sp>
      <p:sp>
        <p:nvSpPr>
          <p:cNvPr id="3" name="Text 1"/>
          <p:cNvSpPr/>
          <p:nvPr/>
        </p:nvSpPr>
        <p:spPr>
          <a:xfrm>
            <a:off x="548640" y="640080"/>
            <a:ext cx="10972800" cy="548640"/>
          </a:xfrm>
          <a:prstGeom prst="rect">
            <a:avLst/>
          </a:prstGeom>
          <a:noFill/>
          <a:ln/>
        </p:spPr>
        <p:txBody>
          <a:bodyPr wrap="square" rtlCol="0" anchor="ctr"/>
          <a:lstStyle/>
          <a:p>
            <a:pPr indent="0" marL="0">
              <a:buNone/>
            </a:pPr>
            <a:r>
              <a:rPr lang="en-US" sz="3200" b="1" dirty="0">
                <a:solidFill>
                  <a:srgbClr val="1A1714"/>
                </a:solidFill>
                <a:latin typeface="PP Mondwest" pitchFamily="34" charset="0"/>
                <a:ea typeface="PP Mondwest" pitchFamily="34" charset="-122"/>
                <a:cs typeface="PP Mondwest" pitchFamily="34" charset="-120"/>
              </a:rPr>
              <a:t>The Global Supply Chain: A Web of Complexity</a:t>
            </a:r>
            <a:endParaRPr lang="en-US" sz="3200" dirty="0"/>
          </a:p>
        </p:txBody>
      </p:sp>
      <p:sp>
        <p:nvSpPr>
          <p:cNvPr id="4" name="Text 2"/>
          <p:cNvSpPr/>
          <p:nvPr/>
        </p:nvSpPr>
        <p:spPr>
          <a:xfrm>
            <a:off x="548640" y="6400800"/>
            <a:ext cx="10972800" cy="274320"/>
          </a:xfrm>
          <a:prstGeom prst="rect">
            <a:avLst/>
          </a:prstGeom>
          <a:noFill/>
          <a:ln/>
        </p:spPr>
        <p:txBody>
          <a:bodyPr wrap="square" rtlCol="0" anchor="ctr"/>
          <a:lstStyle/>
          <a:p>
            <a:pPr indent="0" marL="0">
              <a:buNone/>
            </a:pPr>
            <a:r>
              <a:rPr lang="en-US" sz="1000" dirty="0">
                <a:solidFill>
                  <a:srgbClr val="6B6560"/>
                </a:solidFill>
                <a:latin typeface="Aeonik" pitchFamily="34" charset="0"/>
                <a:ea typeface="Aeonik" pitchFamily="34" charset="-122"/>
                <a:cs typeface="Aeonik" pitchFamily="34" charset="-120"/>
              </a:rPr>
              <a:t>The 2026 Semiconductor Ecosystem | Slide 06</a:t>
            </a:r>
            <a:endParaRPr lang="en-US" sz="1000" dirty="0"/>
          </a:p>
        </p:txBody>
      </p:sp>
      <p:sp>
        <p:nvSpPr>
          <p:cNvPr id="6" name="Shape 3"/>
          <p:cNvSpPr/>
          <p:nvPr/>
        </p:nvSpPr>
        <p:spPr>
          <a:xfrm>
            <a:off x="548640" y="1371600"/>
            <a:ext cx="10972800" cy="914400"/>
          </a:xfrm>
          <a:prstGeom prst="rect">
            <a:avLst/>
          </a:prstGeom>
          <a:solidFill>
            <a:srgbClr val="FFFDF8"/>
          </a:solidFill>
          <a:ln w="19050">
            <a:solidFill>
              <a:srgbClr val="B84A2F"/>
            </a:solidFill>
            <a:prstDash val="solid"/>
          </a:ln>
        </p:spPr>
      </p:sp>
      <p:sp>
        <p:nvSpPr>
          <p:cNvPr id="7" name="Text 4"/>
          <p:cNvSpPr/>
          <p:nvPr/>
        </p:nvSpPr>
        <p:spPr>
          <a:xfrm>
            <a:off x="731520" y="1463040"/>
            <a:ext cx="10607040" cy="731520"/>
          </a:xfrm>
          <a:prstGeom prst="rect">
            <a:avLst/>
          </a:prstGeom>
          <a:noFill/>
          <a:ln/>
        </p:spPr>
        <p:txBody>
          <a:bodyPr wrap="square" rtlCol="0" anchor="ctr"/>
          <a:lstStyle/>
          <a:p>
            <a:pPr indent="0" marL="0">
              <a:buNone/>
            </a:pPr>
            <a:r>
              <a:rPr lang="en-US" sz="1800" b="1" i="1" dirty="0">
                <a:solidFill>
                  <a:srgbClr val="B84A2F"/>
                </a:solidFill>
                <a:latin typeface="Bookman ITC Std" pitchFamily="34" charset="0"/>
                <a:ea typeface="Bookman ITC Std" pitchFamily="34" charset="-122"/>
                <a:cs typeface="Bookman ITC Std" pitchFamily="34" charset="-120"/>
              </a:rPr>
              <a:t>A single chip may cross international borders over 70 times, making it the most geographically dispersed value chain in history.</a:t>
            </a:r>
            <a:endParaRPr lang="en-US" sz="1800" dirty="0"/>
          </a:p>
        </p:txBody>
      </p:sp>
      <p:sp>
        <p:nvSpPr>
          <p:cNvPr id="8" name="Text 5"/>
          <p:cNvSpPr/>
          <p:nvPr/>
        </p:nvSpPr>
        <p:spPr>
          <a:xfrm>
            <a:off x="548640" y="2560320"/>
            <a:ext cx="10972800" cy="365760"/>
          </a:xfrm>
          <a:prstGeom prst="rect">
            <a:avLst/>
          </a:prstGeom>
          <a:noFill/>
          <a:ln/>
        </p:spPr>
        <p:txBody>
          <a:bodyPr wrap="square" rtlCol="0" anchor="ctr"/>
          <a:lstStyle/>
          <a:p>
            <a:pPr indent="0" marL="0">
              <a:buNone/>
            </a:pPr>
            <a:r>
              <a:rPr lang="en-US" sz="1600" b="1" dirty="0">
                <a:solidFill>
                  <a:srgbClr val="768C7C"/>
                </a:solidFill>
                <a:latin typeface="Aeonik" pitchFamily="34" charset="0"/>
                <a:ea typeface="Aeonik" pitchFamily="34" charset="-122"/>
                <a:cs typeface="Aeonik" pitchFamily="34" charset="-120"/>
              </a:rPr>
              <a:t>THE SILICON JOURNEY</a:t>
            </a:r>
            <a:endParaRPr lang="en-US" sz="1600" dirty="0"/>
          </a:p>
        </p:txBody>
      </p:sp>
      <p:sp>
        <p:nvSpPr>
          <p:cNvPr id="9" name="Shape 6"/>
          <p:cNvSpPr/>
          <p:nvPr/>
        </p:nvSpPr>
        <p:spPr>
          <a:xfrm>
            <a:off x="548640" y="3108960"/>
            <a:ext cx="1828800" cy="2377440"/>
          </a:xfrm>
          <a:prstGeom prst="rect">
            <a:avLst/>
          </a:prstGeom>
          <a:solidFill>
            <a:srgbClr val="FFFDF8"/>
          </a:solidFill>
          <a:ln w="12700">
            <a:solidFill>
              <a:srgbClr val="E0D9D0"/>
            </a:solidFill>
            <a:prstDash val="solid"/>
          </a:ln>
        </p:spPr>
      </p:sp>
      <p:sp>
        <p:nvSpPr>
          <p:cNvPr id="10" name="Text 7"/>
          <p:cNvSpPr/>
          <p:nvPr/>
        </p:nvSpPr>
        <p:spPr>
          <a:xfrm>
            <a:off x="731520" y="3291840"/>
            <a:ext cx="1463040" cy="365760"/>
          </a:xfrm>
          <a:prstGeom prst="rect">
            <a:avLst/>
          </a:prstGeom>
          <a:noFill/>
          <a:ln/>
        </p:spPr>
        <p:txBody>
          <a:bodyPr wrap="square" rtlCol="0" anchor="ctr"/>
          <a:lstStyle/>
          <a:p>
            <a:pPr indent="0" marL="0">
              <a:buNone/>
            </a:pPr>
            <a:r>
              <a:rPr lang="en-US" sz="2400" b="1" dirty="0">
                <a:solidFill>
                  <a:srgbClr val="B84A2F"/>
                </a:solidFill>
                <a:latin typeface="PP Mondwest" pitchFamily="34" charset="0"/>
                <a:ea typeface="PP Mondwest" pitchFamily="34" charset="-122"/>
                <a:cs typeface="PP Mondwest" pitchFamily="34" charset="-120"/>
              </a:rPr>
              <a:t>1</a:t>
            </a:r>
            <a:endParaRPr lang="en-US" sz="2400" dirty="0"/>
          </a:p>
        </p:txBody>
      </p:sp>
      <p:sp>
        <p:nvSpPr>
          <p:cNvPr id="11" name="Text 8"/>
          <p:cNvSpPr/>
          <p:nvPr/>
        </p:nvSpPr>
        <p:spPr>
          <a:xfrm>
            <a:off x="731520" y="3749040"/>
            <a:ext cx="1463040" cy="365760"/>
          </a:xfrm>
          <a:prstGeom prst="rect">
            <a:avLst/>
          </a:prstGeom>
          <a:noFill/>
          <a:ln/>
        </p:spPr>
        <p:txBody>
          <a:bodyPr wrap="square" rtlCol="0" anchor="ctr"/>
          <a:lstStyle/>
          <a:p>
            <a:pPr indent="0" marL="0">
              <a:buNone/>
            </a:pPr>
            <a:r>
              <a:rPr lang="en-US" sz="1800" b="1" dirty="0">
                <a:solidFill>
                  <a:srgbClr val="1A1714"/>
                </a:solidFill>
                <a:latin typeface="Aeonik" pitchFamily="34" charset="0"/>
                <a:ea typeface="Aeonik" pitchFamily="34" charset="-122"/>
                <a:cs typeface="Aeonik" pitchFamily="34" charset="-120"/>
              </a:rPr>
              <a:t>US Design</a:t>
            </a:r>
            <a:endParaRPr lang="en-US" sz="1800" dirty="0"/>
          </a:p>
        </p:txBody>
      </p:sp>
      <p:sp>
        <p:nvSpPr>
          <p:cNvPr id="12" name="Text 9"/>
          <p:cNvSpPr/>
          <p:nvPr/>
        </p:nvSpPr>
        <p:spPr>
          <a:xfrm>
            <a:off x="731520" y="4206240"/>
            <a:ext cx="1463040" cy="1097280"/>
          </a:xfrm>
          <a:prstGeom prst="rect">
            <a:avLst/>
          </a:prstGeom>
          <a:noFill/>
          <a:ln/>
        </p:spPr>
        <p:txBody>
          <a:bodyPr wrap="square" rtlCol="0" anchor="ctr"/>
          <a:lstStyle/>
          <a:p>
            <a:pPr indent="0" marL="0">
              <a:buNone/>
            </a:pPr>
            <a:r>
              <a:rPr lang="en-US" sz="1400" dirty="0">
                <a:solidFill>
                  <a:srgbClr val="6B6560"/>
                </a:solidFill>
                <a:latin typeface="Aeonik" pitchFamily="34" charset="0"/>
                <a:ea typeface="Aeonik" pitchFamily="34" charset="-122"/>
                <a:cs typeface="Aeonik" pitchFamily="34" charset="-120"/>
              </a:rPr>
              <a:t>Design &amp; EDA Tools</a:t>
            </a:r>
            <a:endParaRPr lang="en-US" sz="1400" dirty="0"/>
          </a:p>
        </p:txBody>
      </p:sp>
      <p:sp>
        <p:nvSpPr>
          <p:cNvPr id="13" name="Shape 10"/>
          <p:cNvSpPr/>
          <p:nvPr/>
        </p:nvSpPr>
        <p:spPr>
          <a:xfrm>
            <a:off x="2834640" y="3108960"/>
            <a:ext cx="1828800" cy="2377440"/>
          </a:xfrm>
          <a:prstGeom prst="rect">
            <a:avLst/>
          </a:prstGeom>
          <a:solidFill>
            <a:srgbClr val="FFFDF8"/>
          </a:solidFill>
          <a:ln w="12700">
            <a:solidFill>
              <a:srgbClr val="E0D9D0"/>
            </a:solidFill>
            <a:prstDash val="solid"/>
          </a:ln>
        </p:spPr>
      </p:sp>
      <p:sp>
        <p:nvSpPr>
          <p:cNvPr id="14" name="Text 11"/>
          <p:cNvSpPr/>
          <p:nvPr/>
        </p:nvSpPr>
        <p:spPr>
          <a:xfrm>
            <a:off x="3017520" y="3291840"/>
            <a:ext cx="1463040" cy="365760"/>
          </a:xfrm>
          <a:prstGeom prst="rect">
            <a:avLst/>
          </a:prstGeom>
          <a:noFill/>
          <a:ln/>
        </p:spPr>
        <p:txBody>
          <a:bodyPr wrap="square" rtlCol="0" anchor="ctr"/>
          <a:lstStyle/>
          <a:p>
            <a:pPr indent="0" marL="0">
              <a:buNone/>
            </a:pPr>
            <a:r>
              <a:rPr lang="en-US" sz="2400" b="1" dirty="0">
                <a:solidFill>
                  <a:srgbClr val="B84A2F"/>
                </a:solidFill>
                <a:latin typeface="PP Mondwest" pitchFamily="34" charset="0"/>
                <a:ea typeface="PP Mondwest" pitchFamily="34" charset="-122"/>
                <a:cs typeface="PP Mondwest" pitchFamily="34" charset="-120"/>
              </a:rPr>
              <a:t>2</a:t>
            </a:r>
            <a:endParaRPr lang="en-US" sz="2400" dirty="0"/>
          </a:p>
        </p:txBody>
      </p:sp>
      <p:sp>
        <p:nvSpPr>
          <p:cNvPr id="15" name="Text 12"/>
          <p:cNvSpPr/>
          <p:nvPr/>
        </p:nvSpPr>
        <p:spPr>
          <a:xfrm>
            <a:off x="3017520" y="3749040"/>
            <a:ext cx="1463040" cy="365760"/>
          </a:xfrm>
          <a:prstGeom prst="rect">
            <a:avLst/>
          </a:prstGeom>
          <a:noFill/>
          <a:ln/>
        </p:spPr>
        <p:txBody>
          <a:bodyPr wrap="square" rtlCol="0" anchor="ctr"/>
          <a:lstStyle/>
          <a:p>
            <a:pPr indent="0" marL="0">
              <a:buNone/>
            </a:pPr>
            <a:r>
              <a:rPr lang="en-US" sz="1800" b="1" dirty="0">
                <a:solidFill>
                  <a:srgbClr val="1A1714"/>
                </a:solidFill>
                <a:latin typeface="Aeonik" pitchFamily="34" charset="0"/>
                <a:ea typeface="Aeonik" pitchFamily="34" charset="-122"/>
                <a:cs typeface="Aeonik" pitchFamily="34" charset="-120"/>
              </a:rPr>
              <a:t>Dutch SME</a:t>
            </a:r>
            <a:endParaRPr lang="en-US" sz="1800" dirty="0"/>
          </a:p>
        </p:txBody>
      </p:sp>
      <p:sp>
        <p:nvSpPr>
          <p:cNvPr id="16" name="Text 13"/>
          <p:cNvSpPr/>
          <p:nvPr/>
        </p:nvSpPr>
        <p:spPr>
          <a:xfrm>
            <a:off x="3017520" y="4206240"/>
            <a:ext cx="1463040" cy="1097280"/>
          </a:xfrm>
          <a:prstGeom prst="rect">
            <a:avLst/>
          </a:prstGeom>
          <a:noFill/>
          <a:ln/>
        </p:spPr>
        <p:txBody>
          <a:bodyPr wrap="square" rtlCol="0" anchor="ctr"/>
          <a:lstStyle/>
          <a:p>
            <a:pPr indent="0" marL="0">
              <a:buNone/>
            </a:pPr>
            <a:r>
              <a:rPr lang="en-US" sz="1400" dirty="0">
                <a:solidFill>
                  <a:srgbClr val="6B6560"/>
                </a:solidFill>
                <a:latin typeface="Aeonik" pitchFamily="34" charset="0"/>
                <a:ea typeface="Aeonik" pitchFamily="34" charset="-122"/>
                <a:cs typeface="Aeonik" pitchFamily="34" charset="-120"/>
              </a:rPr>
              <a:t>ASML EUV Optics</a:t>
            </a:r>
            <a:endParaRPr lang="en-US" sz="1400" dirty="0"/>
          </a:p>
        </p:txBody>
      </p:sp>
      <p:sp>
        <p:nvSpPr>
          <p:cNvPr id="17" name="Shape 14"/>
          <p:cNvSpPr/>
          <p:nvPr/>
        </p:nvSpPr>
        <p:spPr>
          <a:xfrm>
            <a:off x="5120640" y="3108960"/>
            <a:ext cx="1828800" cy="2377440"/>
          </a:xfrm>
          <a:prstGeom prst="rect">
            <a:avLst/>
          </a:prstGeom>
          <a:solidFill>
            <a:srgbClr val="FFFDF8"/>
          </a:solidFill>
          <a:ln w="12700">
            <a:solidFill>
              <a:srgbClr val="E0D9D0"/>
            </a:solidFill>
            <a:prstDash val="solid"/>
          </a:ln>
        </p:spPr>
      </p:sp>
      <p:sp>
        <p:nvSpPr>
          <p:cNvPr id="18" name="Text 15"/>
          <p:cNvSpPr/>
          <p:nvPr/>
        </p:nvSpPr>
        <p:spPr>
          <a:xfrm>
            <a:off x="5303520" y="3291840"/>
            <a:ext cx="1463040" cy="365760"/>
          </a:xfrm>
          <a:prstGeom prst="rect">
            <a:avLst/>
          </a:prstGeom>
          <a:noFill/>
          <a:ln/>
        </p:spPr>
        <p:txBody>
          <a:bodyPr wrap="square" rtlCol="0" anchor="ctr"/>
          <a:lstStyle/>
          <a:p>
            <a:pPr indent="0" marL="0">
              <a:buNone/>
            </a:pPr>
            <a:r>
              <a:rPr lang="en-US" sz="2400" b="1" dirty="0">
                <a:solidFill>
                  <a:srgbClr val="B84A2F"/>
                </a:solidFill>
                <a:latin typeface="PP Mondwest" pitchFamily="34" charset="0"/>
                <a:ea typeface="PP Mondwest" pitchFamily="34" charset="-122"/>
                <a:cs typeface="PP Mondwest" pitchFamily="34" charset="-120"/>
              </a:rPr>
              <a:t>3</a:t>
            </a:r>
            <a:endParaRPr lang="en-US" sz="2400" dirty="0"/>
          </a:p>
        </p:txBody>
      </p:sp>
      <p:sp>
        <p:nvSpPr>
          <p:cNvPr id="19" name="Text 16"/>
          <p:cNvSpPr/>
          <p:nvPr/>
        </p:nvSpPr>
        <p:spPr>
          <a:xfrm>
            <a:off x="5303520" y="3749040"/>
            <a:ext cx="1463040" cy="365760"/>
          </a:xfrm>
          <a:prstGeom prst="rect">
            <a:avLst/>
          </a:prstGeom>
          <a:noFill/>
          <a:ln/>
        </p:spPr>
        <p:txBody>
          <a:bodyPr wrap="square" rtlCol="0" anchor="ctr"/>
          <a:lstStyle/>
          <a:p>
            <a:pPr indent="0" marL="0">
              <a:buNone/>
            </a:pPr>
            <a:r>
              <a:rPr lang="en-US" sz="1800" b="1" dirty="0">
                <a:solidFill>
                  <a:srgbClr val="1A1714"/>
                </a:solidFill>
                <a:latin typeface="Aeonik" pitchFamily="34" charset="0"/>
                <a:ea typeface="Aeonik" pitchFamily="34" charset="-122"/>
                <a:cs typeface="Aeonik" pitchFamily="34" charset="-120"/>
              </a:rPr>
              <a:t>Taiwan Fab</a:t>
            </a:r>
            <a:endParaRPr lang="en-US" sz="1800" dirty="0"/>
          </a:p>
        </p:txBody>
      </p:sp>
      <p:sp>
        <p:nvSpPr>
          <p:cNvPr id="20" name="Text 17"/>
          <p:cNvSpPr/>
          <p:nvPr/>
        </p:nvSpPr>
        <p:spPr>
          <a:xfrm>
            <a:off x="5303520" y="4206240"/>
            <a:ext cx="1463040" cy="1097280"/>
          </a:xfrm>
          <a:prstGeom prst="rect">
            <a:avLst/>
          </a:prstGeom>
          <a:noFill/>
          <a:ln/>
        </p:spPr>
        <p:txBody>
          <a:bodyPr wrap="square" rtlCol="0" anchor="ctr"/>
          <a:lstStyle/>
          <a:p>
            <a:pPr indent="0" marL="0">
              <a:buNone/>
            </a:pPr>
            <a:r>
              <a:rPr lang="en-US" sz="1400" dirty="0">
                <a:solidFill>
                  <a:srgbClr val="6B6560"/>
                </a:solidFill>
                <a:latin typeface="Aeonik" pitchFamily="34" charset="0"/>
                <a:ea typeface="Aeonik" pitchFamily="34" charset="-122"/>
                <a:cs typeface="Aeonik" pitchFamily="34" charset="-120"/>
              </a:rPr>
              <a:t>TSMC Printing</a:t>
            </a:r>
            <a:endParaRPr lang="en-US" sz="1400" dirty="0"/>
          </a:p>
        </p:txBody>
      </p:sp>
      <p:sp>
        <p:nvSpPr>
          <p:cNvPr id="21" name="Shape 18"/>
          <p:cNvSpPr/>
          <p:nvPr/>
        </p:nvSpPr>
        <p:spPr>
          <a:xfrm>
            <a:off x="7406640" y="3108960"/>
            <a:ext cx="1828800" cy="2377440"/>
          </a:xfrm>
          <a:prstGeom prst="rect">
            <a:avLst/>
          </a:prstGeom>
          <a:solidFill>
            <a:srgbClr val="FFFDF8"/>
          </a:solidFill>
          <a:ln w="12700">
            <a:solidFill>
              <a:srgbClr val="E0D9D0"/>
            </a:solidFill>
            <a:prstDash val="solid"/>
          </a:ln>
        </p:spPr>
      </p:sp>
      <p:sp>
        <p:nvSpPr>
          <p:cNvPr id="22" name="Text 19"/>
          <p:cNvSpPr/>
          <p:nvPr/>
        </p:nvSpPr>
        <p:spPr>
          <a:xfrm>
            <a:off x="7589520" y="3291840"/>
            <a:ext cx="1463040" cy="365760"/>
          </a:xfrm>
          <a:prstGeom prst="rect">
            <a:avLst/>
          </a:prstGeom>
          <a:noFill/>
          <a:ln/>
        </p:spPr>
        <p:txBody>
          <a:bodyPr wrap="square" rtlCol="0" anchor="ctr"/>
          <a:lstStyle/>
          <a:p>
            <a:pPr indent="0" marL="0">
              <a:buNone/>
            </a:pPr>
            <a:r>
              <a:rPr lang="en-US" sz="2400" b="1" dirty="0">
                <a:solidFill>
                  <a:srgbClr val="B84A2F"/>
                </a:solidFill>
                <a:latin typeface="PP Mondwest" pitchFamily="34" charset="0"/>
                <a:ea typeface="PP Mondwest" pitchFamily="34" charset="-122"/>
                <a:cs typeface="PP Mondwest" pitchFamily="34" charset="-120"/>
              </a:rPr>
              <a:t>4</a:t>
            </a:r>
            <a:endParaRPr lang="en-US" sz="2400" dirty="0"/>
          </a:p>
        </p:txBody>
      </p:sp>
      <p:sp>
        <p:nvSpPr>
          <p:cNvPr id="23" name="Text 20"/>
          <p:cNvSpPr/>
          <p:nvPr/>
        </p:nvSpPr>
        <p:spPr>
          <a:xfrm>
            <a:off x="7589520" y="3749040"/>
            <a:ext cx="1463040" cy="365760"/>
          </a:xfrm>
          <a:prstGeom prst="rect">
            <a:avLst/>
          </a:prstGeom>
          <a:noFill/>
          <a:ln/>
        </p:spPr>
        <p:txBody>
          <a:bodyPr wrap="square" rtlCol="0" anchor="ctr"/>
          <a:lstStyle/>
          <a:p>
            <a:pPr indent="0" marL="0">
              <a:buNone/>
            </a:pPr>
            <a:r>
              <a:rPr lang="en-US" sz="1800" b="1" dirty="0">
                <a:solidFill>
                  <a:srgbClr val="1A1714"/>
                </a:solidFill>
                <a:latin typeface="Aeonik" pitchFamily="34" charset="0"/>
                <a:ea typeface="Aeonik" pitchFamily="34" charset="-122"/>
                <a:cs typeface="Aeonik" pitchFamily="34" charset="-120"/>
              </a:rPr>
              <a:t>Japan Material</a:t>
            </a:r>
            <a:endParaRPr lang="en-US" sz="1800" dirty="0"/>
          </a:p>
        </p:txBody>
      </p:sp>
      <p:sp>
        <p:nvSpPr>
          <p:cNvPr id="24" name="Text 21"/>
          <p:cNvSpPr/>
          <p:nvPr/>
        </p:nvSpPr>
        <p:spPr>
          <a:xfrm>
            <a:off x="7589520" y="4206240"/>
            <a:ext cx="1463040" cy="1097280"/>
          </a:xfrm>
          <a:prstGeom prst="rect">
            <a:avLst/>
          </a:prstGeom>
          <a:noFill/>
          <a:ln/>
        </p:spPr>
        <p:txBody>
          <a:bodyPr wrap="square" rtlCol="0" anchor="ctr"/>
          <a:lstStyle/>
          <a:p>
            <a:pPr indent="0" marL="0">
              <a:buNone/>
            </a:pPr>
            <a:r>
              <a:rPr lang="en-US" sz="1400" dirty="0">
                <a:solidFill>
                  <a:srgbClr val="6B6560"/>
                </a:solidFill>
                <a:latin typeface="Aeonik" pitchFamily="34" charset="0"/>
                <a:ea typeface="Aeonik" pitchFamily="34" charset="-122"/>
                <a:cs typeface="Aeonik" pitchFamily="34" charset="-120"/>
              </a:rPr>
              <a:t>Wafers &amp; Photoresist</a:t>
            </a:r>
            <a:endParaRPr lang="en-US" sz="1400" dirty="0"/>
          </a:p>
        </p:txBody>
      </p:sp>
      <p:sp>
        <p:nvSpPr>
          <p:cNvPr id="25" name="Shape 22"/>
          <p:cNvSpPr/>
          <p:nvPr/>
        </p:nvSpPr>
        <p:spPr>
          <a:xfrm>
            <a:off x="9692640" y="3108960"/>
            <a:ext cx="1828800" cy="2377440"/>
          </a:xfrm>
          <a:prstGeom prst="rect">
            <a:avLst/>
          </a:prstGeom>
          <a:solidFill>
            <a:srgbClr val="FFFDF8"/>
          </a:solidFill>
          <a:ln w="12700">
            <a:solidFill>
              <a:srgbClr val="E0D9D0"/>
            </a:solidFill>
            <a:prstDash val="solid"/>
          </a:ln>
        </p:spPr>
      </p:sp>
      <p:sp>
        <p:nvSpPr>
          <p:cNvPr id="26" name="Text 23"/>
          <p:cNvSpPr/>
          <p:nvPr/>
        </p:nvSpPr>
        <p:spPr>
          <a:xfrm>
            <a:off x="9875520" y="3291840"/>
            <a:ext cx="1463040" cy="365760"/>
          </a:xfrm>
          <a:prstGeom prst="rect">
            <a:avLst/>
          </a:prstGeom>
          <a:noFill/>
          <a:ln/>
        </p:spPr>
        <p:txBody>
          <a:bodyPr wrap="square" rtlCol="0" anchor="ctr"/>
          <a:lstStyle/>
          <a:p>
            <a:pPr indent="0" marL="0">
              <a:buNone/>
            </a:pPr>
            <a:r>
              <a:rPr lang="en-US" sz="2400" b="1" dirty="0">
                <a:solidFill>
                  <a:srgbClr val="B84A2F"/>
                </a:solidFill>
                <a:latin typeface="PP Mondwest" pitchFamily="34" charset="0"/>
                <a:ea typeface="PP Mondwest" pitchFamily="34" charset="-122"/>
                <a:cs typeface="PP Mondwest" pitchFamily="34" charset="-120"/>
              </a:rPr>
              <a:t>5</a:t>
            </a:r>
            <a:endParaRPr lang="en-US" sz="2400" dirty="0"/>
          </a:p>
        </p:txBody>
      </p:sp>
      <p:sp>
        <p:nvSpPr>
          <p:cNvPr id="27" name="Text 24"/>
          <p:cNvSpPr/>
          <p:nvPr/>
        </p:nvSpPr>
        <p:spPr>
          <a:xfrm>
            <a:off x="9875520" y="3749040"/>
            <a:ext cx="1463040" cy="365760"/>
          </a:xfrm>
          <a:prstGeom prst="rect">
            <a:avLst/>
          </a:prstGeom>
          <a:noFill/>
          <a:ln/>
        </p:spPr>
        <p:txBody>
          <a:bodyPr wrap="square" rtlCol="0" anchor="ctr"/>
          <a:lstStyle/>
          <a:p>
            <a:pPr indent="0" marL="0">
              <a:buNone/>
            </a:pPr>
            <a:r>
              <a:rPr lang="en-US" sz="1800" b="1" dirty="0">
                <a:solidFill>
                  <a:srgbClr val="1A1714"/>
                </a:solidFill>
                <a:latin typeface="Aeonik" pitchFamily="34" charset="0"/>
                <a:ea typeface="Aeonik" pitchFamily="34" charset="-122"/>
                <a:cs typeface="Aeonik" pitchFamily="34" charset="-120"/>
              </a:rPr>
              <a:t>SE Asia Pack</a:t>
            </a:r>
            <a:endParaRPr lang="en-US" sz="1800" dirty="0"/>
          </a:p>
        </p:txBody>
      </p:sp>
      <p:sp>
        <p:nvSpPr>
          <p:cNvPr id="28" name="Text 25"/>
          <p:cNvSpPr/>
          <p:nvPr/>
        </p:nvSpPr>
        <p:spPr>
          <a:xfrm>
            <a:off x="9875520" y="4206240"/>
            <a:ext cx="1463040" cy="1097280"/>
          </a:xfrm>
          <a:prstGeom prst="rect">
            <a:avLst/>
          </a:prstGeom>
          <a:noFill/>
          <a:ln/>
        </p:spPr>
        <p:txBody>
          <a:bodyPr wrap="square" rtlCol="0" anchor="ctr"/>
          <a:lstStyle/>
          <a:p>
            <a:pPr indent="0" marL="0">
              <a:buNone/>
            </a:pPr>
            <a:r>
              <a:rPr lang="en-US" sz="1400" dirty="0">
                <a:solidFill>
                  <a:srgbClr val="6B6560"/>
                </a:solidFill>
                <a:latin typeface="Aeonik" pitchFamily="34" charset="0"/>
                <a:ea typeface="Aeonik" pitchFamily="34" charset="-122"/>
                <a:cs typeface="Aeonik" pitchFamily="34" charset="-120"/>
              </a:rPr>
              <a:t>OSAT Assembly</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indent="0" marL="0">
              <a:buNone/>
            </a:pPr>
            <a:r>
              <a:rPr lang="en-US" sz="1200" b="1" spc="150" kern="0" dirty="0">
                <a:solidFill>
                  <a:srgbClr val="B84A2F"/>
                </a:solidFill>
                <a:latin typeface="Aeonik" pitchFamily="34" charset="0"/>
                <a:ea typeface="Aeonik" pitchFamily="34" charset="-122"/>
                <a:cs typeface="Aeonik" pitchFamily="34" charset="-120"/>
              </a:rPr>
              <a:t>PART 2: THE GLOBAL SUPPLY CHAIN OF SEMICONDUCTORS</a:t>
            </a:r>
            <a:endParaRPr lang="en-US" sz="1200" dirty="0"/>
          </a:p>
        </p:txBody>
      </p:sp>
      <p:sp>
        <p:nvSpPr>
          <p:cNvPr id="3" name="Text 1"/>
          <p:cNvSpPr/>
          <p:nvPr/>
        </p:nvSpPr>
        <p:spPr>
          <a:xfrm>
            <a:off x="548640" y="640080"/>
            <a:ext cx="10972800" cy="548640"/>
          </a:xfrm>
          <a:prstGeom prst="rect">
            <a:avLst/>
          </a:prstGeom>
          <a:noFill/>
          <a:ln/>
        </p:spPr>
        <p:txBody>
          <a:bodyPr wrap="square" rtlCol="0" anchor="ctr"/>
          <a:lstStyle/>
          <a:p>
            <a:pPr indent="0" marL="0">
              <a:buNone/>
            </a:pPr>
            <a:r>
              <a:rPr lang="en-US" sz="3200" b="1" dirty="0">
                <a:solidFill>
                  <a:srgbClr val="1A1714"/>
                </a:solidFill>
                <a:latin typeface="PP Mondwest" pitchFamily="34" charset="0"/>
                <a:ea typeface="PP Mondwest" pitchFamily="34" charset="-122"/>
                <a:cs typeface="PP Mondwest" pitchFamily="34" charset="-120"/>
              </a:rPr>
              <a:t>Architecture of the Global Value Chain (GVC)</a:t>
            </a:r>
            <a:endParaRPr lang="en-US" sz="3200" dirty="0"/>
          </a:p>
        </p:txBody>
      </p:sp>
      <p:sp>
        <p:nvSpPr>
          <p:cNvPr id="4" name="Text 2"/>
          <p:cNvSpPr/>
          <p:nvPr/>
        </p:nvSpPr>
        <p:spPr>
          <a:xfrm>
            <a:off x="548640" y="6400800"/>
            <a:ext cx="10972800" cy="274320"/>
          </a:xfrm>
          <a:prstGeom prst="rect">
            <a:avLst/>
          </a:prstGeom>
          <a:noFill/>
          <a:ln/>
        </p:spPr>
        <p:txBody>
          <a:bodyPr wrap="square" rtlCol="0" anchor="ctr"/>
          <a:lstStyle/>
          <a:p>
            <a:pPr indent="0" marL="0">
              <a:buNone/>
            </a:pPr>
            <a:r>
              <a:rPr lang="en-US" sz="1000" dirty="0">
                <a:solidFill>
                  <a:srgbClr val="6B6560"/>
                </a:solidFill>
                <a:latin typeface="Aeonik" pitchFamily="34" charset="0"/>
                <a:ea typeface="Aeonik" pitchFamily="34" charset="-122"/>
                <a:cs typeface="Aeonik" pitchFamily="34" charset="-120"/>
              </a:rPr>
              <a:t>The 2026 Semiconductor Ecosystem | Slide 07</a:t>
            </a:r>
            <a:endParaRPr lang="en-US" sz="1000" dirty="0"/>
          </a:p>
        </p:txBody>
      </p:sp>
      <p:sp>
        <p:nvSpPr>
          <p:cNvPr id="6" name="Shape 3"/>
          <p:cNvSpPr/>
          <p:nvPr/>
        </p:nvSpPr>
        <p:spPr>
          <a:xfrm>
            <a:off x="548640" y="1371600"/>
            <a:ext cx="6583680" cy="914400"/>
          </a:xfrm>
          <a:prstGeom prst="rect">
            <a:avLst/>
          </a:prstGeom>
          <a:solidFill>
            <a:srgbClr val="FFFDF8"/>
          </a:solidFill>
          <a:ln w="19050">
            <a:solidFill>
              <a:srgbClr val="9E7D84"/>
            </a:solidFill>
            <a:prstDash val="solid"/>
          </a:ln>
        </p:spPr>
      </p:sp>
      <p:sp>
        <p:nvSpPr>
          <p:cNvPr id="7" name="Text 4"/>
          <p:cNvSpPr/>
          <p:nvPr/>
        </p:nvSpPr>
        <p:spPr>
          <a:xfrm>
            <a:off x="731520" y="1463040"/>
            <a:ext cx="6217920" cy="731520"/>
          </a:xfrm>
          <a:prstGeom prst="rect">
            <a:avLst/>
          </a:prstGeom>
          <a:noFill/>
          <a:ln/>
        </p:spPr>
        <p:txBody>
          <a:bodyPr wrap="square" rtlCol="0" anchor="ctr"/>
          <a:lstStyle/>
          <a:p>
            <a:pPr indent="0" marL="0">
              <a:buNone/>
            </a:pPr>
            <a:r>
              <a:rPr lang="en-US" sz="1800" b="1" i="1" dirty="0">
                <a:solidFill>
                  <a:srgbClr val="9E7D84"/>
                </a:solidFill>
                <a:latin typeface="Bookman ITC Std" pitchFamily="34" charset="0"/>
                <a:ea typeface="Bookman ITC Std" pitchFamily="34" charset="-122"/>
                <a:cs typeface="Bookman ITC Std" pitchFamily="34" charset="-120"/>
              </a:rPr>
              <a:t>Value is highly concentrated in specialized clusters: U.S. (Design), Europe (Equipment), and East Asia (Manufacturing).</a:t>
            </a:r>
            <a:endParaRPr lang="en-US" sz="1800" dirty="0"/>
          </a:p>
        </p:txBody>
      </p:sp>
      <p:sp>
        <p:nvSpPr>
          <p:cNvPr id="8" name="Text 5"/>
          <p:cNvSpPr/>
          <p:nvPr/>
        </p:nvSpPr>
        <p:spPr>
          <a:xfrm>
            <a:off x="548640" y="2560320"/>
            <a:ext cx="6583680" cy="3474720"/>
          </a:xfrm>
          <a:prstGeom prst="rect">
            <a:avLst/>
          </a:prstGeom>
          <a:noFill/>
          <a:ln/>
        </p:spPr>
        <p:txBody>
          <a:bodyPr wrap="square" rtlCol="0" anchor="ctr"/>
          <a:lstStyle/>
          <a:p>
            <a:pPr marL="342900" indent="-342900">
              <a:buSzPct val="100000"/>
              <a:buChar char="•"/>
            </a:pPr>
            <a:r>
              <a:rPr lang="en-US" sz="1800" dirty="0">
                <a:solidFill>
                  <a:srgbClr val="6B6560"/>
                </a:solidFill>
                <a:latin typeface="Aeonik" pitchFamily="34" charset="0"/>
                <a:ea typeface="Aeonik" pitchFamily="34" charset="-122"/>
                <a:cs typeface="Aeonik" pitchFamily="34" charset="-120"/>
              </a:rPr>
              <a:t>- Design &amp; EDA (United States): Dominance in core processor blueprints and layout compiler systems (NVIDIA, Apple, Qualcomm).</a:t>
            </a:r>
            <a:endParaRPr lang="en-US" sz="1800" dirty="0"/>
          </a:p>
          <a:p>
            <a:pPr marL="342900" indent="-342900">
              <a:buSzPct val="100000"/>
              <a:buChar char="•"/>
            </a:pPr>
            <a:endParaRPr lang="en-US" sz="1800" dirty="0"/>
          </a:p>
          <a:p>
            <a:pPr marL="342900" indent="-342900">
              <a:buSzPct val="100000"/>
              <a:buChar char="•"/>
            </a:pPr>
            <a:r>
              <a:rPr lang="en-US" sz="1800" dirty="0">
                <a:solidFill>
                  <a:srgbClr val="6B6560"/>
                </a:solidFill>
                <a:latin typeface="Aeonik" pitchFamily="34" charset="0"/>
                <a:ea typeface="Aeonik" pitchFamily="34" charset="-122"/>
                <a:cs typeface="Aeonik" pitchFamily="34" charset="-120"/>
              </a:rPr>
              <a:t>- SME Equipment (Europe): Monopoly on Extreme Ultraviolet tools (ASML) required to etch sub-7nm circuit nodes.</a:t>
            </a:r>
            <a:endParaRPr lang="en-US" sz="1800" dirty="0"/>
          </a:p>
          <a:p>
            <a:pPr marL="342900" indent="-342900">
              <a:buSzPct val="100000"/>
              <a:buChar char="•"/>
            </a:pPr>
            <a:endParaRPr lang="en-US" sz="1800" dirty="0"/>
          </a:p>
          <a:p>
            <a:pPr marL="342900" indent="-342900">
              <a:buSzPct val="100000"/>
              <a:buChar char="•"/>
            </a:pPr>
            <a:r>
              <a:rPr lang="en-US" sz="1800" dirty="0">
                <a:solidFill>
                  <a:srgbClr val="6B6560"/>
                </a:solidFill>
                <a:latin typeface="Aeonik" pitchFamily="34" charset="0"/>
                <a:ea typeface="Aeonik" pitchFamily="34" charset="-122"/>
                <a:cs typeface="Aeonik" pitchFamily="34" charset="-120"/>
              </a:rPr>
              <a:t>- Wafer Fabrication (East Asia): TSMC (Taiwan) and Samsung (Korea) form the production base for global advanced nodes.</a:t>
            </a:r>
            <a:endParaRPr lang="en-US" sz="1800" dirty="0"/>
          </a:p>
        </p:txBody>
      </p:sp>
      <p:sp>
        <p:nvSpPr>
          <p:cNvPr id="9" name="Shape 6"/>
          <p:cNvSpPr/>
          <p:nvPr/>
        </p:nvSpPr>
        <p:spPr>
          <a:xfrm>
            <a:off x="7680960" y="1371600"/>
            <a:ext cx="3840480" cy="2103120"/>
          </a:xfrm>
          <a:prstGeom prst="rect">
            <a:avLst/>
          </a:prstGeom>
          <a:solidFill>
            <a:srgbClr val="FFFDF8"/>
          </a:solidFill>
          <a:ln w="12700">
            <a:solidFill>
              <a:srgbClr val="B84A2F"/>
            </a:solidFill>
            <a:prstDash val="solid"/>
          </a:ln>
        </p:spPr>
      </p:sp>
      <p:sp>
        <p:nvSpPr>
          <p:cNvPr id="10" name="Text 7"/>
          <p:cNvSpPr/>
          <p:nvPr/>
        </p:nvSpPr>
        <p:spPr>
          <a:xfrm>
            <a:off x="7863840" y="1463040"/>
            <a:ext cx="3474720" cy="274320"/>
          </a:xfrm>
          <a:prstGeom prst="rect">
            <a:avLst/>
          </a:prstGeom>
          <a:noFill/>
          <a:ln/>
        </p:spPr>
        <p:txBody>
          <a:bodyPr wrap="square" rtlCol="0" anchor="ctr"/>
          <a:lstStyle/>
          <a:p>
            <a:pPr indent="0" marL="0">
              <a:buNone/>
            </a:pPr>
            <a:r>
              <a:rPr lang="en-US" sz="1200" b="1" dirty="0">
                <a:solidFill>
                  <a:srgbClr val="B84A2F"/>
                </a:solidFill>
                <a:latin typeface="Aeonik" pitchFamily="34" charset="0"/>
                <a:ea typeface="Aeonik" pitchFamily="34" charset="-122"/>
                <a:cs typeface="Aeonik" pitchFamily="34" charset="-120"/>
              </a:rPr>
              <a:t>USA: DESIGN IP</a:t>
            </a:r>
            <a:endParaRPr lang="en-US" sz="1200" dirty="0"/>
          </a:p>
        </p:txBody>
      </p:sp>
      <p:sp>
        <p:nvSpPr>
          <p:cNvPr id="11" name="Text 8"/>
          <p:cNvSpPr/>
          <p:nvPr/>
        </p:nvSpPr>
        <p:spPr>
          <a:xfrm>
            <a:off x="7863840" y="1783080"/>
            <a:ext cx="3474720" cy="1600200"/>
          </a:xfrm>
          <a:prstGeom prst="rect">
            <a:avLst/>
          </a:prstGeom>
          <a:noFill/>
          <a:ln/>
        </p:spPr>
        <p:txBody>
          <a:bodyPr wrap="square" rtlCol="0" anchor="ctr"/>
          <a:lstStyle/>
          <a:p>
            <a:pPr indent="0" marL="0">
              <a:buNone/>
            </a:pPr>
            <a:r>
              <a:rPr lang="en-US" sz="1300" dirty="0">
                <a:solidFill>
                  <a:srgbClr val="6B6560"/>
                </a:solidFill>
                <a:latin typeface="Aeonik" pitchFamily="34" charset="0"/>
                <a:ea typeface="Aeonik" pitchFamily="34" charset="-122"/>
                <a:cs typeface="Aeonik" pitchFamily="34" charset="-120"/>
              </a:rPr>
              <a:t>Market Leader: U.S. design firms capture the majority of global chip value, controlling </a:t>
            </a:r>
            <a:pPr indent="0" marL="0">
              <a:buNone/>
            </a:pPr>
            <a:r>
              <a:rPr lang="en-US" sz="1300" b="1" dirty="0">
                <a:solidFill>
                  <a:srgbClr val="1A1714"/>
                </a:solidFill>
                <a:latin typeface="Aeonik" pitchFamily="34" charset="0"/>
                <a:ea typeface="Aeonik" pitchFamily="34" charset="-122"/>
                <a:cs typeface="Aeonik" pitchFamily="34" charset="-120"/>
              </a:rPr>
              <a:t>80%+ of the Electronic Design Automation (EDA)</a:t>
            </a:r>
            <a:pPr indent="0" marL="0">
              <a:buNone/>
            </a:pPr>
            <a:r>
              <a:rPr lang="en-US" sz="1300" dirty="0">
                <a:solidFill>
                  <a:srgbClr val="6B6560"/>
                </a:solidFill>
                <a:latin typeface="Aeonik" pitchFamily="34" charset="0"/>
                <a:ea typeface="Aeonik" pitchFamily="34" charset="-122"/>
                <a:cs typeface="Aeonik" pitchFamily="34" charset="-120"/>
              </a:rPr>
              <a:t> software market and holding core IP for high-end CPU/GPU microarchitectures.</a:t>
            </a:r>
            <a:endParaRPr lang="en-US" sz="1300" dirty="0"/>
          </a:p>
        </p:txBody>
      </p:sp>
      <p:sp>
        <p:nvSpPr>
          <p:cNvPr id="12" name="Shape 9"/>
          <p:cNvSpPr/>
          <p:nvPr/>
        </p:nvSpPr>
        <p:spPr>
          <a:xfrm>
            <a:off x="7680960" y="3840480"/>
            <a:ext cx="3840480" cy="2103120"/>
          </a:xfrm>
          <a:prstGeom prst="rect">
            <a:avLst/>
          </a:prstGeom>
          <a:solidFill>
            <a:srgbClr val="FFFDF8"/>
          </a:solidFill>
          <a:ln w="12700">
            <a:solidFill>
              <a:srgbClr val="9E7D84"/>
            </a:solidFill>
            <a:prstDash val="solid"/>
          </a:ln>
        </p:spPr>
      </p:sp>
      <p:sp>
        <p:nvSpPr>
          <p:cNvPr id="13" name="Text 10"/>
          <p:cNvSpPr/>
          <p:nvPr/>
        </p:nvSpPr>
        <p:spPr>
          <a:xfrm>
            <a:off x="7863840" y="3931920"/>
            <a:ext cx="3474720" cy="274320"/>
          </a:xfrm>
          <a:prstGeom prst="rect">
            <a:avLst/>
          </a:prstGeom>
          <a:noFill/>
          <a:ln/>
        </p:spPr>
        <p:txBody>
          <a:bodyPr wrap="square" rtlCol="0" anchor="ctr"/>
          <a:lstStyle/>
          <a:p>
            <a:pPr indent="0" marL="0">
              <a:buNone/>
            </a:pPr>
            <a:r>
              <a:rPr lang="en-US" sz="1200" b="1" dirty="0">
                <a:solidFill>
                  <a:srgbClr val="9E7D84"/>
                </a:solidFill>
                <a:latin typeface="Aeonik" pitchFamily="34" charset="0"/>
                <a:ea typeface="Aeonik" pitchFamily="34" charset="-122"/>
                <a:cs typeface="Aeonik" pitchFamily="34" charset="-120"/>
              </a:rPr>
              <a:t>ASML (EU): LITHOGRAPHY</a:t>
            </a:r>
            <a:endParaRPr lang="en-US" sz="1200" dirty="0"/>
          </a:p>
        </p:txBody>
      </p:sp>
      <p:sp>
        <p:nvSpPr>
          <p:cNvPr id="14" name="Text 11"/>
          <p:cNvSpPr/>
          <p:nvPr/>
        </p:nvSpPr>
        <p:spPr>
          <a:xfrm>
            <a:off x="7863840" y="4251960"/>
            <a:ext cx="3474720" cy="1600200"/>
          </a:xfrm>
          <a:prstGeom prst="rect">
            <a:avLst/>
          </a:prstGeom>
          <a:noFill/>
          <a:ln/>
        </p:spPr>
        <p:txBody>
          <a:bodyPr wrap="square" rtlCol="0" anchor="ctr"/>
          <a:lstStyle/>
          <a:p>
            <a:pPr indent="0" marL="0">
              <a:buNone/>
            </a:pPr>
            <a:r>
              <a:rPr lang="en-US" sz="1300" dirty="0">
                <a:solidFill>
                  <a:srgbClr val="6B6560"/>
                </a:solidFill>
                <a:latin typeface="Aeonik" pitchFamily="34" charset="0"/>
                <a:ea typeface="Aeonik" pitchFamily="34" charset="-122"/>
                <a:cs typeface="Aeonik" pitchFamily="34" charset="-120"/>
              </a:rPr>
              <a:t>Critical Enabler: European-based ASML holds a </a:t>
            </a:r>
            <a:pPr indent="0" marL="0">
              <a:buNone/>
            </a:pPr>
            <a:r>
              <a:rPr lang="en-US" sz="1300" b="1" dirty="0">
                <a:solidFill>
                  <a:srgbClr val="1A1714"/>
                </a:solidFill>
                <a:latin typeface="Aeonik" pitchFamily="34" charset="0"/>
                <a:ea typeface="Aeonik" pitchFamily="34" charset="-122"/>
                <a:cs typeface="Aeonik" pitchFamily="34" charset="-120"/>
              </a:rPr>
              <a:t>100% EUV (Extreme Ultraviolet) Monopsony</a:t>
            </a:r>
            <a:pPr indent="0" marL="0">
              <a:buNone/>
            </a:pPr>
            <a:r>
              <a:rPr lang="en-US" sz="1300" dirty="0">
                <a:solidFill>
                  <a:srgbClr val="6B6560"/>
                </a:solidFill>
                <a:latin typeface="Aeonik" pitchFamily="34" charset="0"/>
                <a:ea typeface="Aeonik" pitchFamily="34" charset="-122"/>
                <a:cs typeface="Aeonik" pitchFamily="34" charset="-120"/>
              </a:rPr>
              <a:t> for high-end printing scanners, making it the sole hardware gatekeeper for sub-7nm node fabrication.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indent="0" marL="0">
              <a:buNone/>
            </a:pPr>
            <a:r>
              <a:rPr lang="en-US" sz="1200" b="1" spc="150" kern="0" dirty="0">
                <a:solidFill>
                  <a:srgbClr val="B84A2F"/>
                </a:solidFill>
                <a:latin typeface="Aeonik" pitchFamily="34" charset="0"/>
                <a:ea typeface="Aeonik" pitchFamily="34" charset="-122"/>
                <a:cs typeface="Aeonik" pitchFamily="34" charset="-120"/>
              </a:rPr>
              <a:t>PART 2: THE GLOBAL SUPPLY CHAIN OF SEMICONDUCTORS</a:t>
            </a:r>
            <a:endParaRPr lang="en-US" sz="1200" dirty="0"/>
          </a:p>
        </p:txBody>
      </p:sp>
      <p:sp>
        <p:nvSpPr>
          <p:cNvPr id="3" name="Text 1"/>
          <p:cNvSpPr/>
          <p:nvPr/>
        </p:nvSpPr>
        <p:spPr>
          <a:xfrm>
            <a:off x="548640" y="640080"/>
            <a:ext cx="10972800" cy="548640"/>
          </a:xfrm>
          <a:prstGeom prst="rect">
            <a:avLst/>
          </a:prstGeom>
          <a:noFill/>
          <a:ln/>
        </p:spPr>
        <p:txBody>
          <a:bodyPr wrap="square" rtlCol="0" anchor="ctr"/>
          <a:lstStyle/>
          <a:p>
            <a:pPr indent="0" marL="0">
              <a:buNone/>
            </a:pPr>
            <a:r>
              <a:rPr lang="en-US" sz="3200" b="1" dirty="0">
                <a:solidFill>
                  <a:srgbClr val="1A1714"/>
                </a:solidFill>
                <a:latin typeface="PP Mondwest" pitchFamily="34" charset="0"/>
                <a:ea typeface="PP Mondwest" pitchFamily="34" charset="-122"/>
                <a:cs typeface="PP Mondwest" pitchFamily="34" charset="-120"/>
              </a:rPr>
              <a:t>Front-End &amp; Back-End Bottlenecks</a:t>
            </a:r>
            <a:endParaRPr lang="en-US" sz="3200" dirty="0"/>
          </a:p>
        </p:txBody>
      </p:sp>
      <p:sp>
        <p:nvSpPr>
          <p:cNvPr id="4" name="Text 2"/>
          <p:cNvSpPr/>
          <p:nvPr/>
        </p:nvSpPr>
        <p:spPr>
          <a:xfrm>
            <a:off x="548640" y="6400800"/>
            <a:ext cx="10972800" cy="274320"/>
          </a:xfrm>
          <a:prstGeom prst="rect">
            <a:avLst/>
          </a:prstGeom>
          <a:noFill/>
          <a:ln/>
        </p:spPr>
        <p:txBody>
          <a:bodyPr wrap="square" rtlCol="0" anchor="ctr"/>
          <a:lstStyle/>
          <a:p>
            <a:pPr indent="0" marL="0">
              <a:buNone/>
            </a:pPr>
            <a:r>
              <a:rPr lang="en-US" sz="1000" dirty="0">
                <a:solidFill>
                  <a:srgbClr val="6B6560"/>
                </a:solidFill>
                <a:latin typeface="Aeonik" pitchFamily="34" charset="0"/>
                <a:ea typeface="Aeonik" pitchFamily="34" charset="-122"/>
                <a:cs typeface="Aeonik" pitchFamily="34" charset="-120"/>
              </a:rPr>
              <a:t>The 2026 Semiconductor Ecosystem | Slide 08</a:t>
            </a:r>
            <a:endParaRPr lang="en-US" sz="1000" dirty="0"/>
          </a:p>
        </p:txBody>
      </p:sp>
      <p:sp>
        <p:nvSpPr>
          <p:cNvPr id="6" name="Shape 3"/>
          <p:cNvSpPr/>
          <p:nvPr/>
        </p:nvSpPr>
        <p:spPr>
          <a:xfrm>
            <a:off x="548640" y="1371600"/>
            <a:ext cx="10972800" cy="914400"/>
          </a:xfrm>
          <a:prstGeom prst="rect">
            <a:avLst/>
          </a:prstGeom>
          <a:solidFill>
            <a:srgbClr val="FFFDF8"/>
          </a:solidFill>
          <a:ln w="19050">
            <a:solidFill>
              <a:srgbClr val="768C7C"/>
            </a:solidFill>
            <a:prstDash val="solid"/>
          </a:ln>
        </p:spPr>
      </p:sp>
      <p:sp>
        <p:nvSpPr>
          <p:cNvPr id="7" name="Text 4"/>
          <p:cNvSpPr/>
          <p:nvPr/>
        </p:nvSpPr>
        <p:spPr>
          <a:xfrm>
            <a:off x="731520" y="1463040"/>
            <a:ext cx="10607040" cy="731520"/>
          </a:xfrm>
          <a:prstGeom prst="rect">
            <a:avLst/>
          </a:prstGeom>
          <a:noFill/>
          <a:ln/>
        </p:spPr>
        <p:txBody>
          <a:bodyPr wrap="square" rtlCol="0" anchor="ctr"/>
          <a:lstStyle/>
          <a:p>
            <a:pPr indent="0" marL="0">
              <a:buNone/>
            </a:pPr>
            <a:r>
              <a:rPr lang="en-US" sz="1800" b="1" i="1" dirty="0">
                <a:solidFill>
                  <a:srgbClr val="768C7C"/>
                </a:solidFill>
                <a:latin typeface="Bookman ITC Std" pitchFamily="34" charset="0"/>
                <a:ea typeface="Bookman ITC Std" pitchFamily="34" charset="-122"/>
                <a:cs typeface="Bookman ITC Std" pitchFamily="34" charset="-120"/>
              </a:rPr>
              <a:t>Advanced packaging (CoWoS, 3D Stacking) is the new primary growth limiter for the AI industry.</a:t>
            </a:r>
            <a:endParaRPr lang="en-US" sz="1800" dirty="0"/>
          </a:p>
        </p:txBody>
      </p:sp>
      <p:sp>
        <p:nvSpPr>
          <p:cNvPr id="8" name="Shape 5"/>
          <p:cNvSpPr/>
          <p:nvPr/>
        </p:nvSpPr>
        <p:spPr>
          <a:xfrm>
            <a:off x="548640" y="2560320"/>
            <a:ext cx="5212080" cy="2377440"/>
          </a:xfrm>
          <a:prstGeom prst="rect">
            <a:avLst/>
          </a:prstGeom>
          <a:solidFill>
            <a:srgbClr val="FFFDF8"/>
          </a:solidFill>
          <a:ln w="12700">
            <a:solidFill>
              <a:srgbClr val="B84A2F"/>
            </a:solidFill>
            <a:prstDash val="solid"/>
          </a:ln>
        </p:spPr>
      </p:sp>
      <p:sp>
        <p:nvSpPr>
          <p:cNvPr id="9" name="Text 6"/>
          <p:cNvSpPr/>
          <p:nvPr/>
        </p:nvSpPr>
        <p:spPr>
          <a:xfrm>
            <a:off x="822960" y="2743200"/>
            <a:ext cx="4663440" cy="365760"/>
          </a:xfrm>
          <a:prstGeom prst="rect">
            <a:avLst/>
          </a:prstGeom>
          <a:noFill/>
          <a:ln/>
        </p:spPr>
        <p:txBody>
          <a:bodyPr wrap="square" rtlCol="0" anchor="ctr"/>
          <a:lstStyle/>
          <a:p>
            <a:pPr indent="0" marL="0">
              <a:buNone/>
            </a:pPr>
            <a:r>
              <a:rPr lang="en-US" sz="2000" b="1" dirty="0">
                <a:solidFill>
                  <a:srgbClr val="B84A2F"/>
                </a:solidFill>
                <a:latin typeface="PP Mondwest" pitchFamily="34" charset="0"/>
                <a:ea typeface="PP Mondwest" pitchFamily="34" charset="-122"/>
                <a:cs typeface="PP Mondwest" pitchFamily="34" charset="-120"/>
              </a:rPr>
              <a:t>Front-End: Node Scaling</a:t>
            </a:r>
            <a:endParaRPr lang="en-US" sz="2000" dirty="0"/>
          </a:p>
        </p:txBody>
      </p:sp>
      <p:sp>
        <p:nvSpPr>
          <p:cNvPr id="10" name="Text 7"/>
          <p:cNvSpPr/>
          <p:nvPr/>
        </p:nvSpPr>
        <p:spPr>
          <a:xfrm>
            <a:off x="822960" y="3291840"/>
            <a:ext cx="4663440" cy="1371600"/>
          </a:xfrm>
          <a:prstGeom prst="rect">
            <a:avLst/>
          </a:prstGeom>
          <a:noFill/>
          <a:ln/>
        </p:spPr>
        <p:txBody>
          <a:bodyPr wrap="square" rtlCol="0" anchor="ctr"/>
          <a:lstStyle/>
          <a:p>
            <a:pPr indent="0" marL="0">
              <a:buNone/>
            </a:pPr>
            <a:r>
              <a:rPr lang="en-US" sz="1800" dirty="0">
                <a:solidFill>
                  <a:srgbClr val="6B6560"/>
                </a:solidFill>
                <a:latin typeface="Aeonik" pitchFamily="34" charset="0"/>
                <a:ea typeface="Aeonik" pitchFamily="34" charset="-122"/>
                <a:cs typeface="Aeonik" pitchFamily="34" charset="-120"/>
              </a:rPr>
              <a:t>The race for the 2nm and 1.4nm nodes continues to demand immense capital investments for wafer fabrication lines.</a:t>
            </a:r>
            <a:endParaRPr lang="en-US" sz="1800" dirty="0"/>
          </a:p>
        </p:txBody>
      </p:sp>
      <p:sp>
        <p:nvSpPr>
          <p:cNvPr id="11" name="Shape 8"/>
          <p:cNvSpPr/>
          <p:nvPr/>
        </p:nvSpPr>
        <p:spPr>
          <a:xfrm>
            <a:off x="6309360" y="2560320"/>
            <a:ext cx="5212080" cy="2377440"/>
          </a:xfrm>
          <a:prstGeom prst="rect">
            <a:avLst/>
          </a:prstGeom>
          <a:solidFill>
            <a:srgbClr val="FFFDF8"/>
          </a:solidFill>
          <a:ln w="12700">
            <a:solidFill>
              <a:srgbClr val="768C7C"/>
            </a:solidFill>
            <a:prstDash val="solid"/>
          </a:ln>
        </p:spPr>
      </p:sp>
      <p:sp>
        <p:nvSpPr>
          <p:cNvPr id="12" name="Text 9"/>
          <p:cNvSpPr/>
          <p:nvPr/>
        </p:nvSpPr>
        <p:spPr>
          <a:xfrm>
            <a:off x="6583680" y="2743200"/>
            <a:ext cx="4663440" cy="365760"/>
          </a:xfrm>
          <a:prstGeom prst="rect">
            <a:avLst/>
          </a:prstGeom>
          <a:noFill/>
          <a:ln/>
        </p:spPr>
        <p:txBody>
          <a:bodyPr wrap="square" rtlCol="0" anchor="ctr"/>
          <a:lstStyle/>
          <a:p>
            <a:pPr indent="0" marL="0">
              <a:buNone/>
            </a:pPr>
            <a:r>
              <a:rPr lang="en-US" sz="2000" b="1" dirty="0">
                <a:solidFill>
                  <a:srgbClr val="768C7C"/>
                </a:solidFill>
                <a:latin typeface="PP Mondwest" pitchFamily="34" charset="0"/>
                <a:ea typeface="PP Mondwest" pitchFamily="34" charset="-122"/>
                <a:cs typeface="PP Mondwest" pitchFamily="34" charset="-120"/>
              </a:rPr>
              <a:t>Back-End: CoWoS &amp; HBM Integration</a:t>
            </a:r>
            <a:endParaRPr lang="en-US" sz="2000" dirty="0"/>
          </a:p>
        </p:txBody>
      </p:sp>
      <p:sp>
        <p:nvSpPr>
          <p:cNvPr id="13" name="Text 10"/>
          <p:cNvSpPr/>
          <p:nvPr/>
        </p:nvSpPr>
        <p:spPr>
          <a:xfrm>
            <a:off x="6583680" y="3291840"/>
            <a:ext cx="4663440" cy="1371600"/>
          </a:xfrm>
          <a:prstGeom prst="rect">
            <a:avLst/>
          </a:prstGeom>
          <a:noFill/>
          <a:ln/>
        </p:spPr>
        <p:txBody>
          <a:bodyPr wrap="square" rtlCol="0" anchor="ctr"/>
          <a:lstStyle/>
          <a:p>
            <a:pPr indent="0" marL="0">
              <a:buNone/>
            </a:pPr>
            <a:r>
              <a:rPr lang="en-US" sz="1600" dirty="0">
                <a:solidFill>
                  <a:srgbClr val="6B6560"/>
                </a:solidFill>
                <a:latin typeface="Aeonik" pitchFamily="34" charset="0"/>
                <a:ea typeface="Aeonik" pitchFamily="34" charset="-122"/>
                <a:cs typeface="Aeonik" pitchFamily="34" charset="-120"/>
              </a:rPr>
              <a:t>Stacking logic dies and High Bandwidth Memory (HBM) via Chip-on-Wafer-on-Substrate (CoWoS) formats has surpassed wafer printing as the primary supply chain bottleneck.</a:t>
            </a:r>
            <a:endParaRPr lang="en-US" sz="1600" dirty="0"/>
          </a:p>
        </p:txBody>
      </p:sp>
      <p:sp>
        <p:nvSpPr>
          <p:cNvPr id="14" name="Shape 11"/>
          <p:cNvSpPr/>
          <p:nvPr/>
        </p:nvSpPr>
        <p:spPr>
          <a:xfrm>
            <a:off x="548640" y="5212080"/>
            <a:ext cx="10972800" cy="822960"/>
          </a:xfrm>
          <a:prstGeom prst="rect">
            <a:avLst/>
          </a:prstGeom>
          <a:solidFill>
            <a:srgbClr val="FFFDF8"/>
          </a:solidFill>
          <a:ln w="12700">
            <a:solidFill>
              <a:srgbClr val="768C7C"/>
            </a:solidFill>
            <a:prstDash val="solid"/>
          </a:ln>
        </p:spPr>
      </p:sp>
      <p:sp>
        <p:nvSpPr>
          <p:cNvPr id="15" name="Text 12"/>
          <p:cNvSpPr/>
          <p:nvPr/>
        </p:nvSpPr>
        <p:spPr>
          <a:xfrm>
            <a:off x="731520" y="5257800"/>
            <a:ext cx="10607040" cy="731520"/>
          </a:xfrm>
          <a:prstGeom prst="rect">
            <a:avLst/>
          </a:prstGeom>
          <a:noFill/>
          <a:ln/>
        </p:spPr>
        <p:txBody>
          <a:bodyPr wrap="square" rtlCol="0" anchor="ctr"/>
          <a:lstStyle/>
          <a:p>
            <a:pPr indent="0" marL="0">
              <a:buNone/>
            </a:pPr>
            <a:r>
              <a:rPr lang="en-US" sz="1300" b="1" dirty="0">
                <a:solidFill>
                  <a:srgbClr val="1A1714"/>
                </a:solidFill>
                <a:latin typeface="Aeonik" pitchFamily="34" charset="0"/>
                <a:ea typeface="Aeonik" pitchFamily="34" charset="-122"/>
                <a:cs typeface="Aeonik" pitchFamily="34" charset="-120"/>
              </a:rPr>
              <a:t>Logistics bottleneck: </a:t>
            </a:r>
            <a:pPr indent="0" marL="0">
              <a:buNone/>
            </a:pPr>
            <a:r>
              <a:rPr lang="en-US" sz="1300" dirty="0">
                <a:solidFill>
                  <a:srgbClr val="6B6560"/>
                </a:solidFill>
                <a:latin typeface="Aeonik" pitchFamily="34" charset="0"/>
                <a:ea typeface="Aeonik" pitchFamily="34" charset="-122"/>
                <a:cs typeface="Aeonik" pitchFamily="34" charset="-120"/>
              </a:rPr>
              <a:t>Yield limitations are no longer dominated by front-end node lithography, but by the capacity limits of advanced back-end CoWoS and 3D stacking processes.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indent="0" marL="0">
              <a:buNone/>
            </a:pPr>
            <a:r>
              <a:rPr lang="en-US" sz="1200" b="1" spc="150" kern="0" dirty="0">
                <a:solidFill>
                  <a:srgbClr val="B84A2F"/>
                </a:solidFill>
                <a:latin typeface="Aeonik" pitchFamily="34" charset="0"/>
                <a:ea typeface="Aeonik" pitchFamily="34" charset="-122"/>
                <a:cs typeface="Aeonik" pitchFamily="34" charset="-120"/>
              </a:rPr>
              <a:t>PART 2: THE GLOBAL SUPPLY CHAIN OF SEMICONDUCTORS</a:t>
            </a:r>
            <a:endParaRPr lang="en-US" sz="1200" dirty="0"/>
          </a:p>
        </p:txBody>
      </p:sp>
      <p:sp>
        <p:nvSpPr>
          <p:cNvPr id="3" name="Text 1"/>
          <p:cNvSpPr/>
          <p:nvPr/>
        </p:nvSpPr>
        <p:spPr>
          <a:xfrm>
            <a:off x="548640" y="640080"/>
            <a:ext cx="10972800" cy="548640"/>
          </a:xfrm>
          <a:prstGeom prst="rect">
            <a:avLst/>
          </a:prstGeom>
          <a:noFill/>
          <a:ln/>
        </p:spPr>
        <p:txBody>
          <a:bodyPr wrap="square" rtlCol="0" anchor="ctr"/>
          <a:lstStyle/>
          <a:p>
            <a:pPr indent="0" marL="0">
              <a:buNone/>
            </a:pPr>
            <a:r>
              <a:rPr lang="en-US" sz="3200" b="1" dirty="0">
                <a:solidFill>
                  <a:srgbClr val="1A1714"/>
                </a:solidFill>
                <a:latin typeface="PP Mondwest" pitchFamily="34" charset="0"/>
                <a:ea typeface="PP Mondwest" pitchFamily="34" charset="-122"/>
                <a:cs typeface="PP Mondwest" pitchFamily="34" charset="-120"/>
              </a:rPr>
              <a:t>SME, Materials &amp; Geopolitical Fragmentation</a:t>
            </a:r>
            <a:endParaRPr lang="en-US" sz="3200" dirty="0"/>
          </a:p>
        </p:txBody>
      </p:sp>
      <p:sp>
        <p:nvSpPr>
          <p:cNvPr id="4" name="Text 2"/>
          <p:cNvSpPr/>
          <p:nvPr/>
        </p:nvSpPr>
        <p:spPr>
          <a:xfrm>
            <a:off x="548640" y="6400800"/>
            <a:ext cx="10972800" cy="274320"/>
          </a:xfrm>
          <a:prstGeom prst="rect">
            <a:avLst/>
          </a:prstGeom>
          <a:noFill/>
          <a:ln/>
        </p:spPr>
        <p:txBody>
          <a:bodyPr wrap="square" rtlCol="0" anchor="ctr"/>
          <a:lstStyle/>
          <a:p>
            <a:pPr indent="0" marL="0">
              <a:buNone/>
            </a:pPr>
            <a:r>
              <a:rPr lang="en-US" sz="1000" dirty="0">
                <a:solidFill>
                  <a:srgbClr val="6B6560"/>
                </a:solidFill>
                <a:latin typeface="Aeonik" pitchFamily="34" charset="0"/>
                <a:ea typeface="Aeonik" pitchFamily="34" charset="-122"/>
                <a:cs typeface="Aeonik" pitchFamily="34" charset="-120"/>
              </a:rPr>
              <a:t>The 2026 Semiconductor Ecosystem | Slide 09</a:t>
            </a:r>
            <a:endParaRPr lang="en-US" sz="1000" dirty="0"/>
          </a:p>
        </p:txBody>
      </p:sp>
      <p:sp>
        <p:nvSpPr>
          <p:cNvPr id="6" name="Shape 3"/>
          <p:cNvSpPr/>
          <p:nvPr/>
        </p:nvSpPr>
        <p:spPr>
          <a:xfrm>
            <a:off x="548640" y="1371600"/>
            <a:ext cx="6583680" cy="914400"/>
          </a:xfrm>
          <a:prstGeom prst="rect">
            <a:avLst/>
          </a:prstGeom>
          <a:solidFill>
            <a:srgbClr val="FFFDF8"/>
          </a:solidFill>
          <a:ln w="19050">
            <a:solidFill>
              <a:srgbClr val="B84A2F"/>
            </a:solidFill>
            <a:prstDash val="solid"/>
          </a:ln>
        </p:spPr>
      </p:sp>
      <p:sp>
        <p:nvSpPr>
          <p:cNvPr id="7" name="Text 4"/>
          <p:cNvSpPr/>
          <p:nvPr/>
        </p:nvSpPr>
        <p:spPr>
          <a:xfrm>
            <a:off x="731520" y="1463040"/>
            <a:ext cx="6217920" cy="731520"/>
          </a:xfrm>
          <a:prstGeom prst="rect">
            <a:avLst/>
          </a:prstGeom>
          <a:noFill/>
          <a:ln/>
        </p:spPr>
        <p:txBody>
          <a:bodyPr wrap="square" rtlCol="0" anchor="ctr"/>
          <a:lstStyle/>
          <a:p>
            <a:pPr indent="0" marL="0">
              <a:buNone/>
            </a:pPr>
            <a:r>
              <a:rPr lang="en-US" sz="1800" b="1" i="1" dirty="0">
                <a:solidFill>
                  <a:srgbClr val="B84A2F"/>
                </a:solidFill>
                <a:latin typeface="Bookman ITC Std" pitchFamily="34" charset="0"/>
                <a:ea typeface="Bookman ITC Std" pitchFamily="34" charset="-122"/>
                <a:cs typeface="Bookman ITC Std" pitchFamily="34" charset="-120"/>
              </a:rPr>
              <a:t>Geopolitics has created a "Multi-Polar" silicon world, where export controls and subsidies drive regionalization.</a:t>
            </a:r>
            <a:endParaRPr lang="en-US" sz="1800" dirty="0"/>
          </a:p>
        </p:txBody>
      </p:sp>
      <p:sp>
        <p:nvSpPr>
          <p:cNvPr id="8" name="Text 5"/>
          <p:cNvSpPr/>
          <p:nvPr/>
        </p:nvSpPr>
        <p:spPr>
          <a:xfrm>
            <a:off x="548640" y="2560320"/>
            <a:ext cx="6583680" cy="3474720"/>
          </a:xfrm>
          <a:prstGeom prst="rect">
            <a:avLst/>
          </a:prstGeom>
          <a:noFill/>
          <a:ln/>
        </p:spPr>
        <p:txBody>
          <a:bodyPr wrap="square" rtlCol="0" anchor="ctr"/>
          <a:lstStyle/>
          <a:p>
            <a:pPr marL="342900" indent="-342900">
              <a:buSzPct val="100000"/>
              <a:buChar char="•"/>
            </a:pPr>
            <a:r>
              <a:rPr lang="en-US" sz="1800" dirty="0">
                <a:solidFill>
                  <a:srgbClr val="6B6560"/>
                </a:solidFill>
                <a:latin typeface="Aeonik" pitchFamily="34" charset="0"/>
                <a:ea typeface="Aeonik" pitchFamily="34" charset="-122"/>
                <a:cs typeface="Aeonik" pitchFamily="34" charset="-120"/>
              </a:rPr>
              <a:t>- The US CHIPS Act ($52B): Funding the domestic establishment of advanced logic fabs to balance East Asian concentration.</a:t>
            </a:r>
            <a:endParaRPr lang="en-US" sz="1800" dirty="0"/>
          </a:p>
          <a:p>
            <a:pPr marL="342900" indent="-342900">
              <a:buSzPct val="100000"/>
              <a:buChar char="•"/>
            </a:pPr>
            <a:endParaRPr lang="en-US" sz="1800" dirty="0"/>
          </a:p>
          <a:p>
            <a:pPr marL="342900" indent="-342900">
              <a:buSzPct val="100000"/>
              <a:buChar char="•"/>
            </a:pPr>
            <a:r>
              <a:rPr lang="en-US" sz="1800" dirty="0">
                <a:solidFill>
                  <a:srgbClr val="6B6560"/>
                </a:solidFill>
                <a:latin typeface="Aeonik" pitchFamily="34" charset="0"/>
                <a:ea typeface="Aeonik" pitchFamily="34" charset="-122"/>
                <a:cs typeface="Aeonik" pitchFamily="34" charset="-120"/>
              </a:rPr>
              <a:t>- Europe &amp; China Reshoring: Multi-billion dollar state-supported programs targeting semiconductor in-sourcing.</a:t>
            </a:r>
            <a:endParaRPr lang="en-US" sz="1800" dirty="0"/>
          </a:p>
          <a:p>
            <a:pPr marL="342900" indent="-342900">
              <a:buSzPct val="100000"/>
              <a:buChar char="•"/>
            </a:pPr>
            <a:endParaRPr lang="en-US" sz="1800" dirty="0"/>
          </a:p>
          <a:p>
            <a:pPr marL="342900" indent="-342900">
              <a:buSzPct val="100000"/>
              <a:buChar char="•"/>
            </a:pPr>
            <a:r>
              <a:rPr lang="en-US" sz="1800" dirty="0">
                <a:solidFill>
                  <a:srgbClr val="6B6560"/>
                </a:solidFill>
                <a:latin typeface="Aeonik" pitchFamily="34" charset="0"/>
                <a:ea typeface="Aeonik" pitchFamily="34" charset="-122"/>
                <a:cs typeface="Aeonik" pitchFamily="34" charset="-120"/>
              </a:rPr>
              <a:t>- Material Chokepoints: Strict export controls placed on critical trace materials like Gallium and Germanium.</a:t>
            </a:r>
            <a:endParaRPr lang="en-US" sz="1800" dirty="0"/>
          </a:p>
        </p:txBody>
      </p:sp>
      <p:sp>
        <p:nvSpPr>
          <p:cNvPr id="9" name="Shape 6"/>
          <p:cNvSpPr/>
          <p:nvPr/>
        </p:nvSpPr>
        <p:spPr>
          <a:xfrm>
            <a:off x="7680960" y="1371600"/>
            <a:ext cx="3840480" cy="4572000"/>
          </a:xfrm>
          <a:prstGeom prst="rect">
            <a:avLst/>
          </a:prstGeom>
          <a:solidFill>
            <a:srgbClr val="FFFDF8"/>
          </a:solidFill>
          <a:ln w="12700">
            <a:solidFill>
              <a:srgbClr val="B84A2F"/>
            </a:solidFill>
            <a:prstDash val="solid"/>
          </a:ln>
        </p:spPr>
      </p:sp>
      <p:sp>
        <p:nvSpPr>
          <p:cNvPr id="10" name="Text 7"/>
          <p:cNvSpPr/>
          <p:nvPr/>
        </p:nvSpPr>
        <p:spPr>
          <a:xfrm>
            <a:off x="7863840" y="1645920"/>
            <a:ext cx="3474720" cy="548640"/>
          </a:xfrm>
          <a:prstGeom prst="rect">
            <a:avLst/>
          </a:prstGeom>
          <a:noFill/>
          <a:ln/>
        </p:spPr>
        <p:txBody>
          <a:bodyPr wrap="square" rtlCol="0" anchor="ctr"/>
          <a:lstStyle/>
          <a:p>
            <a:pPr algn="ctr" indent="0" marL="0">
              <a:buNone/>
            </a:pPr>
            <a:r>
              <a:rPr lang="en-US" sz="1400" b="1" dirty="0">
                <a:solidFill>
                  <a:srgbClr val="B84A2F"/>
                </a:solidFill>
                <a:latin typeface="Aeonik" pitchFamily="34" charset="0"/>
                <a:ea typeface="Aeonik" pitchFamily="34" charset="-122"/>
                <a:cs typeface="Aeonik" pitchFamily="34" charset="-120"/>
              </a:rPr>
              <a:t>GALLIUM &amp; GERMANIUM EXPORT RESTRICTIONS</a:t>
            </a:r>
            <a:endParaRPr lang="en-US" sz="1400" dirty="0"/>
          </a:p>
        </p:txBody>
      </p:sp>
      <p:sp>
        <p:nvSpPr>
          <p:cNvPr id="11" name="Text 8"/>
          <p:cNvSpPr/>
          <p:nvPr/>
        </p:nvSpPr>
        <p:spPr>
          <a:xfrm>
            <a:off x="7863840" y="2377440"/>
            <a:ext cx="3474720" cy="3291840"/>
          </a:xfrm>
          <a:prstGeom prst="rect">
            <a:avLst/>
          </a:prstGeom>
          <a:noFill/>
          <a:ln/>
        </p:spPr>
        <p:txBody>
          <a:bodyPr wrap="square" rtlCol="0" anchor="ctr"/>
          <a:lstStyle/>
          <a:p>
            <a:pPr algn="l" indent="0" marL="0">
              <a:buNone/>
            </a:pPr>
            <a:r>
              <a:rPr lang="en-US" sz="1300" dirty="0">
                <a:solidFill>
                  <a:srgbClr val="6B6560"/>
                </a:solidFill>
                <a:latin typeface="Aeonik" pitchFamily="34" charset="0"/>
                <a:ea typeface="Aeonik" pitchFamily="34" charset="-122"/>
                <a:cs typeface="Aeonik" pitchFamily="34" charset="-120"/>
              </a:rPr>
              <a:t>China controls </a:t>
            </a:r>
            <a:pPr algn="l" indent="0" marL="0">
              <a:buNone/>
            </a:pPr>
            <a:r>
              <a:rPr lang="en-US" sz="1300" b="1" dirty="0">
                <a:solidFill>
                  <a:srgbClr val="1A1714"/>
                </a:solidFill>
                <a:latin typeface="Aeonik" pitchFamily="34" charset="0"/>
                <a:ea typeface="Aeonik" pitchFamily="34" charset="-122"/>
                <a:cs typeface="Aeonik" pitchFamily="34" charset="-120"/>
              </a:rPr>
              <a:t>90%+ of Gallium</a:t>
            </a:r>
            <a:pPr algn="l" indent="0" marL="0">
              <a:buNone/>
            </a:pPr>
            <a:r>
              <a:rPr lang="en-US" sz="1300" dirty="0">
                <a:solidFill>
                  <a:srgbClr val="6B6560"/>
                </a:solidFill>
                <a:latin typeface="Aeonik" pitchFamily="34" charset="0"/>
                <a:ea typeface="Aeonik" pitchFamily="34" charset="-122"/>
                <a:cs typeface="Aeonik" pitchFamily="34" charset="-120"/>
              </a:rPr>
              <a:t> and </a:t>
            </a:r>
            <a:pPr algn="l" indent="0" marL="0">
              <a:buNone/>
            </a:pPr>
            <a:r>
              <a:rPr lang="en-US" sz="1300" b="1" dirty="0">
                <a:solidFill>
                  <a:srgbClr val="1A1714"/>
                </a:solidFill>
                <a:latin typeface="Aeonik" pitchFamily="34" charset="0"/>
                <a:ea typeface="Aeonik" pitchFamily="34" charset="-122"/>
                <a:cs typeface="Aeonik" pitchFamily="34" charset="-120"/>
              </a:rPr>
              <a:t>60%+ of Germanium</a:t>
            </a:r>
            <a:pPr algn="l" indent="0" marL="0">
              <a:buNone/>
            </a:pPr>
            <a:r>
              <a:rPr lang="en-US" sz="1300" dirty="0">
                <a:solidFill>
                  <a:srgbClr val="6B6560"/>
                </a:solidFill>
                <a:latin typeface="Aeonik" pitchFamily="34" charset="0"/>
                <a:ea typeface="Aeonik" pitchFamily="34" charset="-122"/>
                <a:cs typeface="Aeonik" pitchFamily="34" charset="-120"/>
              </a:rPr>
              <a:t> sourcing. Recent export restrictions require explicit licenses, causing price volatility and sourcing delays for next-generation power electronics and optical systems.
</a:t>
            </a:r>
            <a:pPr algn="l" indent="0" marL="0">
              <a:buNone/>
            </a:pPr>
            <a:r>
              <a:rPr lang="en-US" sz="1100" b="1" dirty="0">
                <a:solidFill>
                  <a:srgbClr val="1A1714"/>
                </a:solidFill>
                <a:latin typeface="Aeonik" pitchFamily="34" charset="0"/>
                <a:ea typeface="Aeonik" pitchFamily="34" charset="-122"/>
                <a:cs typeface="Aeonik" pitchFamily="34" charset="-120"/>
              </a:rPr>
              <a:t>Strategic Risk: </a:t>
            </a:r>
            <a:pPr algn="l" indent="0" marL="0">
              <a:buNone/>
            </a:pPr>
            <a:r>
              <a:rPr lang="en-US" sz="1100" i="1" dirty="0">
                <a:solidFill>
                  <a:srgbClr val="6B6560"/>
                </a:solidFill>
                <a:latin typeface="Aeonik" pitchFamily="34" charset="0"/>
                <a:ea typeface="Aeonik" pitchFamily="34" charset="-122"/>
                <a:cs typeface="Aeonik" pitchFamily="34" charset="-120"/>
              </a:rPr>
              <a:t>Material bottlenecks can disrupt entire optoelectronic supply chains.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indent="0" marL="0">
              <a:buNone/>
            </a:pPr>
            <a:r>
              <a:rPr lang="en-US" sz="1200" b="1" spc="150" kern="0" dirty="0">
                <a:solidFill>
                  <a:srgbClr val="B84A2F"/>
                </a:solidFill>
                <a:latin typeface="Aeonik" pitchFamily="34" charset="0"/>
                <a:ea typeface="Aeonik" pitchFamily="34" charset="-122"/>
                <a:cs typeface="Aeonik" pitchFamily="34" charset="-120"/>
              </a:rPr>
              <a:t>PART 2: THE GLOBAL SUPPLY CHAIN OF SEMICONDUCTORS</a:t>
            </a:r>
            <a:endParaRPr lang="en-US" sz="1200" dirty="0"/>
          </a:p>
        </p:txBody>
      </p:sp>
      <p:sp>
        <p:nvSpPr>
          <p:cNvPr id="3" name="Text 1"/>
          <p:cNvSpPr/>
          <p:nvPr/>
        </p:nvSpPr>
        <p:spPr>
          <a:xfrm>
            <a:off x="548640" y="640080"/>
            <a:ext cx="10972800" cy="548640"/>
          </a:xfrm>
          <a:prstGeom prst="rect">
            <a:avLst/>
          </a:prstGeom>
          <a:noFill/>
          <a:ln/>
        </p:spPr>
        <p:txBody>
          <a:bodyPr wrap="square" rtlCol="0" anchor="ctr"/>
          <a:lstStyle/>
          <a:p>
            <a:pPr indent="0" marL="0">
              <a:buNone/>
            </a:pPr>
            <a:r>
              <a:rPr lang="en-US" sz="3200" b="1" dirty="0">
                <a:solidFill>
                  <a:srgbClr val="1A1714"/>
                </a:solidFill>
                <a:latin typeface="PP Mondwest" pitchFamily="34" charset="0"/>
                <a:ea typeface="PP Mondwest" pitchFamily="34" charset="-122"/>
                <a:cs typeface="PP Mondwest" pitchFamily="34" charset="-120"/>
              </a:rPr>
              <a:t>Supply Chain Resilience: Digital &amp; Circular</a:t>
            </a:r>
            <a:endParaRPr lang="en-US" sz="3200" dirty="0"/>
          </a:p>
        </p:txBody>
      </p:sp>
      <p:sp>
        <p:nvSpPr>
          <p:cNvPr id="4" name="Text 2"/>
          <p:cNvSpPr/>
          <p:nvPr/>
        </p:nvSpPr>
        <p:spPr>
          <a:xfrm>
            <a:off x="548640" y="6400800"/>
            <a:ext cx="10972800" cy="274320"/>
          </a:xfrm>
          <a:prstGeom prst="rect">
            <a:avLst/>
          </a:prstGeom>
          <a:noFill/>
          <a:ln/>
        </p:spPr>
        <p:txBody>
          <a:bodyPr wrap="square" rtlCol="0" anchor="ctr"/>
          <a:lstStyle/>
          <a:p>
            <a:pPr indent="0" marL="0">
              <a:buNone/>
            </a:pPr>
            <a:r>
              <a:rPr lang="en-US" sz="1000" dirty="0">
                <a:solidFill>
                  <a:srgbClr val="6B6560"/>
                </a:solidFill>
                <a:latin typeface="Aeonik" pitchFamily="34" charset="0"/>
                <a:ea typeface="Aeonik" pitchFamily="34" charset="-122"/>
                <a:cs typeface="Aeonik" pitchFamily="34" charset="-120"/>
              </a:rPr>
              <a:t>The 2026 Semiconductor Ecosystem | Slide 10</a:t>
            </a:r>
            <a:endParaRPr lang="en-US" sz="1000" dirty="0"/>
          </a:p>
        </p:txBody>
      </p:sp>
      <p:sp>
        <p:nvSpPr>
          <p:cNvPr id="6" name="Shape 3"/>
          <p:cNvSpPr/>
          <p:nvPr/>
        </p:nvSpPr>
        <p:spPr>
          <a:xfrm>
            <a:off x="548640" y="1371600"/>
            <a:ext cx="10972800" cy="914400"/>
          </a:xfrm>
          <a:prstGeom prst="rect">
            <a:avLst/>
          </a:prstGeom>
          <a:solidFill>
            <a:srgbClr val="FFFDF8"/>
          </a:solidFill>
          <a:ln w="19050">
            <a:solidFill>
              <a:srgbClr val="B84A2F"/>
            </a:solidFill>
            <a:prstDash val="solid"/>
          </a:ln>
        </p:spPr>
      </p:sp>
      <p:sp>
        <p:nvSpPr>
          <p:cNvPr id="7" name="Text 4"/>
          <p:cNvSpPr/>
          <p:nvPr/>
        </p:nvSpPr>
        <p:spPr>
          <a:xfrm>
            <a:off x="731520" y="1463040"/>
            <a:ext cx="10607040" cy="731520"/>
          </a:xfrm>
          <a:prstGeom prst="rect">
            <a:avLst/>
          </a:prstGeom>
          <a:noFill/>
          <a:ln/>
        </p:spPr>
        <p:txBody>
          <a:bodyPr wrap="square" rtlCol="0" anchor="ctr"/>
          <a:lstStyle/>
          <a:p>
            <a:pPr indent="0" marL="0">
              <a:buNone/>
            </a:pPr>
            <a:r>
              <a:rPr lang="en-US" sz="1800" b="1" i="1" dirty="0">
                <a:solidFill>
                  <a:srgbClr val="B84A2F"/>
                </a:solidFill>
                <a:latin typeface="Bookman ITC Std" pitchFamily="34" charset="0"/>
                <a:ea typeface="Bookman ITC Std" pitchFamily="34" charset="-122"/>
                <a:cs typeface="Bookman ITC Std" pitchFamily="34" charset="-120"/>
              </a:rPr>
              <a:t>The response? Circular and Autonomous Supply Chains. We are using AI to 'self-heal' the supply chain.</a:t>
            </a:r>
            <a:endParaRPr lang="en-US" sz="1800" dirty="0"/>
          </a:p>
        </p:txBody>
      </p:sp>
      <p:sp>
        <p:nvSpPr>
          <p:cNvPr id="8" name="Shape 5"/>
          <p:cNvSpPr/>
          <p:nvPr/>
        </p:nvSpPr>
        <p:spPr>
          <a:xfrm>
            <a:off x="548640" y="2560320"/>
            <a:ext cx="5212080" cy="2377440"/>
          </a:xfrm>
          <a:prstGeom prst="rect">
            <a:avLst/>
          </a:prstGeom>
          <a:solidFill>
            <a:srgbClr val="FFFDF8"/>
          </a:solidFill>
          <a:ln w="12700">
            <a:solidFill>
              <a:srgbClr val="E0D9D0"/>
            </a:solidFill>
            <a:prstDash val="solid"/>
          </a:ln>
        </p:spPr>
      </p:sp>
      <p:sp>
        <p:nvSpPr>
          <p:cNvPr id="9" name="Text 6"/>
          <p:cNvSpPr/>
          <p:nvPr/>
        </p:nvSpPr>
        <p:spPr>
          <a:xfrm>
            <a:off x="822960" y="2743200"/>
            <a:ext cx="4663440" cy="365760"/>
          </a:xfrm>
          <a:prstGeom prst="rect">
            <a:avLst/>
          </a:prstGeom>
          <a:noFill/>
          <a:ln/>
        </p:spPr>
        <p:txBody>
          <a:bodyPr wrap="square" rtlCol="0" anchor="ctr"/>
          <a:lstStyle/>
          <a:p>
            <a:pPr indent="0" marL="0">
              <a:buNone/>
            </a:pPr>
            <a:r>
              <a:rPr lang="en-US" sz="2000" b="1" dirty="0">
                <a:solidFill>
                  <a:srgbClr val="B84A2F"/>
                </a:solidFill>
                <a:latin typeface="PP Mondwest" pitchFamily="34" charset="0"/>
                <a:ea typeface="PP Mondwest" pitchFamily="34" charset="-122"/>
                <a:cs typeface="PP Mondwest" pitchFamily="34" charset="-120"/>
              </a:rPr>
              <a:t>Deep Supply Mapping &amp; AI</a:t>
            </a:r>
            <a:endParaRPr lang="en-US" sz="2000" dirty="0"/>
          </a:p>
        </p:txBody>
      </p:sp>
      <p:sp>
        <p:nvSpPr>
          <p:cNvPr id="10" name="Text 7"/>
          <p:cNvSpPr/>
          <p:nvPr/>
        </p:nvSpPr>
        <p:spPr>
          <a:xfrm>
            <a:off x="822960" y="3291840"/>
            <a:ext cx="4663440" cy="1371600"/>
          </a:xfrm>
          <a:prstGeom prst="rect">
            <a:avLst/>
          </a:prstGeom>
          <a:noFill/>
          <a:ln/>
        </p:spPr>
        <p:txBody>
          <a:bodyPr wrap="square" rtlCol="0" anchor="ctr"/>
          <a:lstStyle/>
          <a:p>
            <a:pPr indent="0" marL="0">
              <a:buNone/>
            </a:pPr>
            <a:r>
              <a:rPr lang="en-US" sz="1800" dirty="0">
                <a:solidFill>
                  <a:srgbClr val="6B6560"/>
                </a:solidFill>
                <a:latin typeface="Aeonik" pitchFamily="34" charset="0"/>
                <a:ea typeface="Aeonik" pitchFamily="34" charset="-122"/>
                <a:cs typeface="Aeonik" pitchFamily="34" charset="-120"/>
              </a:rPr>
              <a:t>Automatically re-routing orders when a port closes or a factory goes down. Mapping up to Tier-4 and Tier-5 suppliers.</a:t>
            </a:r>
            <a:endParaRPr lang="en-US" sz="1800" dirty="0"/>
          </a:p>
        </p:txBody>
      </p:sp>
      <p:sp>
        <p:nvSpPr>
          <p:cNvPr id="11" name="Shape 8"/>
          <p:cNvSpPr/>
          <p:nvPr/>
        </p:nvSpPr>
        <p:spPr>
          <a:xfrm>
            <a:off x="6309360" y="2560320"/>
            <a:ext cx="5212080" cy="2377440"/>
          </a:xfrm>
          <a:prstGeom prst="rect">
            <a:avLst/>
          </a:prstGeom>
          <a:solidFill>
            <a:srgbClr val="FFFDF8"/>
          </a:solidFill>
          <a:ln w="12700">
            <a:solidFill>
              <a:srgbClr val="E0D9D0"/>
            </a:solidFill>
            <a:prstDash val="solid"/>
          </a:ln>
        </p:spPr>
      </p:sp>
      <p:sp>
        <p:nvSpPr>
          <p:cNvPr id="12" name="Text 9"/>
          <p:cNvSpPr/>
          <p:nvPr/>
        </p:nvSpPr>
        <p:spPr>
          <a:xfrm>
            <a:off x="6583680" y="2743200"/>
            <a:ext cx="4663440" cy="365760"/>
          </a:xfrm>
          <a:prstGeom prst="rect">
            <a:avLst/>
          </a:prstGeom>
          <a:noFill/>
          <a:ln/>
        </p:spPr>
        <p:txBody>
          <a:bodyPr wrap="square" rtlCol="0" anchor="ctr"/>
          <a:lstStyle/>
          <a:p>
            <a:pPr indent="0" marL="0">
              <a:buNone/>
            </a:pPr>
            <a:r>
              <a:rPr lang="en-US" sz="2000" b="1" dirty="0">
                <a:solidFill>
                  <a:srgbClr val="768C7C"/>
                </a:solidFill>
                <a:latin typeface="PP Mondwest" pitchFamily="34" charset="0"/>
                <a:ea typeface="PP Mondwest" pitchFamily="34" charset="-122"/>
                <a:cs typeface="PP Mondwest" pitchFamily="34" charset="-120"/>
              </a:rPr>
              <a:t>Circular Reclamation</a:t>
            </a:r>
            <a:endParaRPr lang="en-US" sz="2000" dirty="0"/>
          </a:p>
        </p:txBody>
      </p:sp>
      <p:sp>
        <p:nvSpPr>
          <p:cNvPr id="13" name="Text 10"/>
          <p:cNvSpPr/>
          <p:nvPr/>
        </p:nvSpPr>
        <p:spPr>
          <a:xfrm>
            <a:off x="6583680" y="3291840"/>
            <a:ext cx="4663440" cy="1554480"/>
          </a:xfrm>
          <a:prstGeom prst="rect">
            <a:avLst/>
          </a:prstGeom>
          <a:noFill/>
          <a:ln/>
        </p:spPr>
        <p:txBody>
          <a:bodyPr wrap="square" rtlCol="0" anchor="ctr"/>
          <a:lstStyle/>
          <a:p>
            <a:pPr indent="0" marL="0">
              <a:buNone/>
            </a:pPr>
            <a:r>
              <a:rPr lang="en-US" sz="1500" dirty="0">
                <a:solidFill>
                  <a:srgbClr val="6B6560"/>
                </a:solidFill>
                <a:latin typeface="Aeonik" pitchFamily="34" charset="0"/>
                <a:ea typeface="Aeonik" pitchFamily="34" charset="-122"/>
                <a:cs typeface="Aeonik" pitchFamily="34" charset="-120"/>
              </a:rPr>
              <a:t>Transitioning to industrial e-waste harvesting to extract high-purity minerals. Recovering up to 99% of Copper, 98% of Gold, and 95% of Silicon substrates from decommissioned hardware to buffer raw mining volatility.</a:t>
            </a:r>
            <a:endParaRPr lang="en-US" sz="1500" dirty="0"/>
          </a:p>
        </p:txBody>
      </p:sp>
      <p:sp>
        <p:nvSpPr>
          <p:cNvPr id="14" name="Shape 11"/>
          <p:cNvSpPr/>
          <p:nvPr/>
        </p:nvSpPr>
        <p:spPr>
          <a:xfrm>
            <a:off x="548640" y="5212080"/>
            <a:ext cx="10972800" cy="822960"/>
          </a:xfrm>
          <a:prstGeom prst="rect">
            <a:avLst/>
          </a:prstGeom>
          <a:solidFill>
            <a:srgbClr val="FFFDF8"/>
          </a:solidFill>
          <a:ln w="12700">
            <a:solidFill>
              <a:srgbClr val="B84A2F"/>
            </a:solidFill>
            <a:prstDash val="solid"/>
          </a:ln>
        </p:spPr>
      </p:sp>
      <p:sp>
        <p:nvSpPr>
          <p:cNvPr id="15" name="Text 12"/>
          <p:cNvSpPr/>
          <p:nvPr/>
        </p:nvSpPr>
        <p:spPr>
          <a:xfrm>
            <a:off x="731520" y="5303520"/>
            <a:ext cx="10607040" cy="640080"/>
          </a:xfrm>
          <a:prstGeom prst="rect">
            <a:avLst/>
          </a:prstGeom>
          <a:noFill/>
          <a:ln/>
        </p:spPr>
        <p:txBody>
          <a:bodyPr wrap="square" rtlCol="0" anchor="ctr"/>
          <a:lstStyle/>
          <a:p>
            <a:pPr indent="0" marL="0">
              <a:buNone/>
            </a:pPr>
            <a:r>
              <a:rPr lang="en-US" sz="1500" dirty="0">
                <a:solidFill>
                  <a:srgbClr val="6B6560"/>
                </a:solidFill>
                <a:latin typeface="Aeonik" pitchFamily="34" charset="0"/>
                <a:ea typeface="Aeonik" pitchFamily="34" charset="-122"/>
                <a:cs typeface="Aeonik" pitchFamily="34" charset="-120"/>
              </a:rPr>
              <a:t>Autonomous logistics systems automatically scan trade flows to reroute containers before bottleneck events cause line shutdowns.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indent="0" marL="0">
              <a:buNone/>
            </a:pPr>
            <a:r>
              <a:rPr lang="en-US" sz="1200" b="1" spc="150" kern="0" dirty="0">
                <a:solidFill>
                  <a:srgbClr val="B84A2F"/>
                </a:solidFill>
                <a:latin typeface="Aeonik" pitchFamily="34" charset="0"/>
                <a:ea typeface="Aeonik" pitchFamily="34" charset="-122"/>
                <a:cs typeface="Aeonik" pitchFamily="34" charset="-120"/>
              </a:rPr>
              <a:t>PART 3: DOWNSTREAM END-USER INDUSTRIES &amp; APPLICATION ECOSYSTEM</a:t>
            </a:r>
            <a:endParaRPr lang="en-US" sz="1200" dirty="0"/>
          </a:p>
        </p:txBody>
      </p:sp>
      <p:sp>
        <p:nvSpPr>
          <p:cNvPr id="3" name="Text 1"/>
          <p:cNvSpPr/>
          <p:nvPr/>
        </p:nvSpPr>
        <p:spPr>
          <a:xfrm>
            <a:off x="548640" y="640080"/>
            <a:ext cx="10972800" cy="548640"/>
          </a:xfrm>
          <a:prstGeom prst="rect">
            <a:avLst/>
          </a:prstGeom>
          <a:noFill/>
          <a:ln/>
        </p:spPr>
        <p:txBody>
          <a:bodyPr wrap="square" rtlCol="0" anchor="ctr"/>
          <a:lstStyle/>
          <a:p>
            <a:pPr indent="0" marL="0">
              <a:buNone/>
            </a:pPr>
            <a:r>
              <a:rPr lang="en-US" sz="3200" b="1" dirty="0">
                <a:solidFill>
                  <a:srgbClr val="1A1714"/>
                </a:solidFill>
                <a:latin typeface="PP Mondwest" pitchFamily="34" charset="0"/>
                <a:ea typeface="PP Mondwest" pitchFamily="34" charset="-122"/>
                <a:cs typeface="PP Mondwest" pitchFamily="34" charset="-120"/>
              </a:rPr>
              <a:t>The Ubiquity of Silicon: Powering the Modern World</a:t>
            </a:r>
            <a:endParaRPr lang="en-US" sz="3200" dirty="0"/>
          </a:p>
        </p:txBody>
      </p:sp>
      <p:sp>
        <p:nvSpPr>
          <p:cNvPr id="4" name="Text 2"/>
          <p:cNvSpPr/>
          <p:nvPr/>
        </p:nvSpPr>
        <p:spPr>
          <a:xfrm>
            <a:off x="548640" y="6400800"/>
            <a:ext cx="10972800" cy="274320"/>
          </a:xfrm>
          <a:prstGeom prst="rect">
            <a:avLst/>
          </a:prstGeom>
          <a:noFill/>
          <a:ln/>
        </p:spPr>
        <p:txBody>
          <a:bodyPr wrap="square" rtlCol="0" anchor="ctr"/>
          <a:lstStyle/>
          <a:p>
            <a:pPr indent="0" marL="0">
              <a:buNone/>
            </a:pPr>
            <a:r>
              <a:rPr lang="en-US" sz="1000" dirty="0">
                <a:solidFill>
                  <a:srgbClr val="6B6560"/>
                </a:solidFill>
                <a:latin typeface="Aeonik" pitchFamily="34" charset="0"/>
                <a:ea typeface="Aeonik" pitchFamily="34" charset="-122"/>
                <a:cs typeface="Aeonik" pitchFamily="34" charset="-120"/>
              </a:rPr>
              <a:t>The 2026 Semiconductor Ecosystem | Slide 11</a:t>
            </a:r>
            <a:endParaRPr lang="en-US" sz="1000" dirty="0"/>
          </a:p>
        </p:txBody>
      </p:sp>
      <p:sp>
        <p:nvSpPr>
          <p:cNvPr id="6" name="Shape 3"/>
          <p:cNvSpPr/>
          <p:nvPr/>
        </p:nvSpPr>
        <p:spPr>
          <a:xfrm>
            <a:off x="548640" y="1371600"/>
            <a:ext cx="6583680" cy="914400"/>
          </a:xfrm>
          <a:prstGeom prst="rect">
            <a:avLst/>
          </a:prstGeom>
          <a:solidFill>
            <a:srgbClr val="FFFDF8"/>
          </a:solidFill>
          <a:ln w="19050">
            <a:solidFill>
              <a:srgbClr val="9E7D84"/>
            </a:solidFill>
            <a:prstDash val="solid"/>
          </a:ln>
        </p:spPr>
      </p:sp>
      <p:sp>
        <p:nvSpPr>
          <p:cNvPr id="7" name="Text 4"/>
          <p:cNvSpPr/>
          <p:nvPr/>
        </p:nvSpPr>
        <p:spPr>
          <a:xfrm>
            <a:off x="731520" y="1463040"/>
            <a:ext cx="6217920" cy="731520"/>
          </a:xfrm>
          <a:prstGeom prst="rect">
            <a:avLst/>
          </a:prstGeom>
          <a:noFill/>
          <a:ln/>
        </p:spPr>
        <p:txBody>
          <a:bodyPr wrap="square" rtlCol="0" anchor="ctr"/>
          <a:lstStyle/>
          <a:p>
            <a:pPr indent="0" marL="0">
              <a:buNone/>
            </a:pPr>
            <a:r>
              <a:rPr lang="en-US" sz="1800" b="1" i="1" dirty="0">
                <a:solidFill>
                  <a:srgbClr val="9E7D84"/>
                </a:solidFill>
                <a:latin typeface="Bookman ITC Std" pitchFamily="34" charset="0"/>
                <a:ea typeface="Bookman ITC Std" pitchFamily="34" charset="-122"/>
                <a:cs typeface="Bookman ITC Std" pitchFamily="34" charset="-120"/>
              </a:rPr>
              <a:t>Semiconductors are the "nerve system" of the global economy; no modern industry can function without them.</a:t>
            </a:r>
            <a:endParaRPr lang="en-US" sz="1800" dirty="0"/>
          </a:p>
        </p:txBody>
      </p:sp>
      <p:sp>
        <p:nvSpPr>
          <p:cNvPr id="8" name="Text 5"/>
          <p:cNvSpPr/>
          <p:nvPr/>
        </p:nvSpPr>
        <p:spPr>
          <a:xfrm>
            <a:off x="548640" y="2560320"/>
            <a:ext cx="6583680" cy="3474720"/>
          </a:xfrm>
          <a:prstGeom prst="rect">
            <a:avLst/>
          </a:prstGeom>
          <a:noFill/>
          <a:ln/>
        </p:spPr>
        <p:txBody>
          <a:bodyPr wrap="square" rtlCol="0" anchor="ctr"/>
          <a:lstStyle/>
          <a:p>
            <a:pPr marL="342900" indent="-342900">
              <a:buSzPct val="100000"/>
              <a:buChar char="•"/>
            </a:pPr>
            <a:r>
              <a:rPr lang="en-US" sz="1800" dirty="0">
                <a:solidFill>
                  <a:srgbClr val="6B6560"/>
                </a:solidFill>
                <a:latin typeface="Aeonik" pitchFamily="34" charset="0"/>
                <a:ea typeface="Aeonik" pitchFamily="34" charset="-122"/>
                <a:cs typeface="Aeonik" pitchFamily="34" charset="-120"/>
              </a:rPr>
              <a:t>- Central Nerve System: Microchips control the storage, routing, and processing of every piece of data globally.</a:t>
            </a:r>
            <a:endParaRPr lang="en-US" sz="1800" dirty="0"/>
          </a:p>
          <a:p>
            <a:pPr marL="342900" indent="-342900">
              <a:buSzPct val="100000"/>
              <a:buChar char="•"/>
            </a:pPr>
            <a:endParaRPr lang="en-US" sz="1800" dirty="0"/>
          </a:p>
          <a:p>
            <a:pPr marL="342900" indent="-342900">
              <a:buSzPct val="100000"/>
              <a:buChar char="•"/>
            </a:pPr>
            <a:r>
              <a:rPr lang="en-US" sz="1800" dirty="0">
                <a:solidFill>
                  <a:srgbClr val="6B6560"/>
                </a:solidFill>
                <a:latin typeface="Aeonik" pitchFamily="34" charset="0"/>
                <a:ea typeface="Aeonik" pitchFamily="34" charset="-122"/>
                <a:cs typeface="Aeonik" pitchFamily="34" charset="-120"/>
              </a:rPr>
              <a:t>- Silicon Intensity Metric: The total value of silicon content per product is the primary metric of industrial scaling.</a:t>
            </a:r>
            <a:endParaRPr lang="en-US" sz="1800" dirty="0"/>
          </a:p>
          <a:p>
            <a:pPr marL="342900" indent="-342900">
              <a:buSzPct val="100000"/>
              <a:buChar char="•"/>
            </a:pPr>
            <a:endParaRPr lang="en-US" sz="1800" dirty="0"/>
          </a:p>
          <a:p>
            <a:pPr marL="342900" indent="-342900">
              <a:buSzPct val="100000"/>
              <a:buChar char="•"/>
            </a:pPr>
            <a:r>
              <a:rPr lang="en-US" sz="1800" dirty="0">
                <a:solidFill>
                  <a:srgbClr val="6B6560"/>
                </a:solidFill>
                <a:latin typeface="Aeonik" pitchFamily="34" charset="0"/>
                <a:ea typeface="Aeonik" pitchFamily="34" charset="-122"/>
                <a:cs typeface="Aeonik" pitchFamily="34" charset="-120"/>
              </a:rPr>
              <a:t>- Ubiquitous Integration: Foundational logic layers power smart municipal grids, medical machinery, and neural processors.</a:t>
            </a:r>
            <a:endParaRPr lang="en-US" sz="1800" dirty="0"/>
          </a:p>
        </p:txBody>
      </p:sp>
      <p:sp>
        <p:nvSpPr>
          <p:cNvPr id="9" name="Shape 6"/>
          <p:cNvSpPr/>
          <p:nvPr/>
        </p:nvSpPr>
        <p:spPr>
          <a:xfrm>
            <a:off x="7680960" y="1371600"/>
            <a:ext cx="3840480" cy="4572000"/>
          </a:xfrm>
          <a:prstGeom prst="rect">
            <a:avLst/>
          </a:prstGeom>
          <a:solidFill>
            <a:srgbClr val="FFFDF8"/>
          </a:solidFill>
          <a:ln w="12700">
            <a:solidFill>
              <a:srgbClr val="E0D9D0"/>
            </a:solidFill>
            <a:prstDash val="solid"/>
          </a:ln>
        </p:spPr>
      </p:sp>
      <p:sp>
        <p:nvSpPr>
          <p:cNvPr id="10" name="Text 7"/>
          <p:cNvSpPr/>
          <p:nvPr/>
        </p:nvSpPr>
        <p:spPr>
          <a:xfrm>
            <a:off x="7863840" y="1645920"/>
            <a:ext cx="3474720" cy="548640"/>
          </a:xfrm>
          <a:prstGeom prst="rect">
            <a:avLst/>
          </a:prstGeom>
          <a:noFill/>
          <a:ln/>
        </p:spPr>
        <p:txBody>
          <a:bodyPr wrap="square" rtlCol="0" anchor="ctr"/>
          <a:lstStyle/>
          <a:p>
            <a:pPr algn="ctr" indent="0" marL="0">
              <a:buNone/>
            </a:pPr>
            <a:r>
              <a:rPr lang="en-US" sz="1500" b="1" dirty="0">
                <a:solidFill>
                  <a:srgbClr val="9E7D84"/>
                </a:solidFill>
                <a:latin typeface="Aeonik" pitchFamily="34" charset="0"/>
                <a:ea typeface="Aeonik" pitchFamily="34" charset="-122"/>
                <a:cs typeface="Aeonik" pitchFamily="34" charset="-120"/>
              </a:rPr>
              <a:t>SILICON INTENSITY INDEX</a:t>
            </a:r>
            <a:endParaRPr lang="en-US" sz="1500" dirty="0"/>
          </a:p>
        </p:txBody>
      </p:sp>
      <p:sp>
        <p:nvSpPr>
          <p:cNvPr id="11" name="Text 8"/>
          <p:cNvSpPr/>
          <p:nvPr/>
        </p:nvSpPr>
        <p:spPr>
          <a:xfrm>
            <a:off x="7863840" y="2377440"/>
            <a:ext cx="3474720" cy="3291840"/>
          </a:xfrm>
          <a:prstGeom prst="rect">
            <a:avLst/>
          </a:prstGeom>
          <a:noFill/>
          <a:ln/>
        </p:spPr>
        <p:txBody>
          <a:bodyPr wrap="square" rtlCol="0" anchor="ctr"/>
          <a:lstStyle/>
          <a:p>
            <a:pPr algn="l" indent="0" marL="0">
              <a:buNone/>
            </a:pPr>
            <a:r>
              <a:rPr lang="en-US" sz="1300" dirty="0">
                <a:solidFill>
                  <a:srgbClr val="6B6560"/>
                </a:solidFill>
                <a:latin typeface="Aeonik" pitchFamily="34" charset="0"/>
                <a:ea typeface="Aeonik" pitchFamily="34" charset="-122"/>
                <a:cs typeface="Aeonik" pitchFamily="34" charset="-120"/>
              </a:rPr>
              <a:t>Defined as </a:t>
            </a:r>
            <a:pPr algn="l" indent="0" marL="0">
              <a:buNone/>
            </a:pPr>
            <a:r>
              <a:rPr lang="en-US" sz="1300" b="1" dirty="0">
                <a:solidFill>
                  <a:srgbClr val="1A1714"/>
                </a:solidFill>
                <a:latin typeface="Aeonik" pitchFamily="34" charset="0"/>
                <a:ea typeface="Aeonik" pitchFamily="34" charset="-122"/>
                <a:cs typeface="Aeonik" pitchFamily="34" charset="-120"/>
              </a:rPr>
              <a:t>the total monetary value of silicon content embedded per finished product unit</a:t>
            </a:r>
            <a:pPr algn="l" indent="0" marL="0">
              <a:buNone/>
            </a:pPr>
            <a:r>
              <a:rPr lang="en-US" sz="1300" dirty="0">
                <a:solidFill>
                  <a:srgbClr val="6B6560"/>
                </a:solidFill>
                <a:latin typeface="Aeonik" pitchFamily="34" charset="0"/>
                <a:ea typeface="Aeonik" pitchFamily="34" charset="-122"/>
                <a:cs typeface="Aeonik" pitchFamily="34" charset="-120"/>
              </a:rPr>
              <a:t>. This index is the primary metric tracking how deeply semiconductors add value to downstream hardware.
</a:t>
            </a:r>
            <a:pPr algn="l" indent="0" marL="0">
              <a:buNone/>
            </a:pPr>
            <a:r>
              <a:rPr lang="en-US" sz="1100" b="1" dirty="0">
                <a:solidFill>
                  <a:srgbClr val="1A1714"/>
                </a:solidFill>
                <a:latin typeface="Aeonik" pitchFamily="34" charset="0"/>
                <a:ea typeface="Aeonik" pitchFamily="34" charset="-122"/>
                <a:cs typeface="Aeonik" pitchFamily="34" charset="-120"/>
              </a:rPr>
              <a:t>Value Metric: </a:t>
            </a:r>
            <a:pPr algn="l" indent="0" marL="0">
              <a:buNone/>
            </a:pPr>
            <a:r>
              <a:rPr lang="en-US" sz="1100" i="1" dirty="0">
                <a:solidFill>
                  <a:srgbClr val="6B6560"/>
                </a:solidFill>
                <a:latin typeface="Aeonik" pitchFamily="34" charset="0"/>
                <a:ea typeface="Aeonik" pitchFamily="34" charset="-122"/>
                <a:cs typeface="Aeonik" pitchFamily="34" charset="-120"/>
              </a:rPr>
              <a:t>Measures semiconductor reliance across all downstream products.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indent="0" marL="0">
              <a:buNone/>
            </a:pPr>
            <a:r>
              <a:rPr lang="en-US" sz="1200" b="1" spc="150" kern="0" dirty="0">
                <a:solidFill>
                  <a:srgbClr val="B84A2F"/>
                </a:solidFill>
                <a:latin typeface="Aeonik" pitchFamily="34" charset="0"/>
                <a:ea typeface="Aeonik" pitchFamily="34" charset="-122"/>
                <a:cs typeface="Aeonik" pitchFamily="34" charset="-120"/>
              </a:rPr>
              <a:t>PART 3: DOWNSTREAM END-USER INDUSTRIES &amp; APPLICATION ECOSYSTEM</a:t>
            </a:r>
            <a:endParaRPr lang="en-US" sz="1200" dirty="0"/>
          </a:p>
        </p:txBody>
      </p:sp>
      <p:sp>
        <p:nvSpPr>
          <p:cNvPr id="3" name="Text 1"/>
          <p:cNvSpPr/>
          <p:nvPr/>
        </p:nvSpPr>
        <p:spPr>
          <a:xfrm>
            <a:off x="548640" y="640080"/>
            <a:ext cx="10972800" cy="548640"/>
          </a:xfrm>
          <a:prstGeom prst="rect">
            <a:avLst/>
          </a:prstGeom>
          <a:noFill/>
          <a:ln/>
        </p:spPr>
        <p:txBody>
          <a:bodyPr wrap="square" rtlCol="0" anchor="ctr"/>
          <a:lstStyle/>
          <a:p>
            <a:pPr indent="0" marL="0">
              <a:buNone/>
            </a:pPr>
            <a:r>
              <a:rPr lang="en-US" sz="3200" b="1" dirty="0">
                <a:solidFill>
                  <a:srgbClr val="1A1714"/>
                </a:solidFill>
                <a:latin typeface="PP Mondwest" pitchFamily="34" charset="0"/>
                <a:ea typeface="PP Mondwest" pitchFamily="34" charset="-122"/>
                <a:cs typeface="PP Mondwest" pitchFamily="34" charset="-120"/>
              </a:rPr>
              <a:t>Executive Summary: The Demand Landscape in 2026</a:t>
            </a:r>
            <a:endParaRPr lang="en-US" sz="3200" dirty="0"/>
          </a:p>
        </p:txBody>
      </p:sp>
      <p:sp>
        <p:nvSpPr>
          <p:cNvPr id="4" name="Text 2"/>
          <p:cNvSpPr/>
          <p:nvPr/>
        </p:nvSpPr>
        <p:spPr>
          <a:xfrm>
            <a:off x="548640" y="6400800"/>
            <a:ext cx="10972800" cy="274320"/>
          </a:xfrm>
          <a:prstGeom prst="rect">
            <a:avLst/>
          </a:prstGeom>
          <a:noFill/>
          <a:ln/>
        </p:spPr>
        <p:txBody>
          <a:bodyPr wrap="square" rtlCol="0" anchor="ctr"/>
          <a:lstStyle/>
          <a:p>
            <a:pPr indent="0" marL="0">
              <a:buNone/>
            </a:pPr>
            <a:r>
              <a:rPr lang="en-US" sz="1000" dirty="0">
                <a:solidFill>
                  <a:srgbClr val="6B6560"/>
                </a:solidFill>
                <a:latin typeface="Aeonik" pitchFamily="34" charset="0"/>
                <a:ea typeface="Aeonik" pitchFamily="34" charset="-122"/>
                <a:cs typeface="Aeonik" pitchFamily="34" charset="-120"/>
              </a:rPr>
              <a:t>The 2026 Semiconductor Ecosystem | Slide 12</a:t>
            </a:r>
            <a:endParaRPr lang="en-US" sz="1000" dirty="0"/>
          </a:p>
        </p:txBody>
      </p:sp>
      <p:sp>
        <p:nvSpPr>
          <p:cNvPr id="6" name="Shape 3"/>
          <p:cNvSpPr/>
          <p:nvPr/>
        </p:nvSpPr>
        <p:spPr>
          <a:xfrm>
            <a:off x="548640" y="1371600"/>
            <a:ext cx="10972800" cy="914400"/>
          </a:xfrm>
          <a:prstGeom prst="rect">
            <a:avLst/>
          </a:prstGeom>
          <a:solidFill>
            <a:srgbClr val="FFFDF8"/>
          </a:solidFill>
          <a:ln w="19050">
            <a:solidFill>
              <a:srgbClr val="B84A2F"/>
            </a:solidFill>
            <a:prstDash val="solid"/>
          </a:ln>
        </p:spPr>
      </p:sp>
      <p:sp>
        <p:nvSpPr>
          <p:cNvPr id="7" name="Text 4"/>
          <p:cNvSpPr/>
          <p:nvPr/>
        </p:nvSpPr>
        <p:spPr>
          <a:xfrm>
            <a:off x="731520" y="1463040"/>
            <a:ext cx="10607040" cy="731520"/>
          </a:xfrm>
          <a:prstGeom prst="rect">
            <a:avLst/>
          </a:prstGeom>
          <a:noFill/>
          <a:ln/>
        </p:spPr>
        <p:txBody>
          <a:bodyPr wrap="square" rtlCol="0" anchor="ctr"/>
          <a:lstStyle/>
          <a:p>
            <a:pPr indent="0" marL="0">
              <a:buNone/>
            </a:pPr>
            <a:r>
              <a:rPr lang="en-US" sz="1800" b="1" i="1" dirty="0">
                <a:solidFill>
                  <a:srgbClr val="B84A2F"/>
                </a:solidFill>
                <a:latin typeface="Bookman ITC Std" pitchFamily="34" charset="0"/>
                <a:ea typeface="Bookman ITC Std" pitchFamily="34" charset="-122"/>
                <a:cs typeface="Bookman ITC Std" pitchFamily="34" charset="-120"/>
              </a:rPr>
              <a:t>Demand is shifting from traditional computing toward AI infrastructure, Automotive, and Industrial Automation.</a:t>
            </a:r>
            <a:endParaRPr lang="en-US" sz="1800" dirty="0"/>
          </a:p>
        </p:txBody>
      </p:sp>
      <p:sp>
        <p:nvSpPr>
          <p:cNvPr id="8" name="Text 5"/>
          <p:cNvSpPr/>
          <p:nvPr/>
        </p:nvSpPr>
        <p:spPr>
          <a:xfrm>
            <a:off x="731520" y="2194560"/>
            <a:ext cx="2286000" cy="274320"/>
          </a:xfrm>
          <a:prstGeom prst="rect">
            <a:avLst/>
          </a:prstGeom>
          <a:noFill/>
          <a:ln/>
        </p:spPr>
        <p:txBody>
          <a:bodyPr wrap="square" rtlCol="0" anchor="ctr"/>
          <a:lstStyle/>
          <a:p>
            <a:pPr indent="0" marL="0">
              <a:buNone/>
            </a:pPr>
            <a:r>
              <a:rPr lang="en-US" sz="1000" b="1" dirty="0">
                <a:solidFill>
                  <a:srgbClr val="6B6560"/>
                </a:solidFill>
                <a:latin typeface="Aeonik" pitchFamily="34" charset="0"/>
                <a:ea typeface="Aeonik" pitchFamily="34" charset="-122"/>
                <a:cs typeface="Aeonik" pitchFamily="34" charset="-120"/>
              </a:rPr>
              <a:t>INDUSTRY SEGMENT</a:t>
            </a:r>
            <a:endParaRPr lang="en-US" sz="1000" dirty="0"/>
          </a:p>
        </p:txBody>
      </p:sp>
      <p:sp>
        <p:nvSpPr>
          <p:cNvPr id="9" name="Text 6"/>
          <p:cNvSpPr/>
          <p:nvPr/>
        </p:nvSpPr>
        <p:spPr>
          <a:xfrm>
            <a:off x="3200400" y="2194560"/>
            <a:ext cx="3200400" cy="274320"/>
          </a:xfrm>
          <a:prstGeom prst="rect">
            <a:avLst/>
          </a:prstGeom>
          <a:noFill/>
          <a:ln/>
        </p:spPr>
        <p:txBody>
          <a:bodyPr wrap="square" rtlCol="0" anchor="ctr"/>
          <a:lstStyle/>
          <a:p>
            <a:pPr indent="0" marL="0">
              <a:buNone/>
            </a:pPr>
            <a:r>
              <a:rPr lang="en-US" sz="1000" b="1" dirty="0">
                <a:solidFill>
                  <a:srgbClr val="6B6560"/>
                </a:solidFill>
                <a:latin typeface="Aeonik" pitchFamily="34" charset="0"/>
                <a:ea typeface="Aeonik" pitchFamily="34" charset="-122"/>
                <a:cs typeface="Aeonik" pitchFamily="34" charset="-120"/>
              </a:rPr>
              <a:t>GROWTH SPEED &amp; STATUS</a:t>
            </a:r>
            <a:endParaRPr lang="en-US" sz="1000" dirty="0"/>
          </a:p>
        </p:txBody>
      </p:sp>
      <p:sp>
        <p:nvSpPr>
          <p:cNvPr id="10" name="Text 7"/>
          <p:cNvSpPr/>
          <p:nvPr/>
        </p:nvSpPr>
        <p:spPr>
          <a:xfrm>
            <a:off x="6583680" y="2194560"/>
            <a:ext cx="4754880" cy="274320"/>
          </a:xfrm>
          <a:prstGeom prst="rect">
            <a:avLst/>
          </a:prstGeom>
          <a:noFill/>
          <a:ln/>
        </p:spPr>
        <p:txBody>
          <a:bodyPr wrap="square" rtlCol="0" anchor="ctr"/>
          <a:lstStyle/>
          <a:p>
            <a:pPr indent="0" marL="0">
              <a:buNone/>
            </a:pPr>
            <a:r>
              <a:rPr lang="en-US" sz="1000" b="1" dirty="0">
                <a:solidFill>
                  <a:srgbClr val="6B6560"/>
                </a:solidFill>
                <a:latin typeface="Aeonik" pitchFamily="34" charset="0"/>
                <a:ea typeface="Aeonik" pitchFamily="34" charset="-122"/>
                <a:cs typeface="Aeonik" pitchFamily="34" charset="-120"/>
              </a:rPr>
              <a:t>SOURCING &amp; TECHNOLOGY FOCUS</a:t>
            </a:r>
            <a:endParaRPr lang="en-US" sz="1000" dirty="0"/>
          </a:p>
        </p:txBody>
      </p:sp>
      <p:sp>
        <p:nvSpPr>
          <p:cNvPr id="11" name="Shape 8"/>
          <p:cNvSpPr/>
          <p:nvPr/>
        </p:nvSpPr>
        <p:spPr>
          <a:xfrm>
            <a:off x="548640" y="2560320"/>
            <a:ext cx="10972800" cy="1005840"/>
          </a:xfrm>
          <a:prstGeom prst="rect">
            <a:avLst/>
          </a:prstGeom>
          <a:solidFill>
            <a:srgbClr val="FFFDF8"/>
          </a:solidFill>
          <a:ln w="12700">
            <a:solidFill>
              <a:srgbClr val="E0D9D0"/>
            </a:solidFill>
            <a:prstDash val="solid"/>
          </a:ln>
        </p:spPr>
      </p:sp>
      <p:sp>
        <p:nvSpPr>
          <p:cNvPr id="12" name="Text 9"/>
          <p:cNvSpPr/>
          <p:nvPr/>
        </p:nvSpPr>
        <p:spPr>
          <a:xfrm>
            <a:off x="731520" y="2834640"/>
            <a:ext cx="2286000" cy="457200"/>
          </a:xfrm>
          <a:prstGeom prst="rect">
            <a:avLst/>
          </a:prstGeom>
          <a:noFill/>
          <a:ln/>
        </p:spPr>
        <p:txBody>
          <a:bodyPr wrap="square" rtlCol="0" anchor="ctr"/>
          <a:lstStyle/>
          <a:p>
            <a:pPr indent="0" marL="0">
              <a:buNone/>
            </a:pPr>
            <a:r>
              <a:rPr lang="en-US" sz="1600" b="1" dirty="0">
                <a:solidFill>
                  <a:srgbClr val="B84A2F"/>
                </a:solidFill>
                <a:latin typeface="Aeonik" pitchFamily="34" charset="0"/>
                <a:ea typeface="Aeonik" pitchFamily="34" charset="-122"/>
                <a:cs typeface="Aeonik" pitchFamily="34" charset="-120"/>
              </a:rPr>
              <a:t>AI Datacenters</a:t>
            </a:r>
            <a:endParaRPr lang="en-US" sz="1600" dirty="0"/>
          </a:p>
        </p:txBody>
      </p:sp>
      <p:sp>
        <p:nvSpPr>
          <p:cNvPr id="13" name="Text 10"/>
          <p:cNvSpPr/>
          <p:nvPr/>
        </p:nvSpPr>
        <p:spPr>
          <a:xfrm>
            <a:off x="3200400" y="2834640"/>
            <a:ext cx="3017520" cy="457200"/>
          </a:xfrm>
          <a:prstGeom prst="rect">
            <a:avLst/>
          </a:prstGeom>
          <a:noFill/>
          <a:ln/>
        </p:spPr>
        <p:txBody>
          <a:bodyPr wrap="square" rtlCol="0" anchor="ctr"/>
          <a:lstStyle/>
          <a:p>
            <a:pPr indent="0" marL="0">
              <a:buNone/>
            </a:pPr>
            <a:r>
              <a:rPr lang="en-US" sz="1300" b="1" dirty="0">
                <a:solidFill>
                  <a:srgbClr val="1A1714"/>
                </a:solidFill>
                <a:latin typeface="Aeonik" pitchFamily="34" charset="0"/>
                <a:ea typeface="Aeonik" pitchFamily="34" charset="-122"/>
                <a:cs typeface="Aeonik" pitchFamily="34" charset="-120"/>
              </a:rPr>
              <a:t>50% CAGR</a:t>
            </a:r>
            <a:pPr indent="0" marL="0">
              <a:buNone/>
            </a:pPr>
            <a:r>
              <a:rPr lang="en-US" sz="1300" dirty="0">
                <a:solidFill>
                  <a:srgbClr val="6B6560"/>
                </a:solidFill>
                <a:latin typeface="Aeonik" pitchFamily="34" charset="0"/>
                <a:ea typeface="Aeonik" pitchFamily="34" charset="-122"/>
                <a:cs typeface="Aeonik" pitchFamily="34" charset="-120"/>
              </a:rPr>
              <a:t> (Exponential Value Growth)</a:t>
            </a:r>
            <a:endParaRPr lang="en-US" sz="1300" dirty="0"/>
          </a:p>
        </p:txBody>
      </p:sp>
      <p:sp>
        <p:nvSpPr>
          <p:cNvPr id="14" name="Text 11"/>
          <p:cNvSpPr/>
          <p:nvPr/>
        </p:nvSpPr>
        <p:spPr>
          <a:xfrm>
            <a:off x="6583680" y="2743200"/>
            <a:ext cx="4754880" cy="640080"/>
          </a:xfrm>
          <a:prstGeom prst="rect">
            <a:avLst/>
          </a:prstGeom>
          <a:noFill/>
          <a:ln/>
        </p:spPr>
        <p:txBody>
          <a:bodyPr wrap="square" rtlCol="0" anchor="ctr"/>
          <a:lstStyle/>
          <a:p>
            <a:pPr indent="0" marL="0">
              <a:buNone/>
            </a:pPr>
            <a:r>
              <a:rPr lang="en-US" sz="1300" dirty="0">
                <a:solidFill>
                  <a:srgbClr val="6B6560"/>
                </a:solidFill>
                <a:latin typeface="Aeonik" pitchFamily="34" charset="0"/>
                <a:ea typeface="Aeonik" pitchFamily="34" charset="-122"/>
                <a:cs typeface="Aeonik" pitchFamily="34" charset="-120"/>
              </a:rPr>
              <a:t>GPUs, HBM (High Bandwidth Memory), advanced optical links, sub-3nm allocations.</a:t>
            </a:r>
            <a:endParaRPr lang="en-US" sz="1300" dirty="0"/>
          </a:p>
        </p:txBody>
      </p:sp>
      <p:sp>
        <p:nvSpPr>
          <p:cNvPr id="15" name="Shape 12"/>
          <p:cNvSpPr/>
          <p:nvPr/>
        </p:nvSpPr>
        <p:spPr>
          <a:xfrm>
            <a:off x="548640" y="3749040"/>
            <a:ext cx="10972800" cy="1005840"/>
          </a:xfrm>
          <a:prstGeom prst="rect">
            <a:avLst/>
          </a:prstGeom>
          <a:solidFill>
            <a:srgbClr val="FFFDF8"/>
          </a:solidFill>
          <a:ln w="12700">
            <a:solidFill>
              <a:srgbClr val="E0D9D0"/>
            </a:solidFill>
            <a:prstDash val="solid"/>
          </a:ln>
        </p:spPr>
      </p:sp>
      <p:sp>
        <p:nvSpPr>
          <p:cNvPr id="16" name="Text 13"/>
          <p:cNvSpPr/>
          <p:nvPr/>
        </p:nvSpPr>
        <p:spPr>
          <a:xfrm>
            <a:off x="731520" y="4023360"/>
            <a:ext cx="2286000" cy="457200"/>
          </a:xfrm>
          <a:prstGeom prst="rect">
            <a:avLst/>
          </a:prstGeom>
          <a:noFill/>
          <a:ln/>
        </p:spPr>
        <p:txBody>
          <a:bodyPr wrap="square" rtlCol="0" anchor="ctr"/>
          <a:lstStyle/>
          <a:p>
            <a:pPr indent="0" marL="0">
              <a:buNone/>
            </a:pPr>
            <a:r>
              <a:rPr lang="en-US" sz="1600" b="1" dirty="0">
                <a:solidFill>
                  <a:srgbClr val="9E7D84"/>
                </a:solidFill>
                <a:latin typeface="Aeonik" pitchFamily="34" charset="0"/>
                <a:ea typeface="Aeonik" pitchFamily="34" charset="-122"/>
                <a:cs typeface="Aeonik" pitchFamily="34" charset="-120"/>
              </a:rPr>
              <a:t>Automotive</a:t>
            </a:r>
            <a:endParaRPr lang="en-US" sz="1600" dirty="0"/>
          </a:p>
        </p:txBody>
      </p:sp>
      <p:sp>
        <p:nvSpPr>
          <p:cNvPr id="17" name="Text 14"/>
          <p:cNvSpPr/>
          <p:nvPr/>
        </p:nvSpPr>
        <p:spPr>
          <a:xfrm>
            <a:off x="3200400" y="4023360"/>
            <a:ext cx="3017520" cy="457200"/>
          </a:xfrm>
          <a:prstGeom prst="rect">
            <a:avLst/>
          </a:prstGeom>
          <a:noFill/>
          <a:ln/>
        </p:spPr>
        <p:txBody>
          <a:bodyPr wrap="square" rtlCol="0" anchor="ctr"/>
          <a:lstStyle/>
          <a:p>
            <a:pPr indent="0" marL="0">
              <a:buNone/>
            </a:pPr>
            <a:r>
              <a:rPr lang="en-US" sz="1300" b="1" dirty="0">
                <a:solidFill>
                  <a:srgbClr val="1A1714"/>
                </a:solidFill>
                <a:latin typeface="Aeonik" pitchFamily="34" charset="0"/>
                <a:ea typeface="Aeonik" pitchFamily="34" charset="-122"/>
                <a:cs typeface="Aeonik" pitchFamily="34" charset="-120"/>
              </a:rPr>
              <a:t>Fastest Volume Growth</a:t>
            </a:r>
            <a:pPr indent="0" marL="0">
              <a:buNone/>
            </a:pPr>
            <a:r>
              <a:rPr lang="en-US" sz="1300" dirty="0">
                <a:solidFill>
                  <a:srgbClr val="6B6560"/>
                </a:solidFill>
                <a:latin typeface="Aeonik" pitchFamily="34" charset="0"/>
                <a:ea typeface="Aeonik" pitchFamily="34" charset="-122"/>
                <a:cs typeface="Aeonik" pitchFamily="34" charset="-120"/>
              </a:rPr>
              <a:t> (High Intensity scaling)</a:t>
            </a:r>
            <a:endParaRPr lang="en-US" sz="1300" dirty="0"/>
          </a:p>
        </p:txBody>
      </p:sp>
      <p:sp>
        <p:nvSpPr>
          <p:cNvPr id="18" name="Text 15"/>
          <p:cNvSpPr/>
          <p:nvPr/>
        </p:nvSpPr>
        <p:spPr>
          <a:xfrm>
            <a:off x="6583680" y="3931920"/>
            <a:ext cx="4754880" cy="640080"/>
          </a:xfrm>
          <a:prstGeom prst="rect">
            <a:avLst/>
          </a:prstGeom>
          <a:noFill/>
          <a:ln/>
        </p:spPr>
        <p:txBody>
          <a:bodyPr wrap="square" rtlCol="0" anchor="ctr"/>
          <a:lstStyle/>
          <a:p>
            <a:pPr indent="0" marL="0">
              <a:buNone/>
            </a:pPr>
            <a:r>
              <a:rPr lang="en-US" sz="1300" dirty="0">
                <a:solidFill>
                  <a:srgbClr val="6B6560"/>
                </a:solidFill>
                <a:latin typeface="Aeonik" pitchFamily="34" charset="0"/>
                <a:ea typeface="Aeonik" pitchFamily="34" charset="-122"/>
                <a:cs typeface="Aeonik" pitchFamily="34" charset="-120"/>
              </a:rPr>
              <a:t>ADAS logic, Lidar, Silicon Carbide (SiC) power logic, 28nm+ legacy microcontrollers.</a:t>
            </a:r>
            <a:endParaRPr lang="en-US" sz="1300" dirty="0"/>
          </a:p>
        </p:txBody>
      </p:sp>
      <p:sp>
        <p:nvSpPr>
          <p:cNvPr id="19" name="Shape 16"/>
          <p:cNvSpPr/>
          <p:nvPr/>
        </p:nvSpPr>
        <p:spPr>
          <a:xfrm>
            <a:off x="548640" y="4937760"/>
            <a:ext cx="10972800" cy="1005840"/>
          </a:xfrm>
          <a:prstGeom prst="rect">
            <a:avLst/>
          </a:prstGeom>
          <a:solidFill>
            <a:srgbClr val="FFFDF8"/>
          </a:solidFill>
          <a:ln w="12700">
            <a:solidFill>
              <a:srgbClr val="E0D9D0"/>
            </a:solidFill>
            <a:prstDash val="solid"/>
          </a:ln>
        </p:spPr>
      </p:sp>
      <p:sp>
        <p:nvSpPr>
          <p:cNvPr id="20" name="Text 17"/>
          <p:cNvSpPr/>
          <p:nvPr/>
        </p:nvSpPr>
        <p:spPr>
          <a:xfrm>
            <a:off x="731520" y="5212080"/>
            <a:ext cx="2286000" cy="457200"/>
          </a:xfrm>
          <a:prstGeom prst="rect">
            <a:avLst/>
          </a:prstGeom>
          <a:noFill/>
          <a:ln/>
        </p:spPr>
        <p:txBody>
          <a:bodyPr wrap="square" rtlCol="0" anchor="ctr"/>
          <a:lstStyle/>
          <a:p>
            <a:pPr indent="0" marL="0">
              <a:buNone/>
            </a:pPr>
            <a:r>
              <a:rPr lang="en-US" sz="1600" b="1" dirty="0">
                <a:solidFill>
                  <a:srgbClr val="768C7C"/>
                </a:solidFill>
                <a:latin typeface="Aeonik" pitchFamily="34" charset="0"/>
                <a:ea typeface="Aeonik" pitchFamily="34" charset="-122"/>
                <a:cs typeface="Aeonik" pitchFamily="34" charset="-120"/>
              </a:rPr>
              <a:t>Smartphones &amp; PCs</a:t>
            </a:r>
            <a:endParaRPr lang="en-US" sz="1600" dirty="0"/>
          </a:p>
        </p:txBody>
      </p:sp>
      <p:sp>
        <p:nvSpPr>
          <p:cNvPr id="21" name="Text 18"/>
          <p:cNvSpPr/>
          <p:nvPr/>
        </p:nvSpPr>
        <p:spPr>
          <a:xfrm>
            <a:off x="3200400" y="5212080"/>
            <a:ext cx="3017520" cy="457200"/>
          </a:xfrm>
          <a:prstGeom prst="rect">
            <a:avLst/>
          </a:prstGeom>
          <a:noFill/>
          <a:ln/>
        </p:spPr>
        <p:txBody>
          <a:bodyPr wrap="square" rtlCol="0" anchor="ctr"/>
          <a:lstStyle/>
          <a:p>
            <a:pPr indent="0" marL="0">
              <a:buNone/>
            </a:pPr>
            <a:r>
              <a:rPr lang="en-US" sz="1300" b="1" dirty="0">
                <a:solidFill>
                  <a:srgbClr val="1A1714"/>
                </a:solidFill>
                <a:latin typeface="Aeonik" pitchFamily="34" charset="0"/>
                <a:ea typeface="Aeonik" pitchFamily="34" charset="-122"/>
                <a:cs typeface="Aeonik" pitchFamily="34" charset="-120"/>
              </a:rPr>
              <a:t>Volume Saturation</a:t>
            </a:r>
            <a:pPr indent="0" marL="0">
              <a:buNone/>
            </a:pPr>
            <a:r>
              <a:rPr lang="en-US" sz="1300" dirty="0">
                <a:solidFill>
                  <a:srgbClr val="6B6560"/>
                </a:solidFill>
                <a:latin typeface="Aeonik" pitchFamily="34" charset="0"/>
                <a:ea typeface="Aeonik" pitchFamily="34" charset="-122"/>
                <a:cs typeface="Aeonik" pitchFamily="34" charset="-120"/>
              </a:rPr>
              <a:t> (Flat/Steady volume growth)</a:t>
            </a:r>
            <a:endParaRPr lang="en-US" sz="1300" dirty="0"/>
          </a:p>
        </p:txBody>
      </p:sp>
      <p:sp>
        <p:nvSpPr>
          <p:cNvPr id="22" name="Text 19"/>
          <p:cNvSpPr/>
          <p:nvPr/>
        </p:nvSpPr>
        <p:spPr>
          <a:xfrm>
            <a:off x="6583680" y="5120640"/>
            <a:ext cx="4754880" cy="640080"/>
          </a:xfrm>
          <a:prstGeom prst="rect">
            <a:avLst/>
          </a:prstGeom>
          <a:noFill/>
          <a:ln/>
        </p:spPr>
        <p:txBody>
          <a:bodyPr wrap="square" rtlCol="0" anchor="ctr"/>
          <a:lstStyle/>
          <a:p>
            <a:pPr indent="0" marL="0">
              <a:buNone/>
            </a:pPr>
            <a:r>
              <a:rPr lang="en-US" sz="1300" dirty="0">
                <a:solidFill>
                  <a:srgbClr val="6B6560"/>
                </a:solidFill>
                <a:latin typeface="Aeonik" pitchFamily="34" charset="0"/>
                <a:ea typeface="Aeonik" pitchFamily="34" charset="-122"/>
                <a:cs typeface="Aeonik" pitchFamily="34" charset="-120"/>
              </a:rPr>
              <a:t>Edge-AI acceleration NPUs, standard application processors, memory, sensor logic.</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indent="0" marL="0">
              <a:buNone/>
            </a:pPr>
            <a:r>
              <a:rPr lang="en-US" sz="1200" b="1" spc="150" kern="0" dirty="0">
                <a:solidFill>
                  <a:srgbClr val="B84A2F"/>
                </a:solidFill>
                <a:latin typeface="Aeonik" pitchFamily="34" charset="0"/>
                <a:ea typeface="Aeonik" pitchFamily="34" charset="-122"/>
                <a:cs typeface="Aeonik" pitchFamily="34" charset="-120"/>
              </a:rPr>
              <a:t>PART 3: DOWNSTREAM END-USER INDUSTRIES &amp; APPLICATION ECOSYSTEM</a:t>
            </a:r>
            <a:endParaRPr lang="en-US" sz="1200" dirty="0"/>
          </a:p>
        </p:txBody>
      </p:sp>
      <p:sp>
        <p:nvSpPr>
          <p:cNvPr id="3" name="Text 1"/>
          <p:cNvSpPr/>
          <p:nvPr/>
        </p:nvSpPr>
        <p:spPr>
          <a:xfrm>
            <a:off x="548640" y="640080"/>
            <a:ext cx="10972800" cy="548640"/>
          </a:xfrm>
          <a:prstGeom prst="rect">
            <a:avLst/>
          </a:prstGeom>
          <a:noFill/>
          <a:ln/>
        </p:spPr>
        <p:txBody>
          <a:bodyPr wrap="square" rtlCol="0" anchor="ctr"/>
          <a:lstStyle/>
          <a:p>
            <a:pPr indent="0" marL="0">
              <a:buNone/>
            </a:pPr>
            <a:r>
              <a:rPr lang="en-US" sz="3200" b="1" dirty="0">
                <a:solidFill>
                  <a:srgbClr val="1A1714"/>
                </a:solidFill>
                <a:latin typeface="PP Mondwest" pitchFamily="34" charset="0"/>
                <a:ea typeface="PP Mondwest" pitchFamily="34" charset="-122"/>
                <a:cs typeface="PP Mondwest" pitchFamily="34" charset="-120"/>
              </a:rPr>
              <a:t>AI &amp; Data Centers: The Generative Revolution</a:t>
            </a:r>
            <a:endParaRPr lang="en-US" sz="3200" dirty="0"/>
          </a:p>
        </p:txBody>
      </p:sp>
      <p:sp>
        <p:nvSpPr>
          <p:cNvPr id="4" name="Text 2"/>
          <p:cNvSpPr/>
          <p:nvPr/>
        </p:nvSpPr>
        <p:spPr>
          <a:xfrm>
            <a:off x="548640" y="6400800"/>
            <a:ext cx="10972800" cy="274320"/>
          </a:xfrm>
          <a:prstGeom prst="rect">
            <a:avLst/>
          </a:prstGeom>
          <a:noFill/>
          <a:ln/>
        </p:spPr>
        <p:txBody>
          <a:bodyPr wrap="square" rtlCol="0" anchor="ctr"/>
          <a:lstStyle/>
          <a:p>
            <a:pPr indent="0" marL="0">
              <a:buNone/>
            </a:pPr>
            <a:r>
              <a:rPr lang="en-US" sz="1000" dirty="0">
                <a:solidFill>
                  <a:srgbClr val="6B6560"/>
                </a:solidFill>
                <a:latin typeface="Aeonik" pitchFamily="34" charset="0"/>
                <a:ea typeface="Aeonik" pitchFamily="34" charset="-122"/>
                <a:cs typeface="Aeonik" pitchFamily="34" charset="-120"/>
              </a:rPr>
              <a:t>The 2026 Semiconductor Ecosystem | Slide 13</a:t>
            </a:r>
            <a:endParaRPr lang="en-US" sz="1000" dirty="0"/>
          </a:p>
        </p:txBody>
      </p:sp>
      <p:sp>
        <p:nvSpPr>
          <p:cNvPr id="6" name="Shape 3"/>
          <p:cNvSpPr/>
          <p:nvPr/>
        </p:nvSpPr>
        <p:spPr>
          <a:xfrm>
            <a:off x="548640" y="1371600"/>
            <a:ext cx="6583680" cy="914400"/>
          </a:xfrm>
          <a:prstGeom prst="rect">
            <a:avLst/>
          </a:prstGeom>
          <a:solidFill>
            <a:srgbClr val="FFFDF8"/>
          </a:solidFill>
          <a:ln w="19050">
            <a:solidFill>
              <a:srgbClr val="768C7C"/>
            </a:solidFill>
            <a:prstDash val="solid"/>
          </a:ln>
        </p:spPr>
      </p:sp>
      <p:sp>
        <p:nvSpPr>
          <p:cNvPr id="7" name="Text 4"/>
          <p:cNvSpPr/>
          <p:nvPr/>
        </p:nvSpPr>
        <p:spPr>
          <a:xfrm>
            <a:off x="731520" y="1463040"/>
            <a:ext cx="6217920" cy="731520"/>
          </a:xfrm>
          <a:prstGeom prst="rect">
            <a:avLst/>
          </a:prstGeom>
          <a:noFill/>
          <a:ln/>
        </p:spPr>
        <p:txBody>
          <a:bodyPr wrap="square" rtlCol="0" anchor="ctr"/>
          <a:lstStyle/>
          <a:p>
            <a:pPr indent="0" marL="0">
              <a:buNone/>
            </a:pPr>
            <a:r>
              <a:rPr lang="en-US" sz="1800" b="1" i="1" dirty="0">
                <a:solidFill>
                  <a:srgbClr val="768C7C"/>
                </a:solidFill>
                <a:latin typeface="Bookman ITC Std" pitchFamily="34" charset="0"/>
                <a:ea typeface="Bookman ITC Std" pitchFamily="34" charset="-122"/>
                <a:cs typeface="Bookman ITC Std" pitchFamily="34" charset="-120"/>
              </a:rPr>
              <a:t>Data centers have evolved into "Intelligence Engines," consuming the highest-value silicon ever produced.</a:t>
            </a:r>
            <a:endParaRPr lang="en-US" sz="1800" dirty="0"/>
          </a:p>
        </p:txBody>
      </p:sp>
      <p:sp>
        <p:nvSpPr>
          <p:cNvPr id="8" name="Text 5"/>
          <p:cNvSpPr/>
          <p:nvPr/>
        </p:nvSpPr>
        <p:spPr>
          <a:xfrm>
            <a:off x="548640" y="2560320"/>
            <a:ext cx="6583680" cy="3474720"/>
          </a:xfrm>
          <a:prstGeom prst="rect">
            <a:avLst/>
          </a:prstGeom>
          <a:noFill/>
          <a:ln/>
        </p:spPr>
        <p:txBody>
          <a:bodyPr wrap="square" rtlCol="0" anchor="ctr"/>
          <a:lstStyle/>
          <a:p>
            <a:pPr marL="342900" indent="-342900">
              <a:buSzPct val="100000"/>
              <a:buChar char="•"/>
            </a:pPr>
            <a:r>
              <a:rPr lang="en-US" sz="1800" dirty="0">
                <a:solidFill>
                  <a:srgbClr val="6B6560"/>
                </a:solidFill>
                <a:latin typeface="Aeonik" pitchFamily="34" charset="0"/>
                <a:ea typeface="Aeonik" pitchFamily="34" charset="-122"/>
                <a:cs typeface="Aeonik" pitchFamily="34" charset="-120"/>
              </a:rPr>
              <a:t>- Accelerator Market ($500B+): Generative models and neural computing demand massive scaling of TPU and GPU nodes.</a:t>
            </a:r>
            <a:endParaRPr lang="en-US" sz="1800" dirty="0"/>
          </a:p>
          <a:p>
            <a:pPr marL="342900" indent="-342900">
              <a:buSzPct val="100000"/>
              <a:buChar char="•"/>
            </a:pPr>
            <a:endParaRPr lang="en-US" sz="1800" dirty="0"/>
          </a:p>
          <a:p>
            <a:pPr marL="342900" indent="-342900">
              <a:buSzPct val="100000"/>
              <a:buChar char="•"/>
            </a:pPr>
            <a:r>
              <a:rPr lang="en-US" sz="1800" dirty="0">
                <a:solidFill>
                  <a:srgbClr val="6B6560"/>
                </a:solidFill>
                <a:latin typeface="Aeonik" pitchFamily="34" charset="0"/>
                <a:ea typeface="Aeonik" pitchFamily="34" charset="-122"/>
                <a:cs typeface="Aeonik" pitchFamily="34" charset="-120"/>
              </a:rPr>
              <a:t>- Sub-3nm Node Sourcing: The primary consumers of the most advanced wafer print architectures globally.</a:t>
            </a:r>
            <a:endParaRPr lang="en-US" sz="1800" dirty="0"/>
          </a:p>
          <a:p>
            <a:pPr marL="342900" indent="-342900">
              <a:buSzPct val="100000"/>
              <a:buChar char="•"/>
            </a:pPr>
            <a:endParaRPr lang="en-US" sz="1800" dirty="0"/>
          </a:p>
          <a:p>
            <a:pPr marL="342900" indent="-342900">
              <a:buSzPct val="100000"/>
              <a:buChar char="•"/>
            </a:pPr>
            <a:r>
              <a:rPr lang="en-US" sz="1800" dirty="0">
                <a:solidFill>
                  <a:srgbClr val="6B6560"/>
                </a:solidFill>
                <a:latin typeface="Aeonik" pitchFamily="34" charset="0"/>
                <a:ea typeface="Aeonik" pitchFamily="34" charset="-122"/>
                <a:cs typeface="Aeonik" pitchFamily="34" charset="-120"/>
              </a:rPr>
              <a:t>- Memory &amp; Interconnect: Demands extreme density of High Bandwidth Memory (HBM) and customized routing interconnect silicon.</a:t>
            </a:r>
            <a:endParaRPr lang="en-US" sz="1800" dirty="0"/>
          </a:p>
        </p:txBody>
      </p:sp>
      <p:sp>
        <p:nvSpPr>
          <p:cNvPr id="9" name="Shape 6"/>
          <p:cNvSpPr/>
          <p:nvPr/>
        </p:nvSpPr>
        <p:spPr>
          <a:xfrm>
            <a:off x="7680960" y="1371600"/>
            <a:ext cx="3840480" cy="4572000"/>
          </a:xfrm>
          <a:prstGeom prst="rect">
            <a:avLst/>
          </a:prstGeom>
          <a:solidFill>
            <a:srgbClr val="FFFDF8"/>
          </a:solidFill>
          <a:ln w="12700">
            <a:solidFill>
              <a:srgbClr val="768C7C"/>
            </a:solidFill>
            <a:prstDash val="solid"/>
          </a:ln>
        </p:spPr>
      </p:sp>
      <p:sp>
        <p:nvSpPr>
          <p:cNvPr id="10" name="Text 7"/>
          <p:cNvSpPr/>
          <p:nvPr/>
        </p:nvSpPr>
        <p:spPr>
          <a:xfrm>
            <a:off x="7680960" y="2011680"/>
            <a:ext cx="3840480" cy="365760"/>
          </a:xfrm>
          <a:prstGeom prst="rect">
            <a:avLst/>
          </a:prstGeom>
          <a:noFill/>
          <a:ln/>
        </p:spPr>
        <p:txBody>
          <a:bodyPr wrap="square" rtlCol="0" anchor="ctr"/>
          <a:lstStyle/>
          <a:p>
            <a:pPr algn="ctr" indent="0" marL="0">
              <a:buNone/>
            </a:pPr>
            <a:r>
              <a:rPr lang="en-US" sz="1200" b="1" dirty="0">
                <a:solidFill>
                  <a:srgbClr val="768C7C"/>
                </a:solidFill>
                <a:latin typeface="Aeonik" pitchFamily="34" charset="0"/>
                <a:ea typeface="Aeonik" pitchFamily="34" charset="-122"/>
                <a:cs typeface="Aeonik" pitchFamily="34" charset="-120"/>
              </a:rPr>
              <a:t>CONSENSUS FORECAST</a:t>
            </a:r>
            <a:endParaRPr lang="en-US" sz="1200" dirty="0"/>
          </a:p>
        </p:txBody>
      </p:sp>
      <p:sp>
        <p:nvSpPr>
          <p:cNvPr id="11" name="Text 8"/>
          <p:cNvSpPr/>
          <p:nvPr/>
        </p:nvSpPr>
        <p:spPr>
          <a:xfrm>
            <a:off x="7680960" y="2560320"/>
            <a:ext cx="3840480" cy="1097280"/>
          </a:xfrm>
          <a:prstGeom prst="rect">
            <a:avLst/>
          </a:prstGeom>
          <a:noFill/>
          <a:ln/>
        </p:spPr>
        <p:txBody>
          <a:bodyPr wrap="square" rtlCol="0" anchor="ctr"/>
          <a:lstStyle/>
          <a:p>
            <a:pPr algn="ctr" indent="0" marL="0">
              <a:buNone/>
            </a:pPr>
            <a:r>
              <a:rPr lang="en-US" sz="5400" b="1" dirty="0">
                <a:solidFill>
                  <a:srgbClr val="1A1714"/>
                </a:solidFill>
                <a:latin typeface="PP Mondwest" pitchFamily="34" charset="0"/>
                <a:ea typeface="PP Mondwest" pitchFamily="34" charset="-122"/>
                <a:cs typeface="PP Mondwest" pitchFamily="34" charset="-120"/>
              </a:rPr>
              <a:t>$500B+</a:t>
            </a:r>
            <a:endParaRPr lang="en-US" sz="5400" dirty="0"/>
          </a:p>
        </p:txBody>
      </p:sp>
      <p:sp>
        <p:nvSpPr>
          <p:cNvPr id="12" name="Text 9"/>
          <p:cNvSpPr/>
          <p:nvPr/>
        </p:nvSpPr>
        <p:spPr>
          <a:xfrm>
            <a:off x="7772400" y="3840480"/>
            <a:ext cx="3657600" cy="731520"/>
          </a:xfrm>
          <a:prstGeom prst="rect">
            <a:avLst/>
          </a:prstGeom>
          <a:noFill/>
          <a:ln/>
        </p:spPr>
        <p:txBody>
          <a:bodyPr wrap="square" rtlCol="0" anchor="ctr"/>
          <a:lstStyle/>
          <a:p>
            <a:pPr algn="ctr" indent="0" marL="0">
              <a:buNone/>
            </a:pPr>
            <a:r>
              <a:rPr lang="en-US" sz="1400" b="1" dirty="0">
                <a:solidFill>
                  <a:srgbClr val="6B6560"/>
                </a:solidFill>
                <a:latin typeface="Aeonik" pitchFamily="34" charset="0"/>
                <a:ea typeface="Aeonik" pitchFamily="34" charset="-122"/>
                <a:cs typeface="Aeonik" pitchFamily="34" charset="-120"/>
              </a:rPr>
              <a:t>AI Accelerator Market Projected Size by 2026</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indent="0" marL="0">
              <a:buNone/>
            </a:pPr>
            <a:r>
              <a:rPr lang="en-US" sz="1200" b="1" spc="150" kern="0" dirty="0">
                <a:solidFill>
                  <a:srgbClr val="B84A2F"/>
                </a:solidFill>
                <a:latin typeface="Aeonik" pitchFamily="34" charset="0"/>
                <a:ea typeface="Aeonik" pitchFamily="34" charset="-122"/>
                <a:cs typeface="Aeonik" pitchFamily="34" charset="-120"/>
              </a:rPr>
              <a:t>PART 3: DOWNSTREAM END-USER INDUSTRIES &amp; APPLICATION ECOSYSTEM</a:t>
            </a:r>
            <a:endParaRPr lang="en-US" sz="1200" dirty="0"/>
          </a:p>
        </p:txBody>
      </p:sp>
      <p:sp>
        <p:nvSpPr>
          <p:cNvPr id="3" name="Text 1"/>
          <p:cNvSpPr/>
          <p:nvPr/>
        </p:nvSpPr>
        <p:spPr>
          <a:xfrm>
            <a:off x="548640" y="640080"/>
            <a:ext cx="10972800" cy="548640"/>
          </a:xfrm>
          <a:prstGeom prst="rect">
            <a:avLst/>
          </a:prstGeom>
          <a:noFill/>
          <a:ln/>
        </p:spPr>
        <p:txBody>
          <a:bodyPr wrap="square" rtlCol="0" anchor="ctr"/>
          <a:lstStyle/>
          <a:p>
            <a:pPr indent="0" marL="0">
              <a:buNone/>
            </a:pPr>
            <a:r>
              <a:rPr lang="en-US" sz="3200" b="1" dirty="0">
                <a:solidFill>
                  <a:srgbClr val="1A1714"/>
                </a:solidFill>
                <a:latin typeface="PP Mondwest" pitchFamily="34" charset="0"/>
                <a:ea typeface="PP Mondwest" pitchFamily="34" charset="-122"/>
                <a:cs typeface="PP Mondwest" pitchFamily="34" charset="-120"/>
              </a:rPr>
              <a:t>Automotive: The "Smartphone on Wheels"</a:t>
            </a:r>
            <a:endParaRPr lang="en-US" sz="3200" dirty="0"/>
          </a:p>
        </p:txBody>
      </p:sp>
      <p:sp>
        <p:nvSpPr>
          <p:cNvPr id="4" name="Text 2"/>
          <p:cNvSpPr/>
          <p:nvPr/>
        </p:nvSpPr>
        <p:spPr>
          <a:xfrm>
            <a:off x="548640" y="6400800"/>
            <a:ext cx="10972800" cy="274320"/>
          </a:xfrm>
          <a:prstGeom prst="rect">
            <a:avLst/>
          </a:prstGeom>
          <a:noFill/>
          <a:ln/>
        </p:spPr>
        <p:txBody>
          <a:bodyPr wrap="square" rtlCol="0" anchor="ctr"/>
          <a:lstStyle/>
          <a:p>
            <a:pPr indent="0" marL="0">
              <a:buNone/>
            </a:pPr>
            <a:r>
              <a:rPr lang="en-US" sz="1000" dirty="0">
                <a:solidFill>
                  <a:srgbClr val="6B6560"/>
                </a:solidFill>
                <a:latin typeface="Aeonik" pitchFamily="34" charset="0"/>
                <a:ea typeface="Aeonik" pitchFamily="34" charset="-122"/>
                <a:cs typeface="Aeonik" pitchFamily="34" charset="-120"/>
              </a:rPr>
              <a:t>The 2026 Semiconductor Ecosystem | Slide 14</a:t>
            </a:r>
            <a:endParaRPr lang="en-US" sz="1000" dirty="0"/>
          </a:p>
        </p:txBody>
      </p:sp>
      <p:sp>
        <p:nvSpPr>
          <p:cNvPr id="6" name="Shape 3"/>
          <p:cNvSpPr/>
          <p:nvPr/>
        </p:nvSpPr>
        <p:spPr>
          <a:xfrm>
            <a:off x="548640" y="1371600"/>
            <a:ext cx="6583680" cy="914400"/>
          </a:xfrm>
          <a:prstGeom prst="rect">
            <a:avLst/>
          </a:prstGeom>
          <a:solidFill>
            <a:srgbClr val="FFFDF8"/>
          </a:solidFill>
          <a:ln w="19050">
            <a:solidFill>
              <a:srgbClr val="B84A2F"/>
            </a:solidFill>
            <a:prstDash val="solid"/>
          </a:ln>
        </p:spPr>
      </p:sp>
      <p:sp>
        <p:nvSpPr>
          <p:cNvPr id="7" name="Text 4"/>
          <p:cNvSpPr/>
          <p:nvPr/>
        </p:nvSpPr>
        <p:spPr>
          <a:xfrm>
            <a:off x="731520" y="1463040"/>
            <a:ext cx="6217920" cy="731520"/>
          </a:xfrm>
          <a:prstGeom prst="rect">
            <a:avLst/>
          </a:prstGeom>
          <a:noFill/>
          <a:ln/>
        </p:spPr>
        <p:txBody>
          <a:bodyPr wrap="square" rtlCol="0" anchor="ctr"/>
          <a:lstStyle/>
          <a:p>
            <a:pPr indent="0" marL="0">
              <a:buNone/>
            </a:pPr>
            <a:r>
              <a:rPr lang="en-US" sz="1800" b="1" i="1" dirty="0">
                <a:solidFill>
                  <a:srgbClr val="B84A2F"/>
                </a:solidFill>
                <a:latin typeface="Bookman ITC Std" pitchFamily="34" charset="0"/>
                <a:ea typeface="Bookman ITC Std" pitchFamily="34" charset="-122"/>
                <a:cs typeface="Bookman ITC Std" pitchFamily="34" charset="-120"/>
              </a:rPr>
              <a:t>The transition to EVs and ADAS is doubling semiconductor content per vehicle, reaching over $1,000 per unit.</a:t>
            </a:r>
            <a:endParaRPr lang="en-US" sz="1800" dirty="0"/>
          </a:p>
        </p:txBody>
      </p:sp>
      <p:sp>
        <p:nvSpPr>
          <p:cNvPr id="8" name="Text 5"/>
          <p:cNvSpPr/>
          <p:nvPr/>
        </p:nvSpPr>
        <p:spPr>
          <a:xfrm>
            <a:off x="548640" y="2560320"/>
            <a:ext cx="6583680" cy="3474720"/>
          </a:xfrm>
          <a:prstGeom prst="rect">
            <a:avLst/>
          </a:prstGeom>
          <a:noFill/>
          <a:ln/>
        </p:spPr>
        <p:txBody>
          <a:bodyPr wrap="square" rtlCol="0" anchor="ctr"/>
          <a:lstStyle/>
          <a:p>
            <a:pPr marL="342900" indent="-342900">
              <a:buSzPct val="100000"/>
              <a:buChar char="•"/>
            </a:pPr>
            <a:r>
              <a:rPr lang="en-US" sz="1800" dirty="0">
                <a:solidFill>
                  <a:srgbClr val="6B6560"/>
                </a:solidFill>
                <a:latin typeface="Aeonik" pitchFamily="34" charset="0"/>
                <a:ea typeface="Aeonik" pitchFamily="34" charset="-122"/>
                <a:cs typeface="Aeonik" pitchFamily="34" charset="-120"/>
              </a:rPr>
              <a:t>- Silicon Carbide (SiC) Power: Drives high-efficiency power switches in high-voltage EV battery platforms.</a:t>
            </a:r>
            <a:endParaRPr lang="en-US" sz="1800" dirty="0"/>
          </a:p>
          <a:p>
            <a:pPr marL="342900" indent="-342900">
              <a:buSzPct val="100000"/>
              <a:buChar char="•"/>
            </a:pPr>
            <a:endParaRPr lang="en-US" sz="1800" dirty="0"/>
          </a:p>
          <a:p>
            <a:pPr marL="342900" indent="-342900">
              <a:buSzPct val="100000"/>
              <a:buChar char="•"/>
            </a:pPr>
            <a:r>
              <a:rPr lang="en-US" sz="1800" dirty="0">
                <a:solidFill>
                  <a:srgbClr val="6B6560"/>
                </a:solidFill>
                <a:latin typeface="Aeonik" pitchFamily="34" charset="0"/>
                <a:ea typeface="Aeonik" pitchFamily="34" charset="-122"/>
                <a:cs typeface="Aeonik" pitchFamily="34" charset="-120"/>
              </a:rPr>
              <a:t>- ADAS Autonomous Compute: Self-driving capabilities demand heavy on-board computational units for sensor fusion.</a:t>
            </a:r>
            <a:endParaRPr lang="en-US" sz="1800" dirty="0"/>
          </a:p>
          <a:p>
            <a:pPr marL="342900" indent="-342900">
              <a:buSzPct val="100000"/>
              <a:buChar char="•"/>
            </a:pPr>
            <a:endParaRPr lang="en-US" sz="1800" dirty="0"/>
          </a:p>
          <a:p>
            <a:pPr marL="342900" indent="-342900">
              <a:buSzPct val="100000"/>
              <a:buChar char="•"/>
            </a:pPr>
            <a:r>
              <a:rPr lang="en-US" sz="1800" dirty="0">
                <a:solidFill>
                  <a:srgbClr val="6B6560"/>
                </a:solidFill>
                <a:latin typeface="Aeonik" pitchFamily="34" charset="0"/>
                <a:ea typeface="Aeonik" pitchFamily="34" charset="-122"/>
                <a:cs typeface="Aeonik" pitchFamily="34" charset="-120"/>
              </a:rPr>
              <a:t>- Sensor Arrays Sourcing: Vehicles integrate multiple LiDAR, radar, and camera chip sets for 360-degree coverage.</a:t>
            </a:r>
            <a:endParaRPr lang="en-US" sz="1800" dirty="0"/>
          </a:p>
        </p:txBody>
      </p:sp>
      <p:sp>
        <p:nvSpPr>
          <p:cNvPr id="9" name="Shape 6"/>
          <p:cNvSpPr/>
          <p:nvPr/>
        </p:nvSpPr>
        <p:spPr>
          <a:xfrm>
            <a:off x="7680960" y="1371600"/>
            <a:ext cx="3840480" cy="4572000"/>
          </a:xfrm>
          <a:prstGeom prst="rect">
            <a:avLst/>
          </a:prstGeom>
          <a:solidFill>
            <a:srgbClr val="FFFDF8"/>
          </a:solidFill>
          <a:ln w="12700">
            <a:solidFill>
              <a:srgbClr val="E0D9D0"/>
            </a:solidFill>
            <a:prstDash val="solid"/>
          </a:ln>
        </p:spPr>
      </p:sp>
      <p:sp>
        <p:nvSpPr>
          <p:cNvPr id="10" name="Text 7"/>
          <p:cNvSpPr/>
          <p:nvPr/>
        </p:nvSpPr>
        <p:spPr>
          <a:xfrm>
            <a:off x="7680960" y="2011680"/>
            <a:ext cx="3840480" cy="365760"/>
          </a:xfrm>
          <a:prstGeom prst="rect">
            <a:avLst/>
          </a:prstGeom>
          <a:noFill/>
          <a:ln/>
        </p:spPr>
        <p:txBody>
          <a:bodyPr wrap="square" rtlCol="0" anchor="ctr"/>
          <a:lstStyle/>
          <a:p>
            <a:pPr algn="ctr" indent="0" marL="0">
              <a:buNone/>
            </a:pPr>
            <a:r>
              <a:rPr lang="en-US" sz="1200" b="1" dirty="0">
                <a:solidFill>
                  <a:srgbClr val="B84A2F"/>
                </a:solidFill>
                <a:latin typeface="Aeonik" pitchFamily="34" charset="0"/>
                <a:ea typeface="Aeonik" pitchFamily="34" charset="-122"/>
                <a:cs typeface="Aeonik" pitchFamily="34" charset="-120"/>
              </a:rPr>
              <a:t>EV CONTENT GROWTH</a:t>
            </a:r>
            <a:endParaRPr lang="en-US" sz="1200" dirty="0"/>
          </a:p>
        </p:txBody>
      </p:sp>
      <p:sp>
        <p:nvSpPr>
          <p:cNvPr id="11" name="Text 8"/>
          <p:cNvSpPr/>
          <p:nvPr/>
        </p:nvSpPr>
        <p:spPr>
          <a:xfrm>
            <a:off x="7680960" y="2560320"/>
            <a:ext cx="3840480" cy="1097280"/>
          </a:xfrm>
          <a:prstGeom prst="rect">
            <a:avLst/>
          </a:prstGeom>
          <a:noFill/>
          <a:ln/>
        </p:spPr>
        <p:txBody>
          <a:bodyPr wrap="square" rtlCol="0" anchor="ctr"/>
          <a:lstStyle/>
          <a:p>
            <a:pPr algn="ctr" indent="0" marL="0">
              <a:buNone/>
            </a:pPr>
            <a:r>
              <a:rPr lang="en-US" sz="5000" b="1" dirty="0">
                <a:solidFill>
                  <a:srgbClr val="1A1714"/>
                </a:solidFill>
                <a:latin typeface="PP Mondwest" pitchFamily="34" charset="0"/>
                <a:ea typeface="PP Mondwest" pitchFamily="34" charset="-122"/>
                <a:cs typeface="PP Mondwest" pitchFamily="34" charset="-120"/>
              </a:rPr>
              <a:t>$1,000+</a:t>
            </a:r>
            <a:endParaRPr lang="en-US" sz="5000" dirty="0"/>
          </a:p>
        </p:txBody>
      </p:sp>
      <p:sp>
        <p:nvSpPr>
          <p:cNvPr id="12" name="Text 9"/>
          <p:cNvSpPr/>
          <p:nvPr/>
        </p:nvSpPr>
        <p:spPr>
          <a:xfrm>
            <a:off x="7772400" y="3840480"/>
            <a:ext cx="3657600" cy="731520"/>
          </a:xfrm>
          <a:prstGeom prst="rect">
            <a:avLst/>
          </a:prstGeom>
          <a:noFill/>
          <a:ln/>
        </p:spPr>
        <p:txBody>
          <a:bodyPr wrap="square" rtlCol="0" anchor="ctr"/>
          <a:lstStyle/>
          <a:p>
            <a:pPr algn="ctr" indent="0" marL="0">
              <a:buNone/>
            </a:pPr>
            <a:r>
              <a:rPr lang="en-US" sz="1400" b="1" dirty="0">
                <a:solidFill>
                  <a:srgbClr val="6B6560"/>
                </a:solidFill>
                <a:latin typeface="Aeonik" pitchFamily="34" charset="0"/>
                <a:ea typeface="Aeonik" pitchFamily="34" charset="-122"/>
                <a:cs typeface="Aeonik" pitchFamily="34" charset="-120"/>
              </a:rPr>
              <a:t>$1,000+ semiconductor content per EV unit</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indent="0" marL="0">
              <a:buNone/>
            </a:pPr>
            <a:r>
              <a:rPr lang="en-US" sz="1200" b="1" spc="150" kern="0" dirty="0">
                <a:solidFill>
                  <a:srgbClr val="B84A2F"/>
                </a:solidFill>
                <a:latin typeface="Aeonik" pitchFamily="34" charset="0"/>
                <a:ea typeface="Aeonik" pitchFamily="34" charset="-122"/>
                <a:cs typeface="Aeonik" pitchFamily="34" charset="-120"/>
              </a:rPr>
              <a:t>PART 3: DOWNSTREAM END-USER INDUSTRIES &amp; APPLICATION ECOSYSTEM</a:t>
            </a:r>
            <a:endParaRPr lang="en-US" sz="1200" dirty="0"/>
          </a:p>
        </p:txBody>
      </p:sp>
      <p:sp>
        <p:nvSpPr>
          <p:cNvPr id="3" name="Text 1"/>
          <p:cNvSpPr/>
          <p:nvPr/>
        </p:nvSpPr>
        <p:spPr>
          <a:xfrm>
            <a:off x="548640" y="640080"/>
            <a:ext cx="10972800" cy="548640"/>
          </a:xfrm>
          <a:prstGeom prst="rect">
            <a:avLst/>
          </a:prstGeom>
          <a:noFill/>
          <a:ln/>
        </p:spPr>
        <p:txBody>
          <a:bodyPr wrap="square" rtlCol="0" anchor="ctr"/>
          <a:lstStyle/>
          <a:p>
            <a:pPr indent="0" marL="0">
              <a:buNone/>
            </a:pPr>
            <a:r>
              <a:rPr lang="en-US" sz="3200" b="1" dirty="0">
                <a:solidFill>
                  <a:srgbClr val="1A1714"/>
                </a:solidFill>
                <a:latin typeface="PP Mondwest" pitchFamily="34" charset="0"/>
                <a:ea typeface="PP Mondwest" pitchFamily="34" charset="-122"/>
                <a:cs typeface="PP Mondwest" pitchFamily="34" charset="-120"/>
              </a:rPr>
              <a:t>Industrial, IoT &amp; Healthcare: Intelligence at the Edge</a:t>
            </a:r>
            <a:endParaRPr lang="en-US" sz="3200" dirty="0"/>
          </a:p>
        </p:txBody>
      </p:sp>
      <p:sp>
        <p:nvSpPr>
          <p:cNvPr id="4" name="Text 2"/>
          <p:cNvSpPr/>
          <p:nvPr/>
        </p:nvSpPr>
        <p:spPr>
          <a:xfrm>
            <a:off x="548640" y="6400800"/>
            <a:ext cx="10972800" cy="274320"/>
          </a:xfrm>
          <a:prstGeom prst="rect">
            <a:avLst/>
          </a:prstGeom>
          <a:noFill/>
          <a:ln/>
        </p:spPr>
        <p:txBody>
          <a:bodyPr wrap="square" rtlCol="0" anchor="ctr"/>
          <a:lstStyle/>
          <a:p>
            <a:pPr indent="0" marL="0">
              <a:buNone/>
            </a:pPr>
            <a:r>
              <a:rPr lang="en-US" sz="1000" dirty="0">
                <a:solidFill>
                  <a:srgbClr val="6B6560"/>
                </a:solidFill>
                <a:latin typeface="Aeonik" pitchFamily="34" charset="0"/>
                <a:ea typeface="Aeonik" pitchFamily="34" charset="-122"/>
                <a:cs typeface="Aeonik" pitchFamily="34" charset="-120"/>
              </a:rPr>
              <a:t>The 2026 Semiconductor Ecosystem | Slide 15</a:t>
            </a:r>
            <a:endParaRPr lang="en-US" sz="1000" dirty="0"/>
          </a:p>
        </p:txBody>
      </p:sp>
      <p:sp>
        <p:nvSpPr>
          <p:cNvPr id="6" name="Shape 3"/>
          <p:cNvSpPr/>
          <p:nvPr/>
        </p:nvSpPr>
        <p:spPr>
          <a:xfrm>
            <a:off x="548640" y="1371600"/>
            <a:ext cx="10972800" cy="914400"/>
          </a:xfrm>
          <a:prstGeom prst="rect">
            <a:avLst/>
          </a:prstGeom>
          <a:solidFill>
            <a:srgbClr val="FFFDF8"/>
          </a:solidFill>
          <a:ln w="19050">
            <a:solidFill>
              <a:srgbClr val="9E7D84"/>
            </a:solidFill>
            <a:prstDash val="solid"/>
          </a:ln>
        </p:spPr>
      </p:sp>
      <p:sp>
        <p:nvSpPr>
          <p:cNvPr id="7" name="Text 4"/>
          <p:cNvSpPr/>
          <p:nvPr/>
        </p:nvSpPr>
        <p:spPr>
          <a:xfrm>
            <a:off x="731520" y="1463040"/>
            <a:ext cx="10607040" cy="731520"/>
          </a:xfrm>
          <a:prstGeom prst="rect">
            <a:avLst/>
          </a:prstGeom>
          <a:noFill/>
          <a:ln/>
        </p:spPr>
        <p:txBody>
          <a:bodyPr wrap="square" rtlCol="0" anchor="ctr"/>
          <a:lstStyle/>
          <a:p>
            <a:pPr indent="0" marL="0">
              <a:buNone/>
            </a:pPr>
            <a:r>
              <a:rPr lang="en-US" sz="1800" b="1" i="1" dirty="0">
                <a:solidFill>
                  <a:srgbClr val="9E7D84"/>
                </a:solidFill>
                <a:latin typeface="Bookman ITC Std" pitchFamily="34" charset="0"/>
                <a:ea typeface="Bookman ITC Std" pitchFamily="34" charset="-122"/>
                <a:cs typeface="Bookman ITC Std" pitchFamily="34" charset="-120"/>
              </a:rPr>
              <a:t>Edge AI is transforming manufacturing and healthcare, prioritizing long-lifecycle, high-reliability silicon.</a:t>
            </a:r>
            <a:endParaRPr lang="en-US" sz="1800" dirty="0"/>
          </a:p>
        </p:txBody>
      </p:sp>
      <p:sp>
        <p:nvSpPr>
          <p:cNvPr id="8" name="Shape 5"/>
          <p:cNvSpPr/>
          <p:nvPr/>
        </p:nvSpPr>
        <p:spPr>
          <a:xfrm>
            <a:off x="548640" y="2560320"/>
            <a:ext cx="5212080" cy="3474720"/>
          </a:xfrm>
          <a:prstGeom prst="rect">
            <a:avLst/>
          </a:prstGeom>
          <a:solidFill>
            <a:srgbClr val="FFFDF8"/>
          </a:solidFill>
          <a:ln w="12700">
            <a:solidFill>
              <a:srgbClr val="9E7D84"/>
            </a:solidFill>
            <a:prstDash val="solid"/>
          </a:ln>
        </p:spPr>
      </p:sp>
      <p:sp>
        <p:nvSpPr>
          <p:cNvPr id="9" name="Text 6"/>
          <p:cNvSpPr/>
          <p:nvPr/>
        </p:nvSpPr>
        <p:spPr>
          <a:xfrm>
            <a:off x="822960" y="2834640"/>
            <a:ext cx="4663440" cy="457200"/>
          </a:xfrm>
          <a:prstGeom prst="rect">
            <a:avLst/>
          </a:prstGeom>
          <a:noFill/>
          <a:ln/>
        </p:spPr>
        <p:txBody>
          <a:bodyPr wrap="square" rtlCol="0" anchor="ctr"/>
          <a:lstStyle/>
          <a:p>
            <a:pPr indent="0" marL="0">
              <a:buNone/>
            </a:pPr>
            <a:r>
              <a:rPr lang="en-US" sz="2000" b="1" dirty="0">
                <a:solidFill>
                  <a:srgbClr val="9E7D84"/>
                </a:solidFill>
                <a:latin typeface="PP Mondwest" pitchFamily="34" charset="0"/>
                <a:ea typeface="PP Mondwest" pitchFamily="34" charset="-122"/>
                <a:cs typeface="PP Mondwest" pitchFamily="34" charset="-120"/>
              </a:rPr>
              <a:t>Industry 4.0 Edge Analytics</a:t>
            </a:r>
            <a:endParaRPr lang="en-US" sz="2000" dirty="0"/>
          </a:p>
        </p:txBody>
      </p:sp>
      <p:sp>
        <p:nvSpPr>
          <p:cNvPr id="10" name="Text 7"/>
          <p:cNvSpPr/>
          <p:nvPr/>
        </p:nvSpPr>
        <p:spPr>
          <a:xfrm>
            <a:off x="822960" y="3474720"/>
            <a:ext cx="4663440" cy="2194560"/>
          </a:xfrm>
          <a:prstGeom prst="rect">
            <a:avLst/>
          </a:prstGeom>
          <a:noFill/>
          <a:ln/>
        </p:spPr>
        <p:txBody>
          <a:bodyPr wrap="square" rtlCol="0" anchor="ctr"/>
          <a:lstStyle/>
          <a:p>
            <a:pPr indent="0" marL="0">
              <a:buNone/>
            </a:pPr>
            <a:r>
              <a:rPr lang="en-US" sz="1800" dirty="0">
                <a:solidFill>
                  <a:srgbClr val="6B6560"/>
                </a:solidFill>
                <a:latin typeface="Aeonik" pitchFamily="34" charset="0"/>
                <a:ea typeface="Aeonik" pitchFamily="34" charset="-122"/>
                <a:cs typeface="Aeonik" pitchFamily="34" charset="-120"/>
              </a:rPr>
              <a:t>Factory floor nodes execute real-time local algorithms for predictive maintenance and machine vision controls, utilizing highly rugged legacy processes.</a:t>
            </a:r>
            <a:endParaRPr lang="en-US" sz="1800" dirty="0"/>
          </a:p>
        </p:txBody>
      </p:sp>
      <p:sp>
        <p:nvSpPr>
          <p:cNvPr id="11" name="Shape 8"/>
          <p:cNvSpPr/>
          <p:nvPr/>
        </p:nvSpPr>
        <p:spPr>
          <a:xfrm>
            <a:off x="6309360" y="2560320"/>
            <a:ext cx="5212080" cy="3474720"/>
          </a:xfrm>
          <a:prstGeom prst="rect">
            <a:avLst/>
          </a:prstGeom>
          <a:solidFill>
            <a:srgbClr val="FFFDF8"/>
          </a:solidFill>
          <a:ln w="12700">
            <a:solidFill>
              <a:srgbClr val="768C7C"/>
            </a:solidFill>
            <a:prstDash val="solid"/>
          </a:ln>
        </p:spPr>
      </p:sp>
      <p:sp>
        <p:nvSpPr>
          <p:cNvPr id="12" name="Text 9"/>
          <p:cNvSpPr/>
          <p:nvPr/>
        </p:nvSpPr>
        <p:spPr>
          <a:xfrm>
            <a:off x="6583680" y="2834640"/>
            <a:ext cx="4663440" cy="457200"/>
          </a:xfrm>
          <a:prstGeom prst="rect">
            <a:avLst/>
          </a:prstGeom>
          <a:noFill/>
          <a:ln/>
        </p:spPr>
        <p:txBody>
          <a:bodyPr wrap="square" rtlCol="0" anchor="ctr"/>
          <a:lstStyle/>
          <a:p>
            <a:pPr indent="0" marL="0">
              <a:buNone/>
            </a:pPr>
            <a:r>
              <a:rPr lang="en-US" sz="2000" b="1" dirty="0">
                <a:solidFill>
                  <a:srgbClr val="768C7C"/>
                </a:solidFill>
                <a:latin typeface="PP Mondwest" pitchFamily="34" charset="0"/>
                <a:ea typeface="PP Mondwest" pitchFamily="34" charset="-122"/>
                <a:cs typeface="PP Mondwest" pitchFamily="34" charset="-120"/>
              </a:rPr>
              <a:t>Healthcare Personalized Sourcing</a:t>
            </a:r>
            <a:endParaRPr lang="en-US" sz="2000" dirty="0"/>
          </a:p>
        </p:txBody>
      </p:sp>
      <p:sp>
        <p:nvSpPr>
          <p:cNvPr id="13" name="Text 10"/>
          <p:cNvSpPr/>
          <p:nvPr/>
        </p:nvSpPr>
        <p:spPr>
          <a:xfrm>
            <a:off x="6583680" y="3474720"/>
            <a:ext cx="4663440" cy="2194560"/>
          </a:xfrm>
          <a:prstGeom prst="rect">
            <a:avLst/>
          </a:prstGeom>
          <a:noFill/>
          <a:ln/>
        </p:spPr>
        <p:txBody>
          <a:bodyPr wrap="square" rtlCol="0" anchor="ctr"/>
          <a:lstStyle/>
          <a:p>
            <a:pPr indent="0" marL="0">
              <a:buNone/>
            </a:pPr>
            <a:r>
              <a:rPr lang="en-US" sz="1800" dirty="0">
                <a:solidFill>
                  <a:srgbClr val="6B6560"/>
                </a:solidFill>
                <a:latin typeface="Aeonik" pitchFamily="34" charset="0"/>
                <a:ea typeface="Aeonik" pitchFamily="34" charset="-122"/>
                <a:cs typeface="Aeonik" pitchFamily="34" charset="-120"/>
              </a:rPr>
              <a:t>Semiconductors enable smart wearable diagnostics, active health implants, and personalized diagnostics. Requires extreme reliability certifications.</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indent="0" marL="0">
              <a:buNone/>
            </a:pPr>
            <a:r>
              <a:rPr lang="en-US" sz="1200" b="1" spc="150" kern="0" dirty="0">
                <a:solidFill>
                  <a:srgbClr val="B84A2F"/>
                </a:solidFill>
                <a:latin typeface="Aeonik" pitchFamily="34" charset="0"/>
                <a:ea typeface="Aeonik" pitchFamily="34" charset="-122"/>
                <a:cs typeface="Aeonik" pitchFamily="34" charset="-120"/>
              </a:rPr>
              <a:t>PART 3: DOWNSTREAM END-USER INDUSTRIES &amp; APPLICATION ECOSYSTEM</a:t>
            </a:r>
            <a:endParaRPr lang="en-US" sz="1200" dirty="0"/>
          </a:p>
        </p:txBody>
      </p:sp>
      <p:sp>
        <p:nvSpPr>
          <p:cNvPr id="3" name="Text 1"/>
          <p:cNvSpPr/>
          <p:nvPr/>
        </p:nvSpPr>
        <p:spPr>
          <a:xfrm>
            <a:off x="548640" y="640080"/>
            <a:ext cx="10972800" cy="548640"/>
          </a:xfrm>
          <a:prstGeom prst="rect">
            <a:avLst/>
          </a:prstGeom>
          <a:noFill/>
          <a:ln/>
        </p:spPr>
        <p:txBody>
          <a:bodyPr wrap="square" rtlCol="0" anchor="ctr"/>
          <a:lstStyle/>
          <a:p>
            <a:pPr indent="0" marL="0">
              <a:buNone/>
            </a:pPr>
            <a:r>
              <a:rPr lang="en-US" sz="3200" b="1" dirty="0">
                <a:solidFill>
                  <a:srgbClr val="1A1714"/>
                </a:solidFill>
                <a:latin typeface="PP Mondwest" pitchFamily="34" charset="0"/>
                <a:ea typeface="PP Mondwest" pitchFamily="34" charset="-122"/>
                <a:cs typeface="PP Mondwest" pitchFamily="34" charset="-120"/>
              </a:rPr>
              <a:t>Consumer Electronics &amp; Emerging Frontiers</a:t>
            </a:r>
            <a:endParaRPr lang="en-US" sz="3200" dirty="0"/>
          </a:p>
        </p:txBody>
      </p:sp>
      <p:sp>
        <p:nvSpPr>
          <p:cNvPr id="4" name="Text 2"/>
          <p:cNvSpPr/>
          <p:nvPr/>
        </p:nvSpPr>
        <p:spPr>
          <a:xfrm>
            <a:off x="548640" y="6400800"/>
            <a:ext cx="10972800" cy="274320"/>
          </a:xfrm>
          <a:prstGeom prst="rect">
            <a:avLst/>
          </a:prstGeom>
          <a:noFill/>
          <a:ln/>
        </p:spPr>
        <p:txBody>
          <a:bodyPr wrap="square" rtlCol="0" anchor="ctr"/>
          <a:lstStyle/>
          <a:p>
            <a:pPr indent="0" marL="0">
              <a:buNone/>
            </a:pPr>
            <a:r>
              <a:rPr lang="en-US" sz="1000" dirty="0">
                <a:solidFill>
                  <a:srgbClr val="6B6560"/>
                </a:solidFill>
                <a:latin typeface="Aeonik" pitchFamily="34" charset="0"/>
                <a:ea typeface="Aeonik" pitchFamily="34" charset="-122"/>
                <a:cs typeface="Aeonik" pitchFamily="34" charset="-120"/>
              </a:rPr>
              <a:t>The 2026 Semiconductor Ecosystem | Slide 16</a:t>
            </a:r>
            <a:endParaRPr lang="en-US" sz="1000" dirty="0"/>
          </a:p>
        </p:txBody>
      </p:sp>
      <p:sp>
        <p:nvSpPr>
          <p:cNvPr id="6" name="Shape 3"/>
          <p:cNvSpPr/>
          <p:nvPr/>
        </p:nvSpPr>
        <p:spPr>
          <a:xfrm>
            <a:off x="548640" y="1371600"/>
            <a:ext cx="6583680" cy="914400"/>
          </a:xfrm>
          <a:prstGeom prst="rect">
            <a:avLst/>
          </a:prstGeom>
          <a:solidFill>
            <a:srgbClr val="FFFDF8"/>
          </a:solidFill>
          <a:ln w="19050">
            <a:solidFill>
              <a:srgbClr val="768C7C"/>
            </a:solidFill>
            <a:prstDash val="solid"/>
          </a:ln>
        </p:spPr>
      </p:sp>
      <p:sp>
        <p:nvSpPr>
          <p:cNvPr id="7" name="Text 4"/>
          <p:cNvSpPr/>
          <p:nvPr/>
        </p:nvSpPr>
        <p:spPr>
          <a:xfrm>
            <a:off x="731520" y="1463040"/>
            <a:ext cx="6217920" cy="731520"/>
          </a:xfrm>
          <a:prstGeom prst="rect">
            <a:avLst/>
          </a:prstGeom>
          <a:noFill/>
          <a:ln/>
        </p:spPr>
        <p:txBody>
          <a:bodyPr wrap="square" rtlCol="0" anchor="ctr"/>
          <a:lstStyle/>
          <a:p>
            <a:pPr indent="0" marL="0">
              <a:buNone/>
            </a:pPr>
            <a:r>
              <a:rPr lang="en-US" sz="1800" b="1" i="1" dirty="0">
                <a:solidFill>
                  <a:srgbClr val="768C7C"/>
                </a:solidFill>
                <a:latin typeface="Bookman ITC Std" pitchFamily="34" charset="0"/>
                <a:ea typeface="Bookman ITC Std" pitchFamily="34" charset="-122"/>
                <a:cs typeface="Bookman ITC Std" pitchFamily="34" charset="-120"/>
              </a:rPr>
              <a:t>While traditional consumer tech matures, frontiers like Quantum, 6G, and Neuromorphic computing define the 2030 roadmap.</a:t>
            </a:r>
            <a:endParaRPr lang="en-US" sz="1800" dirty="0"/>
          </a:p>
        </p:txBody>
      </p:sp>
      <p:sp>
        <p:nvSpPr>
          <p:cNvPr id="8" name="Text 5"/>
          <p:cNvSpPr/>
          <p:nvPr/>
        </p:nvSpPr>
        <p:spPr>
          <a:xfrm>
            <a:off x="548640" y="2560320"/>
            <a:ext cx="6583680" cy="3474720"/>
          </a:xfrm>
          <a:prstGeom prst="rect">
            <a:avLst/>
          </a:prstGeom>
          <a:noFill/>
          <a:ln/>
        </p:spPr>
        <p:txBody>
          <a:bodyPr wrap="square" rtlCol="0" anchor="ctr"/>
          <a:lstStyle/>
          <a:p>
            <a:pPr marL="342900" indent="-342900">
              <a:buSzPct val="100000"/>
              <a:buChar char="•"/>
            </a:pPr>
            <a:r>
              <a:rPr lang="en-US" sz="1800" dirty="0">
                <a:solidFill>
                  <a:srgbClr val="6B6560"/>
                </a:solidFill>
                <a:latin typeface="Aeonik" pitchFamily="34" charset="0"/>
                <a:ea typeface="Aeonik" pitchFamily="34" charset="-122"/>
                <a:cs typeface="Aeonik" pitchFamily="34" charset="-120"/>
              </a:rPr>
              <a:t>- On-Device NPU Logic: Integrating Neural Processing Units (NPUs) into laptops and mobile phones to enable local AI execution.</a:t>
            </a:r>
            <a:endParaRPr lang="en-US" sz="1800" dirty="0"/>
          </a:p>
          <a:p>
            <a:pPr marL="342900" indent="-342900">
              <a:buSzPct val="100000"/>
              <a:buChar char="•"/>
            </a:pPr>
            <a:endParaRPr lang="en-US" sz="1800" dirty="0"/>
          </a:p>
          <a:p>
            <a:pPr marL="342900" indent="-342900">
              <a:buSzPct val="100000"/>
              <a:buChar char="•"/>
            </a:pPr>
            <a:r>
              <a:rPr lang="en-US" sz="1800" dirty="0">
                <a:solidFill>
                  <a:srgbClr val="6B6560"/>
                </a:solidFill>
                <a:latin typeface="Aeonik" pitchFamily="34" charset="0"/>
                <a:ea typeface="Aeonik" pitchFamily="34" charset="-122"/>
                <a:cs typeface="Aeonik" pitchFamily="34" charset="-120"/>
              </a:rPr>
              <a:t>- Neuromorphic Computing: Researching brain-inspired architectures targeting extreme computing power efficiency.</a:t>
            </a:r>
            <a:endParaRPr lang="en-US" sz="1800" dirty="0"/>
          </a:p>
          <a:p>
            <a:pPr marL="342900" indent="-342900">
              <a:buSzPct val="100000"/>
              <a:buChar char="•"/>
            </a:pPr>
            <a:endParaRPr lang="en-US" sz="1800" dirty="0"/>
          </a:p>
          <a:p>
            <a:pPr marL="342900" indent="-342900">
              <a:buSzPct val="100000"/>
              <a:buChar char="•"/>
            </a:pPr>
            <a:r>
              <a:rPr lang="en-US" sz="1800" dirty="0">
                <a:solidFill>
                  <a:srgbClr val="6B6560"/>
                </a:solidFill>
                <a:latin typeface="Aeonik" pitchFamily="34" charset="0"/>
                <a:ea typeface="Aeonik" pitchFamily="34" charset="-122"/>
                <a:cs typeface="Aeonik" pitchFamily="34" charset="-120"/>
              </a:rPr>
              <a:t>- Next-Gen Frontiers: Developing quantum structures and 6G communications hardware blocks.</a:t>
            </a:r>
            <a:endParaRPr lang="en-US" sz="1800" dirty="0"/>
          </a:p>
        </p:txBody>
      </p:sp>
      <p:sp>
        <p:nvSpPr>
          <p:cNvPr id="9" name="Shape 6"/>
          <p:cNvSpPr/>
          <p:nvPr/>
        </p:nvSpPr>
        <p:spPr>
          <a:xfrm>
            <a:off x="7680960" y="1371600"/>
            <a:ext cx="3840480" cy="4572000"/>
          </a:xfrm>
          <a:prstGeom prst="rect">
            <a:avLst/>
          </a:prstGeom>
          <a:solidFill>
            <a:srgbClr val="FFFDF8"/>
          </a:solidFill>
          <a:ln w="12700">
            <a:solidFill>
              <a:srgbClr val="E0D9D0"/>
            </a:solidFill>
            <a:prstDash val="solid"/>
          </a:ln>
        </p:spPr>
      </p:sp>
      <p:sp>
        <p:nvSpPr>
          <p:cNvPr id="10" name="Text 7"/>
          <p:cNvSpPr/>
          <p:nvPr/>
        </p:nvSpPr>
        <p:spPr>
          <a:xfrm>
            <a:off x="7680960" y="2011680"/>
            <a:ext cx="3840480" cy="365760"/>
          </a:xfrm>
          <a:prstGeom prst="rect">
            <a:avLst/>
          </a:prstGeom>
          <a:noFill/>
          <a:ln/>
        </p:spPr>
        <p:txBody>
          <a:bodyPr wrap="square" rtlCol="0" anchor="ctr"/>
          <a:lstStyle/>
          <a:p>
            <a:pPr algn="ctr" indent="0" marL="0">
              <a:buNone/>
            </a:pPr>
            <a:r>
              <a:rPr lang="en-US" sz="1200" b="1" dirty="0">
                <a:solidFill>
                  <a:srgbClr val="768C7C"/>
                </a:solidFill>
                <a:latin typeface="Aeonik" pitchFamily="34" charset="0"/>
                <a:ea typeface="Aeonik" pitchFamily="34" charset="-122"/>
                <a:cs typeface="Aeonik" pitchFamily="34" charset="-120"/>
              </a:rPr>
              <a:t>NPU CORES</a:t>
            </a:r>
            <a:endParaRPr lang="en-US" sz="1200" dirty="0"/>
          </a:p>
        </p:txBody>
      </p:sp>
      <p:sp>
        <p:nvSpPr>
          <p:cNvPr id="11" name="Text 8"/>
          <p:cNvSpPr/>
          <p:nvPr/>
        </p:nvSpPr>
        <p:spPr>
          <a:xfrm>
            <a:off x="7680960" y="2560320"/>
            <a:ext cx="3840480" cy="1097280"/>
          </a:xfrm>
          <a:prstGeom prst="rect">
            <a:avLst/>
          </a:prstGeom>
          <a:noFill/>
          <a:ln/>
        </p:spPr>
        <p:txBody>
          <a:bodyPr wrap="square" rtlCol="0" anchor="ctr"/>
          <a:lstStyle/>
          <a:p>
            <a:pPr algn="ctr" indent="0" marL="0">
              <a:buNone/>
            </a:pPr>
            <a:r>
              <a:rPr lang="en-US" sz="3600" b="1" dirty="0">
                <a:solidFill>
                  <a:srgbClr val="1A1714"/>
                </a:solidFill>
                <a:latin typeface="PP Mondwest" pitchFamily="34" charset="0"/>
                <a:ea typeface="PP Mondwest" pitchFamily="34" charset="-122"/>
                <a:cs typeface="PP Mondwest" pitchFamily="34" charset="-120"/>
              </a:rPr>
              <a:t>Client AI</a:t>
            </a:r>
            <a:endParaRPr lang="en-US" sz="3600" dirty="0"/>
          </a:p>
        </p:txBody>
      </p:sp>
      <p:sp>
        <p:nvSpPr>
          <p:cNvPr id="12" name="Text 9"/>
          <p:cNvSpPr/>
          <p:nvPr/>
        </p:nvSpPr>
        <p:spPr>
          <a:xfrm>
            <a:off x="7680960" y="3840480"/>
            <a:ext cx="3840480" cy="731520"/>
          </a:xfrm>
          <a:prstGeom prst="rect">
            <a:avLst/>
          </a:prstGeom>
          <a:noFill/>
          <a:ln/>
        </p:spPr>
        <p:txBody>
          <a:bodyPr wrap="square" rtlCol="0" anchor="ctr"/>
          <a:lstStyle/>
          <a:p>
            <a:pPr algn="ctr" indent="0" marL="0">
              <a:buNone/>
            </a:pPr>
            <a:r>
              <a:rPr lang="en-US" sz="1500" dirty="0">
                <a:solidFill>
                  <a:srgbClr val="6B6560"/>
                </a:solidFill>
                <a:latin typeface="Aeonik" pitchFamily="34" charset="0"/>
                <a:ea typeface="Aeonik" pitchFamily="34" charset="-122"/>
                <a:cs typeface="Aeonik" pitchFamily="34" charset="-120"/>
              </a:rPr>
              <a:t>Standard hardware in 2026 client electronics (laptops, phones)</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indent="0" marL="0">
              <a:buNone/>
            </a:pPr>
            <a:r>
              <a:rPr lang="en-US" sz="1200" b="1" spc="150" kern="0" dirty="0">
                <a:solidFill>
                  <a:srgbClr val="B84A2F"/>
                </a:solidFill>
                <a:latin typeface="Aeonik" pitchFamily="34" charset="0"/>
                <a:ea typeface="Aeonik" pitchFamily="34" charset="-122"/>
                <a:cs typeface="Aeonik" pitchFamily="34" charset="-120"/>
              </a:rPr>
              <a:t>SUMMARY &amp; ROADMAP</a:t>
            </a:r>
            <a:endParaRPr lang="en-US" sz="1200" dirty="0"/>
          </a:p>
        </p:txBody>
      </p:sp>
      <p:sp>
        <p:nvSpPr>
          <p:cNvPr id="3" name="Text 1"/>
          <p:cNvSpPr/>
          <p:nvPr/>
        </p:nvSpPr>
        <p:spPr>
          <a:xfrm>
            <a:off x="548640" y="640080"/>
            <a:ext cx="10972800" cy="548640"/>
          </a:xfrm>
          <a:prstGeom prst="rect">
            <a:avLst/>
          </a:prstGeom>
          <a:noFill/>
          <a:ln/>
        </p:spPr>
        <p:txBody>
          <a:bodyPr wrap="square" rtlCol="0" anchor="ctr"/>
          <a:lstStyle/>
          <a:p>
            <a:pPr indent="0" marL="0">
              <a:buNone/>
            </a:pPr>
            <a:r>
              <a:rPr lang="en-US" sz="3200" b="1" dirty="0">
                <a:solidFill>
                  <a:srgbClr val="1A1714"/>
                </a:solidFill>
                <a:latin typeface="PP Mondwest" pitchFamily="34" charset="0"/>
                <a:ea typeface="PP Mondwest" pitchFamily="34" charset="-122"/>
                <a:cs typeface="PP Mondwest" pitchFamily="34" charset="-120"/>
              </a:rPr>
              <a:t>Conclusion: A Silicon-Dependent Civilization</a:t>
            </a:r>
            <a:endParaRPr lang="en-US" sz="3200" dirty="0"/>
          </a:p>
        </p:txBody>
      </p:sp>
      <p:sp>
        <p:nvSpPr>
          <p:cNvPr id="4" name="Text 2"/>
          <p:cNvSpPr/>
          <p:nvPr/>
        </p:nvSpPr>
        <p:spPr>
          <a:xfrm>
            <a:off x="548640" y="6400800"/>
            <a:ext cx="10972800" cy="274320"/>
          </a:xfrm>
          <a:prstGeom prst="rect">
            <a:avLst/>
          </a:prstGeom>
          <a:noFill/>
          <a:ln/>
        </p:spPr>
        <p:txBody>
          <a:bodyPr wrap="square" rtlCol="0" anchor="ctr"/>
          <a:lstStyle/>
          <a:p>
            <a:pPr indent="0" marL="0">
              <a:buNone/>
            </a:pPr>
            <a:r>
              <a:rPr lang="en-US" sz="1000" dirty="0">
                <a:solidFill>
                  <a:srgbClr val="6B6560"/>
                </a:solidFill>
                <a:latin typeface="Aeonik" pitchFamily="34" charset="0"/>
                <a:ea typeface="Aeonik" pitchFamily="34" charset="-122"/>
                <a:cs typeface="Aeonik" pitchFamily="34" charset="-120"/>
              </a:rPr>
              <a:t>The 2026 Semiconductor Ecosystem | Slide 17</a:t>
            </a:r>
            <a:endParaRPr lang="en-US" sz="1000" dirty="0"/>
          </a:p>
        </p:txBody>
      </p:sp>
      <p:sp>
        <p:nvSpPr>
          <p:cNvPr id="6" name="Shape 3"/>
          <p:cNvSpPr/>
          <p:nvPr/>
        </p:nvSpPr>
        <p:spPr>
          <a:xfrm>
            <a:off x="548640" y="1188720"/>
            <a:ext cx="5486400" cy="822960"/>
          </a:xfrm>
          <a:prstGeom prst="rect">
            <a:avLst/>
          </a:prstGeom>
          <a:solidFill>
            <a:srgbClr val="FFFDF8"/>
          </a:solidFill>
          <a:ln w="19050">
            <a:solidFill>
              <a:srgbClr val="B84A2F"/>
            </a:solidFill>
            <a:prstDash val="solid"/>
          </a:ln>
        </p:spPr>
      </p:sp>
      <p:sp>
        <p:nvSpPr>
          <p:cNvPr id="7" name="Text 4"/>
          <p:cNvSpPr/>
          <p:nvPr/>
        </p:nvSpPr>
        <p:spPr>
          <a:xfrm>
            <a:off x="731520" y="1234440"/>
            <a:ext cx="5120640" cy="731520"/>
          </a:xfrm>
          <a:prstGeom prst="rect">
            <a:avLst/>
          </a:prstGeom>
          <a:noFill/>
          <a:ln/>
        </p:spPr>
        <p:txBody>
          <a:bodyPr wrap="square" rtlCol="0" anchor="ctr"/>
          <a:lstStyle/>
          <a:p>
            <a:pPr indent="0" marL="0">
              <a:buNone/>
            </a:pPr>
            <a:r>
              <a:rPr lang="en-US" sz="1400" b="1" i="1" dirty="0">
                <a:solidFill>
                  <a:srgbClr val="B84A2F"/>
                </a:solidFill>
                <a:latin typeface="Bookman ITC Std" pitchFamily="34" charset="0"/>
                <a:ea typeface="Bookman ITC Std" pitchFamily="34" charset="-122"/>
                <a:cs typeface="Bookman ITC Std" pitchFamily="34" charset="-120"/>
              </a:rPr>
              <a:t>We have reached a point of "Total Silicon Dependency." The path to a $2 trillion industry is certain.</a:t>
            </a:r>
            <a:endParaRPr lang="en-US" sz="1400" dirty="0"/>
          </a:p>
        </p:txBody>
      </p:sp>
      <p:sp>
        <p:nvSpPr>
          <p:cNvPr id="8" name="Text 5"/>
          <p:cNvSpPr/>
          <p:nvPr/>
        </p:nvSpPr>
        <p:spPr>
          <a:xfrm>
            <a:off x="548640" y="2103120"/>
            <a:ext cx="5486400" cy="914400"/>
          </a:xfrm>
          <a:prstGeom prst="rect">
            <a:avLst/>
          </a:prstGeom>
          <a:noFill/>
          <a:ln/>
        </p:spPr>
        <p:txBody>
          <a:bodyPr wrap="square" rtlCol="0" anchor="ctr"/>
          <a:lstStyle/>
          <a:p>
            <a:pPr indent="0" marL="0">
              <a:buNone/>
            </a:pPr>
            <a:r>
              <a:rPr lang="en-US" sz="1400" dirty="0">
                <a:solidFill>
                  <a:srgbClr val="6B6560"/>
                </a:solidFill>
                <a:latin typeface="Aeonik" pitchFamily="34" charset="0"/>
                <a:ea typeface="Aeonik" pitchFamily="34" charset="-122"/>
                <a:cs typeface="Aeonik" pitchFamily="34" charset="-120"/>
              </a:rPr>
              <a:t>Mastery of the semiconductor ecosystem is mastery of the future. The "Chip Wars" aren't just about manufacturing; they are about who can best harness silicon to transform their industries.</a:t>
            </a:r>
            <a:endParaRPr lang="en-US" sz="1400" dirty="0"/>
          </a:p>
        </p:txBody>
      </p:sp>
      <p:sp>
        <p:nvSpPr>
          <p:cNvPr id="9" name="Text 6"/>
          <p:cNvSpPr/>
          <p:nvPr/>
        </p:nvSpPr>
        <p:spPr>
          <a:xfrm>
            <a:off x="548640" y="3108960"/>
            <a:ext cx="5486400" cy="274320"/>
          </a:xfrm>
          <a:prstGeom prst="rect">
            <a:avLst/>
          </a:prstGeom>
          <a:noFill/>
          <a:ln/>
        </p:spPr>
        <p:txBody>
          <a:bodyPr wrap="square" rtlCol="0" anchor="ctr"/>
          <a:lstStyle/>
          <a:p>
            <a:pPr indent="0" marL="0">
              <a:buNone/>
            </a:pPr>
            <a:r>
              <a:rPr lang="en-US" sz="1000" b="1" spc="100" kern="0" dirty="0">
                <a:solidFill>
                  <a:srgbClr val="1A1714"/>
                </a:solidFill>
                <a:latin typeface="Aeonik" pitchFamily="34" charset="0"/>
                <a:ea typeface="Aeonik" pitchFamily="34" charset="-122"/>
                <a:cs typeface="Aeonik" pitchFamily="34" charset="-120"/>
              </a:rPr>
              <a:t>KEY TAKEAWAYS SUMMARY</a:t>
            </a:r>
            <a:endParaRPr lang="en-US" sz="1000" dirty="0"/>
          </a:p>
        </p:txBody>
      </p:sp>
      <p:sp>
        <p:nvSpPr>
          <p:cNvPr id="10" name="Shape 7"/>
          <p:cNvSpPr/>
          <p:nvPr/>
        </p:nvSpPr>
        <p:spPr>
          <a:xfrm>
            <a:off x="548640" y="3474720"/>
            <a:ext cx="5486400" cy="731520"/>
          </a:xfrm>
          <a:prstGeom prst="rect">
            <a:avLst/>
          </a:prstGeom>
          <a:solidFill>
            <a:srgbClr val="FFFDF8"/>
          </a:solidFill>
          <a:ln w="12700">
            <a:solidFill>
              <a:srgbClr val="E0D9D0"/>
            </a:solidFill>
            <a:prstDash val="solid"/>
          </a:ln>
        </p:spPr>
      </p:sp>
      <p:sp>
        <p:nvSpPr>
          <p:cNvPr id="11" name="Text 8"/>
          <p:cNvSpPr/>
          <p:nvPr/>
        </p:nvSpPr>
        <p:spPr>
          <a:xfrm>
            <a:off x="731520" y="3566160"/>
            <a:ext cx="5120640" cy="228600"/>
          </a:xfrm>
          <a:prstGeom prst="rect">
            <a:avLst/>
          </a:prstGeom>
          <a:noFill/>
          <a:ln/>
        </p:spPr>
        <p:txBody>
          <a:bodyPr wrap="square" rtlCol="0" anchor="ctr"/>
          <a:lstStyle/>
          <a:p>
            <a:pPr indent="0" marL="0">
              <a:buNone/>
            </a:pPr>
            <a:r>
              <a:rPr lang="en-US" sz="1300" b="1" dirty="0">
                <a:solidFill>
                  <a:srgbClr val="B84A2F"/>
                </a:solidFill>
                <a:latin typeface="Aeonik" pitchFamily="34" charset="0"/>
                <a:ea typeface="Aeonik" pitchFamily="34" charset="-122"/>
                <a:cs typeface="Aeonik" pitchFamily="34" charset="-120"/>
              </a:rPr>
              <a:t>Procurement</a:t>
            </a:r>
            <a:endParaRPr lang="en-US" sz="1300" dirty="0"/>
          </a:p>
        </p:txBody>
      </p:sp>
      <p:sp>
        <p:nvSpPr>
          <p:cNvPr id="12" name="Text 9"/>
          <p:cNvSpPr/>
          <p:nvPr/>
        </p:nvSpPr>
        <p:spPr>
          <a:xfrm>
            <a:off x="731520" y="3794760"/>
            <a:ext cx="5120640" cy="365760"/>
          </a:xfrm>
          <a:prstGeom prst="rect">
            <a:avLst/>
          </a:prstGeom>
          <a:noFill/>
          <a:ln/>
        </p:spPr>
        <p:txBody>
          <a:bodyPr wrap="square" rtlCol="0" anchor="ctr"/>
          <a:lstStyle/>
          <a:p>
            <a:pPr indent="0" marL="0">
              <a:buNone/>
            </a:pPr>
            <a:r>
              <a:rPr lang="en-US" sz="1100" dirty="0">
                <a:solidFill>
                  <a:srgbClr val="6B6560"/>
                </a:solidFill>
                <a:latin typeface="Aeonik" pitchFamily="34" charset="0"/>
                <a:ea typeface="Aeonik" pitchFamily="34" charset="-122"/>
                <a:cs typeface="Aeonik" pitchFamily="34" charset="-120"/>
              </a:rPr>
              <a:t>Shift from JIT to Strategic Hybrid; resilience is the new ROI.</a:t>
            </a:r>
            <a:endParaRPr lang="en-US" sz="1100" dirty="0"/>
          </a:p>
        </p:txBody>
      </p:sp>
      <p:sp>
        <p:nvSpPr>
          <p:cNvPr id="13" name="Shape 10"/>
          <p:cNvSpPr/>
          <p:nvPr/>
        </p:nvSpPr>
        <p:spPr>
          <a:xfrm>
            <a:off x="548640" y="4343400"/>
            <a:ext cx="5486400" cy="731520"/>
          </a:xfrm>
          <a:prstGeom prst="rect">
            <a:avLst/>
          </a:prstGeom>
          <a:solidFill>
            <a:srgbClr val="FFFDF8"/>
          </a:solidFill>
          <a:ln w="12700">
            <a:solidFill>
              <a:srgbClr val="E0D9D0"/>
            </a:solidFill>
            <a:prstDash val="solid"/>
          </a:ln>
        </p:spPr>
      </p:sp>
      <p:sp>
        <p:nvSpPr>
          <p:cNvPr id="14" name="Text 11"/>
          <p:cNvSpPr/>
          <p:nvPr/>
        </p:nvSpPr>
        <p:spPr>
          <a:xfrm>
            <a:off x="731520" y="4434840"/>
            <a:ext cx="5120640" cy="228600"/>
          </a:xfrm>
          <a:prstGeom prst="rect">
            <a:avLst/>
          </a:prstGeom>
          <a:noFill/>
          <a:ln/>
        </p:spPr>
        <p:txBody>
          <a:bodyPr wrap="square" rtlCol="0" anchor="ctr"/>
          <a:lstStyle/>
          <a:p>
            <a:pPr indent="0" marL="0">
              <a:buNone/>
            </a:pPr>
            <a:r>
              <a:rPr lang="en-US" sz="1300" b="1" dirty="0">
                <a:solidFill>
                  <a:srgbClr val="9E7D84"/>
                </a:solidFill>
                <a:latin typeface="Aeonik" pitchFamily="34" charset="0"/>
                <a:ea typeface="Aeonik" pitchFamily="34" charset="-122"/>
                <a:cs typeface="Aeonik" pitchFamily="34" charset="-120"/>
              </a:rPr>
              <a:t>Supply Chain</a:t>
            </a:r>
            <a:endParaRPr lang="en-US" sz="1300" dirty="0"/>
          </a:p>
        </p:txBody>
      </p:sp>
      <p:sp>
        <p:nvSpPr>
          <p:cNvPr id="15" name="Text 12"/>
          <p:cNvSpPr/>
          <p:nvPr/>
        </p:nvSpPr>
        <p:spPr>
          <a:xfrm>
            <a:off x="731520" y="4663440"/>
            <a:ext cx="5120640" cy="365760"/>
          </a:xfrm>
          <a:prstGeom prst="rect">
            <a:avLst/>
          </a:prstGeom>
          <a:noFill/>
          <a:ln/>
        </p:spPr>
        <p:txBody>
          <a:bodyPr wrap="square" rtlCol="0" anchor="ctr"/>
          <a:lstStyle/>
          <a:p>
            <a:pPr indent="0" marL="0">
              <a:buNone/>
            </a:pPr>
            <a:r>
              <a:rPr lang="en-US" sz="1100" dirty="0">
                <a:solidFill>
                  <a:srgbClr val="6B6560"/>
                </a:solidFill>
                <a:latin typeface="Aeonik" pitchFamily="34" charset="0"/>
                <a:ea typeface="Aeonik" pitchFamily="34" charset="-122"/>
                <a:cs typeface="Aeonik" pitchFamily="34" charset="-120"/>
              </a:rPr>
              <a:t>Chokepoints in Advanced Packaging and SME are the new strategic risks.</a:t>
            </a:r>
            <a:endParaRPr lang="en-US" sz="1100" dirty="0"/>
          </a:p>
        </p:txBody>
      </p:sp>
      <p:sp>
        <p:nvSpPr>
          <p:cNvPr id="16" name="Shape 13"/>
          <p:cNvSpPr/>
          <p:nvPr/>
        </p:nvSpPr>
        <p:spPr>
          <a:xfrm>
            <a:off x="548640" y="5212080"/>
            <a:ext cx="5486400" cy="731520"/>
          </a:xfrm>
          <a:prstGeom prst="rect">
            <a:avLst/>
          </a:prstGeom>
          <a:solidFill>
            <a:srgbClr val="FFFDF8"/>
          </a:solidFill>
          <a:ln w="12700">
            <a:solidFill>
              <a:srgbClr val="E0D9D0"/>
            </a:solidFill>
            <a:prstDash val="solid"/>
          </a:ln>
        </p:spPr>
      </p:sp>
      <p:sp>
        <p:nvSpPr>
          <p:cNvPr id="17" name="Text 14"/>
          <p:cNvSpPr/>
          <p:nvPr/>
        </p:nvSpPr>
        <p:spPr>
          <a:xfrm>
            <a:off x="731520" y="5303520"/>
            <a:ext cx="5120640" cy="228600"/>
          </a:xfrm>
          <a:prstGeom prst="rect">
            <a:avLst/>
          </a:prstGeom>
          <a:noFill/>
          <a:ln/>
        </p:spPr>
        <p:txBody>
          <a:bodyPr wrap="square" rtlCol="0" anchor="ctr"/>
          <a:lstStyle/>
          <a:p>
            <a:pPr indent="0" marL="0">
              <a:buNone/>
            </a:pPr>
            <a:r>
              <a:rPr lang="en-US" sz="1300" b="1" dirty="0">
                <a:solidFill>
                  <a:srgbClr val="768C7C"/>
                </a:solidFill>
                <a:latin typeface="Aeonik" pitchFamily="34" charset="0"/>
                <a:ea typeface="Aeonik" pitchFamily="34" charset="-122"/>
                <a:cs typeface="Aeonik" pitchFamily="34" charset="-120"/>
              </a:rPr>
              <a:t>Downstream End-User Industries</a:t>
            </a:r>
            <a:endParaRPr lang="en-US" sz="1300" dirty="0"/>
          </a:p>
        </p:txBody>
      </p:sp>
      <p:sp>
        <p:nvSpPr>
          <p:cNvPr id="18" name="Text 15"/>
          <p:cNvSpPr/>
          <p:nvPr/>
        </p:nvSpPr>
        <p:spPr>
          <a:xfrm>
            <a:off x="731520" y="5532120"/>
            <a:ext cx="5120640" cy="365760"/>
          </a:xfrm>
          <a:prstGeom prst="rect">
            <a:avLst/>
          </a:prstGeom>
          <a:noFill/>
          <a:ln/>
        </p:spPr>
        <p:txBody>
          <a:bodyPr wrap="square" rtlCol="0" anchor="ctr"/>
          <a:lstStyle/>
          <a:p>
            <a:pPr indent="0" marL="0">
              <a:buNone/>
            </a:pPr>
            <a:r>
              <a:rPr lang="en-US" sz="1100" dirty="0">
                <a:solidFill>
                  <a:srgbClr val="6B6560"/>
                </a:solidFill>
                <a:latin typeface="Aeonik" pitchFamily="34" charset="0"/>
                <a:ea typeface="Aeonik" pitchFamily="34" charset="-122"/>
                <a:cs typeface="Aeonik" pitchFamily="34" charset="-120"/>
              </a:rPr>
              <a:t>AI is the Value King; Automotive is the Volume King.</a:t>
            </a:r>
            <a:endParaRPr lang="en-US" sz="1100" dirty="0"/>
          </a:p>
        </p:txBody>
      </p:sp>
      <p:sp>
        <p:nvSpPr>
          <p:cNvPr id="19" name="Shape 16"/>
          <p:cNvSpPr/>
          <p:nvPr/>
        </p:nvSpPr>
        <p:spPr>
          <a:xfrm>
            <a:off x="6309360" y="1188720"/>
            <a:ext cx="5394960" cy="4937760"/>
          </a:xfrm>
          <a:prstGeom prst="rect">
            <a:avLst/>
          </a:prstGeom>
          <a:solidFill>
            <a:srgbClr val="FFFDF8"/>
          </a:solidFill>
          <a:ln w="12700">
            <a:solidFill>
              <a:srgbClr val="E0D9D0"/>
            </a:solidFill>
            <a:prstDash val="solid"/>
          </a:ln>
        </p:spPr>
      </p:sp>
      <p:pic>
        <p:nvPicPr>
          <p:cNvPr id="20" name="Image 0" descr="critical_materials.png">    </p:cNvPr>
          <p:cNvPicPr>
            <a:picLocks noChangeAspect="1"/>
          </p:cNvPicPr>
          <p:nvPr/>
        </p:nvPicPr>
        <p:blipFill>
          <a:blip r:embed="rId1"/>
          <a:stretch>
            <a:fillRect/>
          </a:stretch>
        </p:blipFill>
        <p:spPr>
          <a:xfrm>
            <a:off x="6400800" y="1280160"/>
            <a:ext cx="5212080" cy="475488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0E8"/>
        </a:solidFill>
      </p:bgPr>
    </p:bg>
    <p:spTree>
      <p:nvGrpSpPr>
        <p:cNvPr id="1" name=""/>
        <p:cNvGrpSpPr/>
        <p:nvPr/>
      </p:nvGrpSpPr>
      <p:grpSpPr>
        <a:xfrm>
          <a:off x="0" y="0"/>
          <a:ext cx="0" cy="0"/>
          <a:chOff x="0" y="0"/>
          <a:chExt cx="0" cy="0"/>
        </a:xfrm>
      </p:grpSpPr>
      <p:sp>
        <p:nvSpPr>
          <p:cNvPr id="3" name="Text 0"/>
          <p:cNvSpPr/>
          <p:nvPr/>
        </p:nvSpPr>
        <p:spPr>
          <a:xfrm>
            <a:off x="731520" y="1645920"/>
            <a:ext cx="4572000" cy="365760"/>
          </a:xfrm>
          <a:prstGeom prst="rect">
            <a:avLst/>
          </a:prstGeom>
          <a:noFill/>
          <a:ln/>
        </p:spPr>
        <p:txBody>
          <a:bodyPr wrap="square" rtlCol="0" anchor="ctr"/>
          <a:lstStyle/>
          <a:p>
            <a:pPr indent="0" marL="0">
              <a:buNone/>
            </a:pPr>
            <a:r>
              <a:rPr lang="en-US" sz="1400" b="1" spc="150" kern="0" dirty="0">
                <a:solidFill>
                  <a:srgbClr val="B84A2F"/>
                </a:solidFill>
                <a:latin typeface="Aeonik" pitchFamily="34" charset="0"/>
                <a:ea typeface="Aeonik" pitchFamily="34" charset="-122"/>
                <a:cs typeface="Aeonik" pitchFamily="34" charset="-120"/>
              </a:rPr>
              <a:t>THE END</a:t>
            </a:r>
            <a:endParaRPr lang="en-US" sz="1400" dirty="0"/>
          </a:p>
        </p:txBody>
      </p:sp>
      <p:sp>
        <p:nvSpPr>
          <p:cNvPr id="4" name="Text 1"/>
          <p:cNvSpPr/>
          <p:nvPr/>
        </p:nvSpPr>
        <p:spPr>
          <a:xfrm>
            <a:off x="731520" y="2103120"/>
            <a:ext cx="4572000" cy="1097280"/>
          </a:xfrm>
          <a:prstGeom prst="rect">
            <a:avLst/>
          </a:prstGeom>
          <a:noFill/>
          <a:ln/>
        </p:spPr>
        <p:txBody>
          <a:bodyPr wrap="square" rtlCol="0" anchor="ctr"/>
          <a:lstStyle/>
          <a:p>
            <a:pPr indent="0" marL="0">
              <a:buNone/>
            </a:pPr>
            <a:r>
              <a:rPr lang="en-US" sz="5600" b="1" dirty="0">
                <a:solidFill>
                  <a:srgbClr val="1A1714"/>
                </a:solidFill>
                <a:latin typeface="PP Mondwest" pitchFamily="34" charset="0"/>
                <a:ea typeface="PP Mondwest" pitchFamily="34" charset="-122"/>
                <a:cs typeface="PP Mondwest" pitchFamily="34" charset="-120"/>
              </a:rPr>
              <a:t>Thank You</a:t>
            </a:r>
            <a:endParaRPr lang="en-US" sz="5600" dirty="0"/>
          </a:p>
        </p:txBody>
      </p:sp>
      <p:sp>
        <p:nvSpPr>
          <p:cNvPr id="5" name="Text 2"/>
          <p:cNvSpPr/>
          <p:nvPr/>
        </p:nvSpPr>
        <p:spPr>
          <a:xfrm>
            <a:off x="731520" y="3291840"/>
            <a:ext cx="4572000" cy="731520"/>
          </a:xfrm>
          <a:prstGeom prst="rect">
            <a:avLst/>
          </a:prstGeom>
          <a:noFill/>
          <a:ln/>
        </p:spPr>
        <p:txBody>
          <a:bodyPr wrap="square" rtlCol="0" anchor="ctr"/>
          <a:lstStyle/>
          <a:p>
            <a:pPr indent="0" marL="0">
              <a:buNone/>
            </a:pPr>
            <a:r>
              <a:rPr lang="en-US" sz="2000" dirty="0">
                <a:solidFill>
                  <a:srgbClr val="6B6560"/>
                </a:solidFill>
                <a:latin typeface="Aeonik" pitchFamily="34" charset="0"/>
                <a:ea typeface="Aeonik" pitchFamily="34" charset="-122"/>
                <a:cs typeface="Aeonik" pitchFamily="34" charset="-120"/>
              </a:rPr>
              <a:t>Mastery of the semiconductor ecosystem is mastery of the future.</a:t>
            </a:r>
            <a:endParaRPr lang="en-US" sz="2000" dirty="0"/>
          </a:p>
        </p:txBody>
      </p:sp>
      <p:sp>
        <p:nvSpPr>
          <p:cNvPr id="6" name="Shape 3"/>
          <p:cNvSpPr/>
          <p:nvPr/>
        </p:nvSpPr>
        <p:spPr>
          <a:xfrm>
            <a:off x="731520" y="4114800"/>
            <a:ext cx="3657600" cy="36576"/>
          </a:xfrm>
          <a:prstGeom prst="rect">
            <a:avLst/>
          </a:prstGeom>
          <a:solidFill>
            <a:srgbClr val="B84A2F"/>
          </a:solidFill>
          <a:ln/>
        </p:spPr>
      </p:sp>
      <p:sp>
        <p:nvSpPr>
          <p:cNvPr id="7" name="Text 4"/>
          <p:cNvSpPr/>
          <p:nvPr/>
        </p:nvSpPr>
        <p:spPr>
          <a:xfrm>
            <a:off x="731520" y="4389120"/>
            <a:ext cx="4572000" cy="1097280"/>
          </a:xfrm>
          <a:prstGeom prst="rect">
            <a:avLst/>
          </a:prstGeom>
          <a:noFill/>
          <a:ln/>
        </p:spPr>
        <p:txBody>
          <a:bodyPr wrap="square" rtlCol="0" anchor="ctr"/>
          <a:lstStyle/>
          <a:p>
            <a:pPr indent="0" marL="0">
              <a:buNone/>
            </a:pPr>
            <a:r>
              <a:rPr lang="en-US" sz="1200" dirty="0">
                <a:solidFill>
                  <a:srgbClr val="6B6560"/>
                </a:solidFill>
                <a:latin typeface="Aeonik" pitchFamily="34" charset="0"/>
                <a:ea typeface="Aeonik" pitchFamily="34" charset="-122"/>
                <a:cs typeface="Aeonik" pitchFamily="34" charset="-120"/>
              </a:rPr>
              <a:t>Presenter: Phyoe Sat Paing (ID: 6821711420061)</a:t>
            </a:r>
            <a:endParaRPr lang="en-US" sz="1200" dirty="0"/>
          </a:p>
          <a:p>
            <a:pPr indent="0" marL="0">
              <a:buNone/>
            </a:pPr>
            <a:r>
              <a:rPr lang="en-US" sz="1200" dirty="0">
                <a:solidFill>
                  <a:srgbClr val="6B6560"/>
                </a:solidFill>
                <a:latin typeface="Aeonik" pitchFamily="34" charset="0"/>
                <a:ea typeface="Aeonik" pitchFamily="34" charset="-122"/>
                <a:cs typeface="Aeonik" pitchFamily="34" charset="-120"/>
              </a:rPr>
              <a:t>Course: 501105, logistics and supply chain management</a:t>
            </a:r>
            <a:endParaRPr lang="en-US" sz="1200" dirty="0"/>
          </a:p>
          <a:p>
            <a:pPr indent="0" marL="0">
              <a:buNone/>
            </a:pPr>
            <a:r>
              <a:rPr lang="en-US" sz="1200" dirty="0">
                <a:solidFill>
                  <a:srgbClr val="6B6560"/>
                </a:solidFill>
                <a:latin typeface="Aeonik" pitchFamily="34" charset="0"/>
                <a:ea typeface="Aeonik" pitchFamily="34" charset="-122"/>
                <a:cs typeface="Aeonik" pitchFamily="34" charset="-120"/>
              </a:rPr>
              <a:t>Date: June 2026</a:t>
            </a:r>
            <a:endParaRPr lang="en-US" sz="1200" dirty="0"/>
          </a:p>
        </p:txBody>
      </p:sp>
      <p:sp>
        <p:nvSpPr>
          <p:cNvPr id="8" name="Shape 5"/>
          <p:cNvSpPr/>
          <p:nvPr/>
        </p:nvSpPr>
        <p:spPr>
          <a:xfrm>
            <a:off x="5852160" y="1188720"/>
            <a:ext cx="5760720" cy="4937760"/>
          </a:xfrm>
          <a:prstGeom prst="rect">
            <a:avLst/>
          </a:prstGeom>
          <a:solidFill>
            <a:srgbClr val="FFFDF8"/>
          </a:solidFill>
          <a:ln w="12700">
            <a:solidFill>
              <a:srgbClr val="E0D9D0"/>
            </a:solidFill>
            <a:prstDash val="solid"/>
          </a:ln>
        </p:spPr>
      </p:sp>
      <p:sp>
        <p:nvSpPr>
          <p:cNvPr id="9" name="Text 6"/>
          <p:cNvSpPr/>
          <p:nvPr/>
        </p:nvSpPr>
        <p:spPr>
          <a:xfrm>
            <a:off x="6035040" y="1371600"/>
            <a:ext cx="5394960" cy="365760"/>
          </a:xfrm>
          <a:prstGeom prst="rect">
            <a:avLst/>
          </a:prstGeom>
          <a:noFill/>
          <a:ln/>
        </p:spPr>
        <p:txBody>
          <a:bodyPr wrap="square" rtlCol="0" anchor="ctr"/>
          <a:lstStyle/>
          <a:p>
            <a:pPr indent="0" marL="0">
              <a:buNone/>
            </a:pPr>
            <a:r>
              <a:rPr lang="en-US" sz="2000" b="1" dirty="0">
                <a:solidFill>
                  <a:srgbClr val="B84A2F"/>
                </a:solidFill>
                <a:latin typeface="PP Mondwest" pitchFamily="34" charset="0"/>
                <a:ea typeface="PP Mondwest" pitchFamily="34" charset="-122"/>
                <a:cs typeface="PP Mondwest" pitchFamily="34" charset="-120"/>
              </a:rPr>
              <a:t>References</a:t>
            </a:r>
            <a:endParaRPr lang="en-US" sz="2000" dirty="0"/>
          </a:p>
        </p:txBody>
      </p:sp>
      <p:sp>
        <p:nvSpPr>
          <p:cNvPr id="10" name="Text 7"/>
          <p:cNvSpPr/>
          <p:nvPr/>
        </p:nvSpPr>
        <p:spPr>
          <a:xfrm>
            <a:off x="6035040" y="1828800"/>
            <a:ext cx="2651760" cy="4023360"/>
          </a:xfrm>
          <a:prstGeom prst="rect">
            <a:avLst/>
          </a:prstGeom>
          <a:noFill/>
          <a:ln/>
        </p:spPr>
        <p:txBody>
          <a:bodyPr wrap="square" rtlCol="0" anchor="ctr"/>
          <a:lstStyle/>
          <a:p>
            <a:pPr indent="0" marL="0">
              <a:buNone/>
            </a:pPr>
            <a:r>
              <a:rPr lang="en-US" sz="850" b="1" dirty="0">
                <a:solidFill>
                  <a:srgbClr val="1A1714"/>
                </a:solidFill>
                <a:latin typeface="Aeonik" pitchFamily="34" charset="0"/>
                <a:ea typeface="Aeonik" pitchFamily="34" charset="-122"/>
                <a:cs typeface="Aeonik" pitchFamily="34" charset="-120"/>
              </a:rPr>
              <a:t>1. Gartner: Revenue Forecast
</a:t>
            </a:r>
            <a:pPr indent="0" marL="0">
              <a:buNone/>
            </a:pPr>
            <a:r>
              <a:rPr lang="en-US" sz="800" dirty="0">
                <a:solidFill>
                  <a:srgbClr val="B84A2F"/>
                </a:solidFill>
                <a:latin typeface="Aeonik" pitchFamily="34" charset="0"/>
                <a:ea typeface="Aeonik" pitchFamily="34" charset="-122"/>
                <a:cs typeface="Aeonik" pitchFamily="34" charset="-120"/>
              </a:rPr>
              <a:t>https://www.gartner.com/en/newsroom/press-releases/...
</a:t>
            </a:r>
            <a:pPr indent="0" marL="0">
              <a:buNone/>
            </a:pPr>
            <a:r>
              <a:rPr lang="en-US" sz="850" b="1" dirty="0">
                <a:solidFill>
                  <a:srgbClr val="1A1714"/>
                </a:solidFill>
                <a:latin typeface="Aeonik" pitchFamily="34" charset="0"/>
                <a:ea typeface="Aeonik" pitchFamily="34" charset="-122"/>
                <a:cs typeface="Aeonik" pitchFamily="34" charset="-120"/>
              </a:rPr>
              <a:t>2. Phihong: JIT vs JIC Sourcing
</a:t>
            </a:r>
            <a:pPr indent="0" marL="0">
              <a:buNone/>
            </a:pPr>
            <a:r>
              <a:rPr lang="en-US" sz="800" dirty="0">
                <a:solidFill>
                  <a:srgbClr val="B84A2F"/>
                </a:solidFill>
                <a:latin typeface="Aeonik" pitchFamily="34" charset="0"/>
                <a:ea typeface="Aeonik" pitchFamily="34" charset="-122"/>
                <a:cs typeface="Aeonik" pitchFamily="34" charset="-120"/>
              </a:rPr>
              <a:t>https://www.phihong.com/just-in-time-vs-just-in-case...
</a:t>
            </a:r>
            <a:pPr indent="0" marL="0">
              <a:buNone/>
            </a:pPr>
            <a:r>
              <a:rPr lang="en-US" sz="850" b="1" dirty="0">
                <a:solidFill>
                  <a:srgbClr val="1A1714"/>
                </a:solidFill>
                <a:latin typeface="Aeonik" pitchFamily="34" charset="0"/>
                <a:ea typeface="Aeonik" pitchFamily="34" charset="-122"/>
                <a:cs typeface="Aeonik" pitchFamily="34" charset="-120"/>
              </a:rPr>
              <a:t>3. Maria O.: Supply Chain Continuity
</a:t>
            </a:r>
            <a:pPr indent="0" marL="0">
              <a:buNone/>
            </a:pPr>
            <a:r>
              <a:rPr lang="en-US" sz="800" dirty="0">
                <a:solidFill>
                  <a:srgbClr val="B84A2F"/>
                </a:solidFill>
                <a:latin typeface="Aeonik" pitchFamily="34" charset="0"/>
                <a:ea typeface="Aeonik" pitchFamily="34" charset="-122"/>
                <a:cs typeface="Aeonik" pitchFamily="34" charset="-120"/>
              </a:rPr>
              <a:t>https://www.linkedin.com/posts/pmochoamc...
</a:t>
            </a:r>
            <a:pPr indent="0" marL="0">
              <a:buNone/>
            </a:pPr>
            <a:r>
              <a:rPr lang="en-US" sz="850" b="1" dirty="0">
                <a:solidFill>
                  <a:srgbClr val="1A1714"/>
                </a:solidFill>
                <a:latin typeface="Aeonik" pitchFamily="34" charset="0"/>
                <a:ea typeface="Aeonik" pitchFamily="34" charset="-122"/>
                <a:cs typeface="Aeonik" pitchFamily="34" charset="-120"/>
              </a:rPr>
              <a:t>4. Porsche: Semiconductor Superiority
</a:t>
            </a:r>
            <a:pPr indent="0" marL="0">
              <a:buNone/>
            </a:pPr>
            <a:r>
              <a:rPr lang="en-US" sz="800" dirty="0">
                <a:solidFill>
                  <a:srgbClr val="B84A2F"/>
                </a:solidFill>
                <a:latin typeface="Aeonik" pitchFamily="34" charset="0"/>
                <a:ea typeface="Aeonik" pitchFamily="34" charset="-122"/>
                <a:cs typeface="Aeonik" pitchFamily="34" charset="-120"/>
              </a:rPr>
              <a:t>https://www.porsche-consulting.com/sites/...
</a:t>
            </a:r>
            <a:pPr indent="0" marL="0">
              <a:buNone/>
            </a:pPr>
            <a:r>
              <a:rPr lang="en-US" sz="850" b="1" dirty="0">
                <a:solidFill>
                  <a:srgbClr val="1A1714"/>
                </a:solidFill>
                <a:latin typeface="Aeonik" pitchFamily="34" charset="0"/>
                <a:ea typeface="Aeonik" pitchFamily="34" charset="-122"/>
                <a:cs typeface="Aeonik" pitchFamily="34" charset="-120"/>
              </a:rPr>
              <a:t>5. CSET: Semiconductor Supply Chain
</a:t>
            </a:r>
            <a:pPr indent="0" marL="0">
              <a:buNone/>
            </a:pPr>
            <a:r>
              <a:rPr lang="en-US" sz="800" dirty="0">
                <a:solidFill>
                  <a:srgbClr val="B84A2F"/>
                </a:solidFill>
                <a:latin typeface="Aeonik" pitchFamily="34" charset="0"/>
                <a:ea typeface="Aeonik" pitchFamily="34" charset="-122"/>
                <a:cs typeface="Aeonik" pitchFamily="34" charset="-120"/>
              </a:rPr>
              <a:t>https://cset.georgetown.edu/publication/...
</a:t>
            </a:r>
            <a:pPr indent="0" marL="0">
              <a:buNone/>
            </a:pPr>
            <a:r>
              <a:rPr lang="en-US" sz="850" b="1" dirty="0">
                <a:solidFill>
                  <a:srgbClr val="1A1714"/>
                </a:solidFill>
                <a:latin typeface="Aeonik" pitchFamily="34" charset="0"/>
                <a:ea typeface="Aeonik" pitchFamily="34" charset="-122"/>
                <a:cs typeface="Aeonik" pitchFamily="34" charset="-120"/>
              </a:rPr>
              <a:t>6. CSIS: Mineral Demands for Resilient
</a:t>
            </a:r>
            <a:pPr indent="0" marL="0">
              <a:buNone/>
            </a:pPr>
            <a:r>
              <a:rPr lang="en-US" sz="800" dirty="0">
                <a:solidFill>
                  <a:srgbClr val="B84A2F"/>
                </a:solidFill>
                <a:latin typeface="Aeonik" pitchFamily="34" charset="0"/>
                <a:ea typeface="Aeonik" pitchFamily="34" charset="-122"/>
                <a:cs typeface="Aeonik" pitchFamily="34" charset="-120"/>
              </a:rPr>
              <a:t>https://www.csis.org/analysis/mineral-demands...
</a:t>
            </a:r>
            <a:endParaRPr lang="en-US" sz="850" dirty="0"/>
          </a:p>
        </p:txBody>
      </p:sp>
      <p:sp>
        <p:nvSpPr>
          <p:cNvPr id="11" name="Text 8"/>
          <p:cNvSpPr/>
          <p:nvPr/>
        </p:nvSpPr>
        <p:spPr>
          <a:xfrm>
            <a:off x="8778240" y="1828800"/>
            <a:ext cx="2651760" cy="4023360"/>
          </a:xfrm>
          <a:prstGeom prst="rect">
            <a:avLst/>
          </a:prstGeom>
          <a:noFill/>
          <a:ln/>
        </p:spPr>
        <p:txBody>
          <a:bodyPr wrap="square" rtlCol="0" anchor="ctr"/>
          <a:lstStyle/>
          <a:p>
            <a:pPr indent="0" marL="0">
              <a:buNone/>
            </a:pPr>
            <a:r>
              <a:rPr lang="en-US" sz="850" b="1" dirty="0">
                <a:solidFill>
                  <a:srgbClr val="1A1714"/>
                </a:solidFill>
                <a:latin typeface="Aeonik" pitchFamily="34" charset="0"/>
                <a:ea typeface="Aeonik" pitchFamily="34" charset="-122"/>
                <a:cs typeface="Aeonik" pitchFamily="34" charset="-120"/>
              </a:rPr>
              <a:t>7. SIA: Emerging Resilience
</a:t>
            </a:r>
            <a:pPr indent="0" marL="0">
              <a:buNone/>
            </a:pPr>
            <a:r>
              <a:rPr lang="en-US" sz="800" dirty="0">
                <a:solidFill>
                  <a:srgbClr val="B84A2F"/>
                </a:solidFill>
                <a:latin typeface="Aeonik" pitchFamily="34" charset="0"/>
                <a:ea typeface="Aeonik" pitchFamily="34" charset="-122"/>
                <a:cs typeface="Aeonik" pitchFamily="34" charset="-120"/>
              </a:rPr>
              <a:t>https://www.semiconductors.org/emerging-resilience...
</a:t>
            </a:r>
            <a:pPr indent="0" marL="0">
              <a:buNone/>
            </a:pPr>
            <a:r>
              <a:rPr lang="en-US" sz="850" b="1" dirty="0">
                <a:solidFill>
                  <a:srgbClr val="1A1714"/>
                </a:solidFill>
                <a:latin typeface="Aeonik" pitchFamily="34" charset="0"/>
                <a:ea typeface="Aeonik" pitchFamily="34" charset="-122"/>
                <a:cs typeface="Aeonik" pitchFamily="34" charset="-120"/>
              </a:rPr>
              <a:t>8. A. Masood: Semiconductors in 2026
</a:t>
            </a:r>
            <a:pPr indent="0" marL="0">
              <a:buNone/>
            </a:pPr>
            <a:r>
              <a:rPr lang="en-US" sz="800" dirty="0">
                <a:solidFill>
                  <a:srgbClr val="B84A2F"/>
                </a:solidFill>
                <a:latin typeface="Aeonik" pitchFamily="34" charset="0"/>
                <a:ea typeface="Aeonik" pitchFamily="34" charset="-122"/>
                <a:cs typeface="Aeonik" pitchFamily="34" charset="-120"/>
              </a:rPr>
              <a:t>https://medium.com/@adnanmasood/semiconductors...
</a:t>
            </a:r>
            <a:pPr indent="0" marL="0">
              <a:buNone/>
            </a:pPr>
            <a:r>
              <a:rPr lang="en-US" sz="850" b="1" dirty="0">
                <a:solidFill>
                  <a:srgbClr val="1A1714"/>
                </a:solidFill>
                <a:latin typeface="Aeonik" pitchFamily="34" charset="0"/>
                <a:ea typeface="Aeonik" pitchFamily="34" charset="-122"/>
                <a:cs typeface="Aeonik" pitchFamily="34" charset="-120"/>
              </a:rPr>
              <a:t>9. OECD: Mapping the Value Chain
</a:t>
            </a:r>
            <a:pPr indent="0" marL="0">
              <a:buNone/>
            </a:pPr>
            <a:r>
              <a:rPr lang="en-US" sz="800" dirty="0">
                <a:solidFill>
                  <a:srgbClr val="B84A2F"/>
                </a:solidFill>
                <a:latin typeface="Aeonik" pitchFamily="34" charset="0"/>
                <a:ea typeface="Aeonik" pitchFamily="34" charset="-122"/>
                <a:cs typeface="Aeonik" pitchFamily="34" charset="-120"/>
              </a:rPr>
              <a:t>https://www.oecd.org/content/dam/oecd/en/...
</a:t>
            </a:r>
            <a:pPr indent="0" marL="0">
              <a:buNone/>
            </a:pPr>
            <a:r>
              <a:rPr lang="en-US" sz="850" b="1" dirty="0">
                <a:solidFill>
                  <a:srgbClr val="1A1714"/>
                </a:solidFill>
                <a:latin typeface="Aeonik" pitchFamily="34" charset="0"/>
                <a:ea typeface="Aeonik" pitchFamily="34" charset="-122"/>
                <a:cs typeface="Aeonik" pitchFamily="34" charset="-120"/>
              </a:rPr>
              <a:t>10. Deloitte: 2026 Industry Outlook
</a:t>
            </a:r>
            <a:pPr indent="0" marL="0">
              <a:buNone/>
            </a:pPr>
            <a:r>
              <a:rPr lang="en-US" sz="800" dirty="0">
                <a:solidFill>
                  <a:srgbClr val="B84A2F"/>
                </a:solidFill>
                <a:latin typeface="Aeonik" pitchFamily="34" charset="0"/>
                <a:ea typeface="Aeonik" pitchFamily="34" charset="-122"/>
                <a:cs typeface="Aeonik" pitchFamily="34" charset="-120"/>
              </a:rPr>
              <a:t>https://www.deloitte.com/us/en/insights/...
</a:t>
            </a:r>
            <a:pPr indent="0" marL="0">
              <a:buNone/>
            </a:pPr>
            <a:r>
              <a:rPr lang="en-US" sz="850" b="1" dirty="0">
                <a:solidFill>
                  <a:srgbClr val="1A1714"/>
                </a:solidFill>
                <a:latin typeface="Aeonik" pitchFamily="34" charset="0"/>
                <a:ea typeface="Aeonik" pitchFamily="34" charset="-122"/>
                <a:cs typeface="Aeonik" pitchFamily="34" charset="-120"/>
              </a:rPr>
              <a:t>11. GM Insights: Aerospace Market Size
</a:t>
            </a:r>
            <a:pPr indent="0" marL="0">
              <a:buNone/>
            </a:pPr>
            <a:r>
              <a:rPr lang="en-US" sz="800" dirty="0">
                <a:solidFill>
                  <a:srgbClr val="B84A2F"/>
                </a:solidFill>
                <a:latin typeface="Aeonik" pitchFamily="34" charset="0"/>
                <a:ea typeface="Aeonik" pitchFamily="34" charset="-122"/>
                <a:cs typeface="Aeonik" pitchFamily="34" charset="-120"/>
              </a:rPr>
              <a:t>https://www.gminsights.com/industry-analysis/...
</a:t>
            </a:r>
            <a:pPr indent="0" marL="0">
              <a:buNone/>
            </a:pPr>
            <a:r>
              <a:rPr lang="en-US" sz="850" b="1" dirty="0">
                <a:solidFill>
                  <a:srgbClr val="1A1714"/>
                </a:solidFill>
                <a:latin typeface="Aeonik" pitchFamily="34" charset="0"/>
                <a:ea typeface="Aeonik" pitchFamily="34" charset="-122"/>
                <a:cs typeface="Aeonik" pitchFamily="34" charset="-120"/>
              </a:rPr>
              <a:t>12. Edge Silica: AI &amp; EVs Trends
</a:t>
            </a:r>
            <a:pPr indent="0" marL="0">
              <a:buNone/>
            </a:pPr>
            <a:r>
              <a:rPr lang="en-US" sz="800" dirty="0">
                <a:solidFill>
                  <a:srgbClr val="B84A2F"/>
                </a:solidFill>
                <a:latin typeface="Aeonik" pitchFamily="34" charset="0"/>
                <a:ea typeface="Aeonik" pitchFamily="34" charset="-122"/>
                <a:cs typeface="Aeonik" pitchFamily="34" charset="-120"/>
              </a:rPr>
              <a:t>https://www.linkedin.com/posts/edgesilica...
</a:t>
            </a:r>
            <a:endParaRPr lang="en-US" sz="850" dirty="0"/>
          </a:p>
        </p:txBody>
      </p:sp>
      <p:sp>
        <p:nvSpPr>
          <p:cNvPr id="12" name="Text 9"/>
          <p:cNvSpPr/>
          <p:nvPr/>
        </p:nvSpPr>
        <p:spPr>
          <a:xfrm>
            <a:off x="548640" y="6400800"/>
            <a:ext cx="10972800" cy="274320"/>
          </a:xfrm>
          <a:prstGeom prst="rect">
            <a:avLst/>
          </a:prstGeom>
          <a:noFill/>
          <a:ln/>
        </p:spPr>
        <p:txBody>
          <a:bodyPr wrap="square" rtlCol="0" anchor="ctr"/>
          <a:lstStyle/>
          <a:p>
            <a:pPr indent="0" marL="0">
              <a:buNone/>
            </a:pPr>
            <a:r>
              <a:rPr lang="en-US" sz="1000" dirty="0">
                <a:solidFill>
                  <a:srgbClr val="6B6560"/>
                </a:solidFill>
                <a:latin typeface="Aeonik" pitchFamily="34" charset="0"/>
                <a:ea typeface="Aeonik" pitchFamily="34" charset="-122"/>
                <a:cs typeface="Aeonik" pitchFamily="34" charset="-120"/>
              </a:rPr>
              <a:t>The 2026 Semiconductor Ecosystem | Slide 18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2026-06-10T10:48:19Z</dcterms:created>
  <dcterms:modified xsi:type="dcterms:W3CDTF">2026-06-10T10:48:19Z</dcterms:modified>
</cp:coreProperties>
</file>